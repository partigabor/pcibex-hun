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9" r:id="rId1"/>
  </p:sldMasterIdLst>
  <p:sldIdLst>
    <p:sldId id="282" r:id="rId2"/>
    <p:sldId id="257" r:id="rId3"/>
    <p:sldId id="269" r:id="rId4"/>
    <p:sldId id="268" r:id="rId5"/>
    <p:sldId id="272" r:id="rId6"/>
    <p:sldId id="263" r:id="rId7"/>
    <p:sldId id="261" r:id="rId8"/>
    <p:sldId id="270" r:id="rId9"/>
    <p:sldId id="271" r:id="rId10"/>
    <p:sldId id="273" r:id="rId11"/>
    <p:sldId id="274" r:id="rId12"/>
    <p:sldId id="275" r:id="rId13"/>
    <p:sldId id="277" r:id="rId14"/>
    <p:sldId id="276" r:id="rId15"/>
    <p:sldId id="278" r:id="rId16"/>
    <p:sldId id="267" r:id="rId17"/>
    <p:sldId id="281" r:id="rId18"/>
    <p:sldId id="283" r:id="rId19"/>
    <p:sldId id="284" r:id="rId20"/>
    <p:sldId id="258" r:id="rId21"/>
    <p:sldId id="280"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showGuides="1">
      <p:cViewPr varScale="1">
        <p:scale>
          <a:sx n="105" d="100"/>
          <a:sy n="105" d="100"/>
        </p:scale>
        <p:origin x="834"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dirty="0"/>
              <a:t>Click to edit Master title style</a:t>
            </a:r>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E700B27-DE4C-4B9E-BB11-B9027034A00F}" type="datetimeFigureOut">
              <a:rPr lang="en-US" smtClean="0"/>
              <a:pPr/>
              <a:t>10/29/2025</a:t>
            </a:fld>
            <a:endParaRPr lang="en-US" dirty="0"/>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1260990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smtClean="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9814309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6600" b="0"/>
            </a:lvl1pPr>
          </a:lstStyle>
          <a:p>
            <a:r>
              <a:rPr lang="en-US" dirty="0"/>
              <a:t>Click to edit Master title style</a:t>
            </a:r>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smtClean="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194508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smtClean="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619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smtClean="0"/>
              <a:t>10/29/2025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20834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smtClean="0"/>
              <a:t>10/29/2025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085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smtClean="0"/>
              <a:t>10/29/2025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35376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smtClean="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17500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smtClean="0"/>
              <a:t>10/29/2025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17965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smtClean="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67514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smtClean="0"/>
              <a:t>10/29/2025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65658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7E0D914D-B099-4142-A885-11F276715148}" type="datetimeFigureOut">
              <a:rPr lang="en-US" smtClean="0"/>
              <a:t>10/29/2025</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27339"/>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24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20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8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E32DFB-759E-FB11-8122-08A8588CA5F9}"/>
              </a:ext>
            </a:extLst>
          </p:cNvPr>
          <p:cNvSpPr>
            <a:spLocks noGrp="1"/>
          </p:cNvSpPr>
          <p:nvPr>
            <p:ph type="ctrTitle"/>
          </p:nvPr>
        </p:nvSpPr>
        <p:spPr>
          <a:xfrm>
            <a:off x="1261872" y="448056"/>
            <a:ext cx="9070848" cy="4645152"/>
          </a:xfrm>
        </p:spPr>
        <p:txBody>
          <a:bodyPr>
            <a:normAutofit/>
          </a:bodyPr>
          <a:lstStyle/>
          <a:p>
            <a:pPr>
              <a:lnSpc>
                <a:spcPct val="100000"/>
              </a:lnSpc>
              <a:spcAft>
                <a:spcPts val="1200"/>
              </a:spcAft>
            </a:pPr>
            <a:r>
              <a:rPr lang="en-US" b="1" dirty="0"/>
              <a:t>Hungarian focus constructions:</a:t>
            </a:r>
            <a:br>
              <a:rPr lang="en-US" dirty="0"/>
            </a:br>
            <a:r>
              <a:rPr lang="en-US" sz="4800" dirty="0"/>
              <a:t>A visual world paradigm study with self-paced reading and eye-tracking</a:t>
            </a:r>
            <a:br>
              <a:rPr lang="en-US" sz="4800" dirty="0"/>
            </a:br>
            <a:r>
              <a:rPr lang="hu-HU" sz="4000" dirty="0">
                <a:solidFill>
                  <a:schemeClr val="accent1"/>
                </a:solidFill>
              </a:rPr>
              <a:t>—</a:t>
            </a:r>
            <a:r>
              <a:rPr lang="en-US" sz="4000" dirty="0">
                <a:solidFill>
                  <a:schemeClr val="accent1"/>
                </a:solidFill>
              </a:rPr>
              <a:t>a small update</a:t>
            </a:r>
            <a:endParaRPr lang="en-US" dirty="0">
              <a:solidFill>
                <a:schemeClr val="accent1"/>
              </a:solidFill>
            </a:endParaRPr>
          </a:p>
        </p:txBody>
      </p:sp>
      <p:sp>
        <p:nvSpPr>
          <p:cNvPr id="3" name="Subtitle 2">
            <a:extLst>
              <a:ext uri="{FF2B5EF4-FFF2-40B4-BE49-F238E27FC236}">
                <a16:creationId xmlns:a16="http://schemas.microsoft.com/office/drawing/2014/main" id="{9358F378-2C56-AECD-4BE5-0D9CA3ABBEAF}"/>
              </a:ext>
            </a:extLst>
          </p:cNvPr>
          <p:cNvSpPr>
            <a:spLocks noGrp="1"/>
          </p:cNvSpPr>
          <p:nvPr>
            <p:ph type="subTitle" idx="1"/>
          </p:nvPr>
        </p:nvSpPr>
        <p:spPr>
          <a:xfrm>
            <a:off x="1261872" y="5093208"/>
            <a:ext cx="9418320" cy="1399032"/>
          </a:xfrm>
        </p:spPr>
        <p:txBody>
          <a:bodyPr/>
          <a:lstStyle/>
          <a:p>
            <a:r>
              <a:rPr lang="en-US" dirty="0"/>
              <a:t>PARTI G</a:t>
            </a:r>
            <a:r>
              <a:rPr lang="hu-HU" dirty="0"/>
              <a:t>á</a:t>
            </a:r>
            <a:r>
              <a:rPr lang="en-US" dirty="0"/>
              <a:t>bor</a:t>
            </a:r>
          </a:p>
          <a:p>
            <a:r>
              <a:rPr lang="en-US" dirty="0"/>
              <a:t>2025.10.30.</a:t>
            </a:r>
          </a:p>
        </p:txBody>
      </p:sp>
    </p:spTree>
    <p:extLst>
      <p:ext uri="{BB962C8B-B14F-4D97-AF65-F5344CB8AC3E}">
        <p14:creationId xmlns:p14="http://schemas.microsoft.com/office/powerpoint/2010/main" val="230162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0146-A04E-7C75-312D-CEF9DF697CB6}"/>
              </a:ext>
            </a:extLst>
          </p:cNvPr>
          <p:cNvSpPr>
            <a:spLocks noGrp="1"/>
          </p:cNvSpPr>
          <p:nvPr>
            <p:ph type="title"/>
          </p:nvPr>
        </p:nvSpPr>
        <p:spPr/>
        <p:txBody>
          <a:bodyPr/>
          <a:lstStyle/>
          <a:p>
            <a:r>
              <a:rPr lang="en-US" dirty="0"/>
              <a:t>Two experiments</a:t>
            </a:r>
            <a:endParaRPr lang="hu-HU" dirty="0"/>
          </a:p>
        </p:txBody>
      </p:sp>
      <p:sp>
        <p:nvSpPr>
          <p:cNvPr id="3" name="Content Placeholder 2">
            <a:extLst>
              <a:ext uri="{FF2B5EF4-FFF2-40B4-BE49-F238E27FC236}">
                <a16:creationId xmlns:a16="http://schemas.microsoft.com/office/drawing/2014/main" id="{04AB75DE-FF2B-28BD-5AEA-EFAA0D1301EA}"/>
              </a:ext>
            </a:extLst>
          </p:cNvPr>
          <p:cNvSpPr>
            <a:spLocks noGrp="1"/>
          </p:cNvSpPr>
          <p:nvPr>
            <p:ph idx="1"/>
          </p:nvPr>
        </p:nvSpPr>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p:txBody>
      </p:sp>
    </p:spTree>
    <p:extLst>
      <p:ext uri="{BB962C8B-B14F-4D97-AF65-F5344CB8AC3E}">
        <p14:creationId xmlns:p14="http://schemas.microsoft.com/office/powerpoint/2010/main" val="38291027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6836-928A-9AFA-2579-A783C37907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5AC8EE-623F-6CBB-81CF-368A1C059F67}"/>
              </a:ext>
            </a:extLst>
          </p:cNvPr>
          <p:cNvSpPr>
            <a:spLocks noGrp="1"/>
          </p:cNvSpPr>
          <p:nvPr>
            <p:ph type="title"/>
          </p:nvPr>
        </p:nvSpPr>
        <p:spPr/>
        <p:txBody>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9A072D59-537B-DCAA-426A-FD250A64A97C}"/>
              </a:ext>
            </a:extLst>
          </p:cNvPr>
          <p:cNvSpPr>
            <a:spLocks noGrp="1"/>
          </p:cNvSpPr>
          <p:nvPr>
            <p:ph idx="1"/>
          </p:nvPr>
        </p:nvSpPr>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r>
              <a:rPr lang="en-US" dirty="0"/>
              <a:t>3 conditions, 18 items</a:t>
            </a:r>
          </a:p>
          <a:p>
            <a:pPr marL="0" indent="0">
              <a:buNone/>
            </a:pPr>
            <a:endParaRPr lang="en-US" dirty="0"/>
          </a:p>
        </p:txBody>
      </p:sp>
    </p:spTree>
    <p:extLst>
      <p:ext uri="{BB962C8B-B14F-4D97-AF65-F5344CB8AC3E}">
        <p14:creationId xmlns:p14="http://schemas.microsoft.com/office/powerpoint/2010/main" val="956563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C1510D-D186-4066-F6D9-7D88362D1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51C770-3FE6-EDFC-38FD-01611FFA728E}"/>
              </a:ext>
            </a:extLst>
          </p:cNvPr>
          <p:cNvSpPr>
            <a:spLocks noGrp="1"/>
          </p:cNvSpPr>
          <p:nvPr>
            <p:ph type="title"/>
          </p:nvPr>
        </p:nvSpPr>
        <p:spPr/>
        <p:txBody>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487C6A88-E1FA-2BDC-C527-96F17541BDA5}"/>
              </a:ext>
            </a:extLst>
          </p:cNvPr>
          <p:cNvSpPr>
            <a:spLocks noGrp="1"/>
          </p:cNvSpPr>
          <p:nvPr>
            <p:ph idx="1"/>
          </p:nvPr>
        </p:nvSpPr>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9" name="TextBox 8">
            <a:extLst>
              <a:ext uri="{FF2B5EF4-FFF2-40B4-BE49-F238E27FC236}">
                <a16:creationId xmlns:a16="http://schemas.microsoft.com/office/drawing/2014/main" id="{035205F9-966B-109A-E3AD-F4A0589CB086}"/>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Tree>
    <p:extLst>
      <p:ext uri="{BB962C8B-B14F-4D97-AF65-F5344CB8AC3E}">
        <p14:creationId xmlns:p14="http://schemas.microsoft.com/office/powerpoint/2010/main" val="38431389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EE918-BFEB-BE06-B083-994013DA7B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67B23-B3DC-7258-3E3C-6C30C4A4C84E}"/>
              </a:ext>
            </a:extLst>
          </p:cNvPr>
          <p:cNvSpPr>
            <a:spLocks noGrp="1"/>
          </p:cNvSpPr>
          <p:nvPr>
            <p:ph type="title"/>
          </p:nvPr>
        </p:nvSpPr>
        <p:spPr/>
        <p:txBody>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A0E1A5EA-CB53-0BAC-7447-B86778F8D4FD}"/>
              </a:ext>
            </a:extLst>
          </p:cNvPr>
          <p:cNvSpPr>
            <a:spLocks noGrp="1"/>
          </p:cNvSpPr>
          <p:nvPr>
            <p:ph idx="1"/>
          </p:nvPr>
        </p:nvSpPr>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6C10E39C-B11B-0DCB-140C-EC53A7084A5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564851BE-B2D3-79EB-083A-61E369C3AA7A}"/>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csak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többek	között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Tree>
    <p:extLst>
      <p:ext uri="{BB962C8B-B14F-4D97-AF65-F5344CB8AC3E}">
        <p14:creationId xmlns:p14="http://schemas.microsoft.com/office/powerpoint/2010/main" val="23683315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BB7B5-FE59-2387-B8F3-BB88676FE5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2901C-7866-21FF-F61F-AB4EC4A063BC}"/>
              </a:ext>
            </a:extLst>
          </p:cNvPr>
          <p:cNvSpPr>
            <a:spLocks noGrp="1"/>
          </p:cNvSpPr>
          <p:nvPr>
            <p:ph type="title"/>
          </p:nvPr>
        </p:nvSpPr>
        <p:spPr/>
        <p:txBody>
          <a:bodyPr/>
          <a:lstStyle/>
          <a:p>
            <a:r>
              <a:rPr lang="en-US" dirty="0"/>
              <a:t>Two experiments: 1</a:t>
            </a:r>
            <a:endParaRPr lang="hu-HU" dirty="0"/>
          </a:p>
        </p:txBody>
      </p:sp>
      <p:sp>
        <p:nvSpPr>
          <p:cNvPr id="3" name="Content Placeholder 2">
            <a:extLst>
              <a:ext uri="{FF2B5EF4-FFF2-40B4-BE49-F238E27FC236}">
                <a16:creationId xmlns:a16="http://schemas.microsoft.com/office/drawing/2014/main" id="{CC6F53DE-FECB-F7E9-4B4E-01BFA489ADD3}"/>
              </a:ext>
            </a:extLst>
          </p:cNvPr>
          <p:cNvSpPr>
            <a:spLocks noGrp="1"/>
          </p:cNvSpPr>
          <p:nvPr>
            <p:ph idx="1"/>
          </p:nvPr>
        </p:nvSpPr>
        <p:spPr/>
        <p:txBody>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0" indent="0">
              <a:buNone/>
            </a:pPr>
            <a:endParaRPr lang="en-US" dirty="0"/>
          </a:p>
        </p:txBody>
      </p:sp>
      <p:sp>
        <p:nvSpPr>
          <p:cNvPr id="6" name="TextBox 5">
            <a:extLst>
              <a:ext uri="{FF2B5EF4-FFF2-40B4-BE49-F238E27FC236}">
                <a16:creationId xmlns:a16="http://schemas.microsoft.com/office/drawing/2014/main" id="{7C3F57B1-39DA-31FA-0A34-9D43854D729B}"/>
              </a:ext>
            </a:extLst>
          </p:cNvPr>
          <p:cNvSpPr txBox="1"/>
          <p:nvPr/>
        </p:nvSpPr>
        <p:spPr>
          <a:xfrm>
            <a:off x="362777" y="3429000"/>
            <a:ext cx="1411159" cy="2585323"/>
          </a:xfrm>
          <a:prstGeom prst="rect">
            <a:avLst/>
          </a:prstGeom>
          <a:noFill/>
        </p:spPr>
        <p:txBody>
          <a:bodyPr wrap="square">
            <a:spAutoFit/>
          </a:bodyPr>
          <a:lstStyle/>
          <a:p>
            <a:r>
              <a:rPr lang="hu-HU" b="1" dirty="0" err="1">
                <a:solidFill>
                  <a:schemeClr val="accent4"/>
                </a:solidFill>
              </a:rPr>
              <a:t>exclusive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focus</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contrastive</a:t>
            </a:r>
            <a:endParaRPr lang="hu-HU" b="1" dirty="0">
              <a:solidFill>
                <a:schemeClr val="accent4"/>
              </a:solidFill>
            </a:endParaRPr>
          </a:p>
        </p:txBody>
      </p:sp>
      <p:sp>
        <p:nvSpPr>
          <p:cNvPr id="7" name="TextBox 6">
            <a:extLst>
              <a:ext uri="{FF2B5EF4-FFF2-40B4-BE49-F238E27FC236}">
                <a16:creationId xmlns:a16="http://schemas.microsoft.com/office/drawing/2014/main" id="{27F3F926-AA8C-6FF3-93C7-8D05BF4CB572}"/>
              </a:ext>
            </a:extLst>
          </p:cNvPr>
          <p:cNvSpPr txBox="1"/>
          <p:nvPr/>
        </p:nvSpPr>
        <p:spPr>
          <a:xfrm>
            <a:off x="1773936" y="3429000"/>
            <a:ext cx="10055287" cy="3139321"/>
          </a:xfrm>
          <a:prstGeom prst="rect">
            <a:avLst/>
          </a:prstGeom>
          <a:noFill/>
        </p:spPr>
        <p:txBody>
          <a:bodyPr wrap="square">
            <a:spAutoFit/>
          </a:bodyPr>
          <a:lstStyle/>
          <a:p>
            <a:r>
              <a:rPr lang="hu-HU" b="1" dirty="0"/>
              <a:t>Ami	</a:t>
            </a:r>
            <a:r>
              <a:rPr lang="en-US" b="1" dirty="0"/>
              <a:t>		</a:t>
            </a:r>
            <a:r>
              <a:rPr lang="hu-HU" b="1" dirty="0"/>
              <a:t>a gyümölcsöket	</a:t>
            </a:r>
            <a:r>
              <a:rPr lang="en-US" b="1" dirty="0"/>
              <a:t>	</a:t>
            </a:r>
            <a:r>
              <a:rPr lang="hu-HU" b="1" dirty="0"/>
              <a:t>illeti	</a:t>
            </a:r>
            <a:r>
              <a:rPr lang="en-US" b="1" dirty="0"/>
              <a:t>	</a:t>
            </a:r>
            <a:r>
              <a:rPr lang="hu-HU" b="1" dirty="0"/>
              <a:t>Anna	</a:t>
            </a:r>
            <a:r>
              <a:rPr lang="hu-HU" b="1" dirty="0">
                <a:solidFill>
                  <a:srgbClr val="92D050"/>
                </a:solidFill>
              </a:rPr>
              <a:t>csak</a:t>
            </a:r>
            <a:r>
              <a:rPr lang="hu-HU" b="1" dirty="0"/>
              <a:t>	</a:t>
            </a:r>
            <a:r>
              <a:rPr lang="en-US" b="1" dirty="0"/>
              <a:t>	</a:t>
            </a:r>
            <a:r>
              <a:rPr lang="hu-HU" b="1" u="sng" dirty="0"/>
              <a:t>egy banánt</a:t>
            </a:r>
            <a:r>
              <a:rPr lang="hu-HU" b="1" dirty="0"/>
              <a:t>	</a:t>
            </a:r>
            <a:r>
              <a:rPr lang="en-US" b="1" dirty="0"/>
              <a:t>	</a:t>
            </a:r>
            <a:r>
              <a:rPr lang="hu-HU" b="1" dirty="0"/>
              <a:t>evett.</a:t>
            </a:r>
          </a:p>
          <a:p>
            <a:r>
              <a:rPr lang="hu-HU" dirty="0" err="1"/>
              <a:t>which</a:t>
            </a:r>
            <a:r>
              <a:rPr lang="hu-HU" dirty="0"/>
              <a:t> (</a:t>
            </a:r>
            <a:r>
              <a:rPr lang="hu-HU" dirty="0" err="1"/>
              <a:t>relative</a:t>
            </a:r>
            <a:r>
              <a:rPr lang="hu-HU" dirty="0"/>
              <a:t>)	</a:t>
            </a:r>
            <a:r>
              <a:rPr lang="hu-HU" dirty="0" err="1"/>
              <a:t>the</a:t>
            </a:r>
            <a:r>
              <a:rPr lang="hu-HU" dirty="0"/>
              <a:t> </a:t>
            </a:r>
            <a:r>
              <a:rPr lang="hu-HU" dirty="0" err="1"/>
              <a:t>fruits</a:t>
            </a:r>
            <a:r>
              <a:rPr lang="hu-HU" dirty="0"/>
              <a:t>-ACC	</a:t>
            </a:r>
            <a:r>
              <a:rPr lang="hu-HU" dirty="0" err="1"/>
              <a:t>regards</a:t>
            </a:r>
            <a:r>
              <a:rPr lang="hu-HU" dirty="0"/>
              <a:t>	Anna	</a:t>
            </a:r>
            <a:r>
              <a:rPr lang="hu-HU" dirty="0" err="1"/>
              <a:t>only</a:t>
            </a:r>
            <a:r>
              <a:rPr lang="hu-HU" dirty="0"/>
              <a:t>	</a:t>
            </a:r>
            <a:r>
              <a:rPr lang="en-US" dirty="0"/>
              <a:t>	</a:t>
            </a:r>
            <a:r>
              <a:rPr lang="hu-HU" dirty="0"/>
              <a:t>a </a:t>
            </a:r>
            <a:r>
              <a:rPr lang="hu-HU" dirty="0" err="1"/>
              <a:t>banana</a:t>
            </a:r>
            <a:r>
              <a:rPr lang="hu-HU" dirty="0"/>
              <a:t>-ACC	ate-3SG</a:t>
            </a:r>
          </a:p>
          <a:p>
            <a:r>
              <a:rPr lang="hu-HU" i="1" dirty="0" err="1"/>
              <a:t>Regarding</a:t>
            </a:r>
            <a:r>
              <a:rPr lang="hu-HU" i="1" dirty="0"/>
              <a:t> </a:t>
            </a:r>
            <a:r>
              <a:rPr lang="hu-HU" i="1" dirty="0" err="1"/>
              <a:t>fruits</a:t>
            </a:r>
            <a:r>
              <a:rPr lang="hu-HU" i="1" dirty="0"/>
              <a:t>, Anna </a:t>
            </a:r>
            <a:r>
              <a:rPr lang="hu-HU" i="1" dirty="0" err="1"/>
              <a:t>ate</a:t>
            </a:r>
            <a:r>
              <a:rPr lang="hu-HU" i="1" dirty="0"/>
              <a:t> </a:t>
            </a:r>
            <a:r>
              <a:rPr lang="hu-HU" i="1" dirty="0" err="1"/>
              <a:t>only</a:t>
            </a:r>
            <a:r>
              <a:rPr lang="hu-HU" i="1" dirty="0"/>
              <a:t> a </a:t>
            </a:r>
            <a:r>
              <a:rPr lang="hu-HU" i="1" dirty="0" err="1"/>
              <a:t>banana</a:t>
            </a:r>
            <a:r>
              <a:rPr lang="hu-HU" i="1" dirty="0"/>
              <a:t>.	</a:t>
            </a:r>
            <a:r>
              <a:rPr lang="hu-HU" dirty="0"/>
              <a:t>	</a:t>
            </a:r>
            <a:endParaRPr lang="en-US" dirty="0"/>
          </a:p>
          <a:p>
            <a:r>
              <a:rPr lang="hu-HU" dirty="0"/>
              <a:t>				</a:t>
            </a:r>
          </a:p>
          <a:p>
            <a:r>
              <a:rPr lang="hu-HU" b="1" dirty="0">
                <a:effectLst>
                  <a:outerShdw blurRad="38100" dist="38100" dir="2700000" algn="tl">
                    <a:srgbClr val="000000">
                      <a:alpha val="43137"/>
                    </a:srgbClr>
                  </a:outerShdw>
                </a:effectLst>
              </a:rPr>
              <a:t>Ami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 gyümölcsöket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illeti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Anna	tegnap</a:t>
            </a:r>
            <a:r>
              <a:rPr lang="en-US" b="1" dirty="0">
                <a:effectLst>
                  <a:outerShdw blurRad="38100" dist="38100" dir="2700000" algn="tl">
                    <a:srgbClr val="000000">
                      <a:alpha val="43137"/>
                    </a:srgbClr>
                  </a:outerShdw>
                </a:effectLst>
              </a:rPr>
              <a:t>		</a:t>
            </a:r>
            <a:r>
              <a:rPr lang="hu-HU" b="1" u="sng" dirty="0">
                <a:effectLst>
                  <a:outerShdw blurRad="38100" dist="38100" dir="2700000" algn="tl">
                    <a:srgbClr val="000000">
                      <a:alpha val="43137"/>
                    </a:srgbClr>
                  </a:outerShdw>
                </a:effectLst>
              </a:rPr>
              <a:t>egy banánt</a:t>
            </a:r>
            <a:r>
              <a:rPr lang="hu-HU" b="1" dirty="0">
                <a:effectLst>
                  <a:outerShdw blurRad="38100" dist="38100" dir="2700000" algn="tl">
                    <a:srgbClr val="000000">
                      <a:alpha val="43137"/>
                    </a:srgbClr>
                  </a:outerShdw>
                </a:effectLst>
              </a:rPr>
              <a:t>	</a:t>
            </a:r>
            <a:r>
              <a:rPr lang="en-US" b="1" dirty="0">
                <a:effectLst>
                  <a:outerShdw blurRad="38100" dist="38100" dir="2700000" algn="tl">
                    <a:srgbClr val="000000">
                      <a:alpha val="43137"/>
                    </a:srgbClr>
                  </a:outerShdw>
                </a:effectLst>
              </a:rPr>
              <a:t>	</a:t>
            </a:r>
            <a:r>
              <a:rPr lang="hu-HU" b="1" dirty="0">
                <a:effectLst>
                  <a:outerShdw blurRad="38100" dist="38100" dir="2700000" algn="tl">
                    <a:srgbClr val="000000">
                      <a:alpha val="43137"/>
                    </a:srgbClr>
                  </a:outerShdw>
                </a:effectLst>
              </a:rPr>
              <a:t>evett.</a:t>
            </a:r>
          </a:p>
          <a:p>
            <a:r>
              <a:rPr lang="hu-HU" dirty="0" err="1">
                <a:effectLst>
                  <a:outerShdw blurRad="38100" dist="38100" dir="2700000" algn="tl">
                    <a:srgbClr val="000000">
                      <a:alpha val="43137"/>
                    </a:srgbClr>
                  </a:outerShdw>
                </a:effectLst>
              </a:rPr>
              <a:t>which</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relative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the</a:t>
            </a:r>
            <a:r>
              <a:rPr lang="hu-HU" dirty="0">
                <a:effectLst>
                  <a:outerShdw blurRad="38100" dist="38100" dir="2700000" algn="tl">
                    <a:srgbClr val="000000">
                      <a:alpha val="43137"/>
                    </a:srgbClr>
                  </a:outerShdw>
                </a:effectLst>
              </a:rPr>
              <a:t> </a:t>
            </a:r>
            <a:r>
              <a:rPr lang="hu-HU" dirty="0" err="1">
                <a:effectLst>
                  <a:outerShdw blurRad="38100" dist="38100" dir="2700000" algn="tl">
                    <a:srgbClr val="000000">
                      <a:alpha val="43137"/>
                    </a:srgbClr>
                  </a:outerShdw>
                </a:effectLst>
              </a:rPr>
              <a:t>fruits</a:t>
            </a:r>
            <a:r>
              <a:rPr lang="hu-HU" dirty="0">
                <a:effectLst>
                  <a:outerShdw blurRad="38100" dist="38100" dir="2700000" algn="tl">
                    <a:srgbClr val="000000">
                      <a:alpha val="43137"/>
                    </a:srgbClr>
                  </a:outerShdw>
                </a:effectLst>
              </a:rPr>
              <a:t>-ACC	</a:t>
            </a:r>
            <a:r>
              <a:rPr lang="hu-HU" dirty="0" err="1">
                <a:effectLst>
                  <a:outerShdw blurRad="38100" dist="38100" dir="2700000" algn="tl">
                    <a:srgbClr val="000000">
                      <a:alpha val="43137"/>
                    </a:srgbClr>
                  </a:outerShdw>
                </a:effectLst>
              </a:rPr>
              <a:t>regards</a:t>
            </a:r>
            <a:r>
              <a:rPr lang="hu-HU" dirty="0">
                <a:effectLst>
                  <a:outerShdw blurRad="38100" dist="38100" dir="2700000" algn="tl">
                    <a:srgbClr val="000000">
                      <a:alpha val="43137"/>
                    </a:srgbClr>
                  </a:outerShdw>
                </a:effectLst>
              </a:rPr>
              <a:t>	Anna	</a:t>
            </a:r>
            <a:r>
              <a:rPr lang="hu-HU" dirty="0" err="1">
                <a:effectLst>
                  <a:outerShdw blurRad="38100" dist="38100" dir="2700000" algn="tl">
                    <a:srgbClr val="000000">
                      <a:alpha val="43137"/>
                    </a:srgbClr>
                  </a:outerShdw>
                </a:effectLst>
              </a:rPr>
              <a:t>yesterday</a:t>
            </a:r>
            <a:r>
              <a:rPr lang="en-US" dirty="0">
                <a:effectLst>
                  <a:outerShdw blurRad="38100" dist="38100" dir="2700000" algn="tl">
                    <a:srgbClr val="000000">
                      <a:alpha val="43137"/>
                    </a:srgbClr>
                  </a:outerShdw>
                </a:effectLst>
              </a:rPr>
              <a:t>	</a:t>
            </a:r>
            <a:r>
              <a:rPr lang="hu-HU" dirty="0">
                <a:effectLst>
                  <a:outerShdw blurRad="38100" dist="38100" dir="2700000" algn="tl">
                    <a:srgbClr val="000000">
                      <a:alpha val="43137"/>
                    </a:srgbClr>
                  </a:outerShdw>
                </a:effectLst>
              </a:rPr>
              <a:t>a </a:t>
            </a:r>
            <a:r>
              <a:rPr lang="hu-HU" dirty="0" err="1">
                <a:effectLst>
                  <a:outerShdw blurRad="38100" dist="38100" dir="2700000" algn="tl">
                    <a:srgbClr val="000000">
                      <a:alpha val="43137"/>
                    </a:srgbClr>
                  </a:outerShdw>
                </a:effectLst>
              </a:rPr>
              <a:t>banana</a:t>
            </a:r>
            <a:r>
              <a:rPr lang="hu-HU" dirty="0">
                <a:effectLst>
                  <a:outerShdw blurRad="38100" dist="38100" dir="2700000" algn="tl">
                    <a:srgbClr val="000000">
                      <a:alpha val="43137"/>
                    </a:srgbClr>
                  </a:outerShdw>
                </a:effectLst>
              </a:rPr>
              <a:t>-ACC	ate-3SG</a:t>
            </a:r>
          </a:p>
          <a:p>
            <a:r>
              <a:rPr lang="hu-HU" i="1" dirty="0" err="1">
                <a:effectLst>
                  <a:outerShdw blurRad="38100" dist="38100" dir="2700000" algn="tl">
                    <a:srgbClr val="000000">
                      <a:alpha val="43137"/>
                    </a:srgbClr>
                  </a:outerShdw>
                </a:effectLst>
              </a:rPr>
              <a:t>Regarding</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fruits</a:t>
            </a:r>
            <a:r>
              <a:rPr lang="hu-HU" i="1" dirty="0">
                <a:effectLst>
                  <a:outerShdw blurRad="38100" dist="38100" dir="2700000" algn="tl">
                    <a:srgbClr val="000000">
                      <a:alpha val="43137"/>
                    </a:srgbClr>
                  </a:outerShdw>
                </a:effectLst>
              </a:rPr>
              <a:t>, Anna </a:t>
            </a:r>
            <a:r>
              <a:rPr lang="hu-HU" i="1" dirty="0" err="1">
                <a:effectLst>
                  <a:outerShdw blurRad="38100" dist="38100" dir="2700000" algn="tl">
                    <a:srgbClr val="000000">
                      <a:alpha val="43137"/>
                    </a:srgbClr>
                  </a:outerShdw>
                </a:effectLst>
              </a:rPr>
              <a:t>ate</a:t>
            </a:r>
            <a:r>
              <a:rPr lang="hu-HU" i="1" dirty="0">
                <a:effectLst>
                  <a:outerShdw blurRad="38100" dist="38100" dir="2700000" algn="tl">
                    <a:srgbClr val="000000">
                      <a:alpha val="43137"/>
                    </a:srgbClr>
                  </a:outerShdw>
                </a:effectLst>
              </a:rPr>
              <a:t> a </a:t>
            </a:r>
            <a:r>
              <a:rPr lang="hu-HU" i="1" dirty="0" err="1">
                <a:effectLst>
                  <a:outerShdw blurRad="38100" dist="38100" dir="2700000" algn="tl">
                    <a:srgbClr val="000000">
                      <a:alpha val="43137"/>
                    </a:srgbClr>
                  </a:outerShdw>
                </a:effectLst>
              </a:rPr>
              <a:t>banana</a:t>
            </a:r>
            <a:r>
              <a:rPr lang="hu-HU" i="1" dirty="0">
                <a:effectLst>
                  <a:outerShdw blurRad="38100" dist="38100" dir="2700000" algn="tl">
                    <a:srgbClr val="000000">
                      <a:alpha val="43137"/>
                    </a:srgbClr>
                  </a:outerShdw>
                </a:effectLst>
              </a:rPr>
              <a:t> </a:t>
            </a:r>
            <a:r>
              <a:rPr lang="hu-HU" i="1" dirty="0" err="1">
                <a:effectLst>
                  <a:outerShdw blurRad="38100" dist="38100" dir="2700000" algn="tl">
                    <a:srgbClr val="000000">
                      <a:alpha val="43137"/>
                    </a:srgbClr>
                  </a:outerShdw>
                </a:effectLst>
              </a:rPr>
              <a:t>yesterday</a:t>
            </a:r>
            <a:r>
              <a:rPr lang="hu-HU" i="1" dirty="0">
                <a:effectLst>
                  <a:outerShdw blurRad="38100" dist="38100" dir="2700000" algn="tl">
                    <a:srgbClr val="000000">
                      <a:alpha val="43137"/>
                    </a:srgbClr>
                  </a:outerShdw>
                </a:effectLst>
              </a:rPr>
              <a:t>.</a:t>
            </a:r>
            <a:r>
              <a:rPr lang="hu-HU" i="1" dirty="0"/>
              <a:t>	</a:t>
            </a:r>
            <a:r>
              <a:rPr lang="hu-HU" dirty="0"/>
              <a:t>			</a:t>
            </a:r>
            <a:endParaRPr lang="en-US" dirty="0"/>
          </a:p>
          <a:p>
            <a:r>
              <a:rPr lang="hu-HU" dirty="0"/>
              <a:t>		</a:t>
            </a:r>
          </a:p>
          <a:p>
            <a:r>
              <a:rPr lang="hu-HU" b="1" dirty="0"/>
              <a:t>Tegnap	</a:t>
            </a:r>
            <a:r>
              <a:rPr lang="en-US" b="1" dirty="0"/>
              <a:t>	</a:t>
            </a:r>
            <a:r>
              <a:rPr lang="hu-HU" b="1" dirty="0"/>
              <a:t>reggel	</a:t>
            </a:r>
            <a:r>
              <a:rPr lang="en-US" b="1" dirty="0"/>
              <a:t>			</a:t>
            </a:r>
            <a:r>
              <a:rPr lang="hu-HU" b="1" dirty="0"/>
              <a:t>Anna	</a:t>
            </a:r>
            <a:r>
              <a:rPr lang="hu-HU" b="1" dirty="0">
                <a:solidFill>
                  <a:srgbClr val="92D050"/>
                </a:solidFill>
              </a:rPr>
              <a:t>többek	között</a:t>
            </a:r>
            <a:r>
              <a:rPr lang="hu-HU" b="1" dirty="0"/>
              <a:t>	</a:t>
            </a:r>
            <a:r>
              <a:rPr lang="en-US" b="1" dirty="0"/>
              <a:t>	</a:t>
            </a:r>
            <a:r>
              <a:rPr lang="hu-HU" b="1" u="sng" dirty="0"/>
              <a:t>egy banánt</a:t>
            </a:r>
            <a:r>
              <a:rPr lang="hu-HU" b="1" dirty="0"/>
              <a:t>	</a:t>
            </a:r>
            <a:r>
              <a:rPr lang="en-US" b="1" dirty="0"/>
              <a:t>	</a:t>
            </a:r>
            <a:r>
              <a:rPr lang="hu-HU" b="1" dirty="0"/>
              <a:t>evett.</a:t>
            </a:r>
          </a:p>
          <a:p>
            <a:r>
              <a:rPr lang="hu-HU" dirty="0" err="1"/>
              <a:t>yesterday</a:t>
            </a:r>
            <a:r>
              <a:rPr lang="hu-HU" dirty="0"/>
              <a:t>	</a:t>
            </a:r>
            <a:r>
              <a:rPr lang="hu-HU" dirty="0" err="1"/>
              <a:t>morning</a:t>
            </a:r>
            <a:r>
              <a:rPr lang="hu-HU" dirty="0"/>
              <a:t>	</a:t>
            </a:r>
            <a:r>
              <a:rPr lang="en-US" dirty="0"/>
              <a:t>			</a:t>
            </a:r>
            <a:r>
              <a:rPr lang="hu-HU" dirty="0"/>
              <a:t>Anna	</a:t>
            </a:r>
            <a:r>
              <a:rPr lang="hu-HU" dirty="0" err="1"/>
              <a:t>others</a:t>
            </a:r>
            <a:r>
              <a:rPr lang="hu-HU" dirty="0"/>
              <a:t>	</a:t>
            </a:r>
            <a:r>
              <a:rPr lang="hu-HU" dirty="0" err="1"/>
              <a:t>among</a:t>
            </a:r>
            <a:r>
              <a:rPr lang="hu-HU" dirty="0"/>
              <a:t>	</a:t>
            </a:r>
            <a:r>
              <a:rPr lang="en-US" dirty="0"/>
              <a:t>	</a:t>
            </a:r>
            <a:r>
              <a:rPr lang="hu-HU" dirty="0"/>
              <a:t>a </a:t>
            </a:r>
            <a:r>
              <a:rPr lang="hu-HU" dirty="0" err="1"/>
              <a:t>banana</a:t>
            </a:r>
            <a:r>
              <a:rPr lang="hu-HU" dirty="0"/>
              <a:t>-ACC	ate-3SG</a:t>
            </a:r>
          </a:p>
          <a:p>
            <a:r>
              <a:rPr lang="hu-HU" i="1" dirty="0" err="1"/>
              <a:t>Yesterday</a:t>
            </a:r>
            <a:r>
              <a:rPr lang="hu-HU" i="1" dirty="0"/>
              <a:t> </a:t>
            </a:r>
            <a:r>
              <a:rPr lang="hu-HU" i="1" dirty="0" err="1"/>
              <a:t>morning</a:t>
            </a:r>
            <a:r>
              <a:rPr lang="hu-HU" i="1" dirty="0"/>
              <a:t> Anna </a:t>
            </a:r>
            <a:r>
              <a:rPr lang="hu-HU" i="1" dirty="0" err="1"/>
              <a:t>ate</a:t>
            </a:r>
            <a:r>
              <a:rPr lang="hu-HU" i="1" dirty="0"/>
              <a:t>, </a:t>
            </a:r>
            <a:r>
              <a:rPr lang="hu-HU" i="1" dirty="0" err="1"/>
              <a:t>among</a:t>
            </a:r>
            <a:r>
              <a:rPr lang="hu-HU" i="1" dirty="0"/>
              <a:t> </a:t>
            </a:r>
            <a:r>
              <a:rPr lang="hu-HU" i="1" dirty="0" err="1"/>
              <a:t>other</a:t>
            </a:r>
            <a:r>
              <a:rPr lang="hu-HU" i="1" dirty="0"/>
              <a:t> </a:t>
            </a:r>
            <a:r>
              <a:rPr lang="hu-HU" i="1" dirty="0" err="1"/>
              <a:t>things</a:t>
            </a:r>
            <a:r>
              <a:rPr lang="hu-HU" i="1" dirty="0"/>
              <a:t>, a </a:t>
            </a:r>
            <a:r>
              <a:rPr lang="hu-HU" i="1" dirty="0" err="1"/>
              <a:t>banana</a:t>
            </a:r>
            <a:r>
              <a:rPr lang="hu-HU" i="1" dirty="0"/>
              <a:t>.		</a:t>
            </a:r>
            <a:r>
              <a:rPr lang="hu-HU" dirty="0"/>
              <a:t>				</a:t>
            </a:r>
          </a:p>
        </p:txBody>
      </p:sp>
    </p:spTree>
    <p:extLst>
      <p:ext uri="{BB962C8B-B14F-4D97-AF65-F5344CB8AC3E}">
        <p14:creationId xmlns:p14="http://schemas.microsoft.com/office/powerpoint/2010/main" val="33168601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A9A51-2005-5796-C9E7-B80F0D5F6C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42F8B8-92C8-CB8F-3C7F-7B306D1B35FB}"/>
              </a:ext>
            </a:extLst>
          </p:cNvPr>
          <p:cNvSpPr>
            <a:spLocks noGrp="1"/>
          </p:cNvSpPr>
          <p:nvPr>
            <p:ph type="title"/>
          </p:nvPr>
        </p:nvSpPr>
        <p:spPr/>
        <p:txBody>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66CC975C-F99D-893E-05A8-482A15D4F6D7}"/>
              </a:ext>
            </a:extLst>
          </p:cNvPr>
          <p:cNvSpPr>
            <a:spLocks noGrp="1"/>
          </p:cNvSpPr>
          <p:nvPr>
            <p:ph idx="1"/>
          </p:nvPr>
        </p:nvSpPr>
        <p:spPr>
          <a:xfrm>
            <a:off x="1103312" y="2052918"/>
            <a:ext cx="8946541" cy="4265586"/>
          </a:xfrm>
        </p:spPr>
        <p:txBody>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400050" lvl="1" indent="0">
              <a:buNone/>
            </a:pPr>
            <a:endParaRPr lang="en-US" dirty="0"/>
          </a:p>
          <a:p>
            <a:pPr marL="400050" lvl="1" indent="0">
              <a:buNone/>
            </a:pPr>
            <a:endParaRPr lang="en-US" dirty="0"/>
          </a:p>
        </p:txBody>
      </p:sp>
    </p:spTree>
    <p:extLst>
      <p:ext uri="{BB962C8B-B14F-4D97-AF65-F5344CB8AC3E}">
        <p14:creationId xmlns:p14="http://schemas.microsoft.com/office/powerpoint/2010/main" val="30255461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DF2F5-88A6-1877-5FC7-F62873FE0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AD4FD71-D217-6BDE-0A33-EF2ECBDAFDFB}"/>
              </a:ext>
            </a:extLst>
          </p:cNvPr>
          <p:cNvSpPr>
            <a:spLocks noGrp="1"/>
          </p:cNvSpPr>
          <p:nvPr>
            <p:ph type="title"/>
          </p:nvPr>
        </p:nvSpPr>
        <p:spPr/>
        <p:txBody>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4F8A4F85-6FE6-775B-46B8-88DBF67065A9}"/>
              </a:ext>
            </a:extLst>
          </p:cNvPr>
          <p:cNvSpPr>
            <a:spLocks noGrp="1"/>
          </p:cNvSpPr>
          <p:nvPr>
            <p:ph idx="1"/>
          </p:nvPr>
        </p:nvSpPr>
        <p:spPr>
          <a:xfrm>
            <a:off x="1103312" y="2052918"/>
            <a:ext cx="8946541" cy="4677066"/>
          </a:xfrm>
        </p:spPr>
        <p:txBody>
          <a:bodyPr>
            <a:normAutofit/>
          </a:bodyPr>
          <a:lstStyle/>
          <a:p>
            <a:pPr marL="457200" indent="-457200">
              <a:buFont typeface="+mj-lt"/>
              <a:buAutoNum type="arabicPeriod"/>
            </a:pPr>
            <a:r>
              <a:rPr lang="en-US" dirty="0"/>
              <a:t>Hungarian focus constructions – exclusivity vs. </a:t>
            </a:r>
            <a:r>
              <a:rPr lang="en-US" dirty="0" err="1"/>
              <a:t>contrastivity</a:t>
            </a:r>
            <a:endParaRPr lang="en-US" dirty="0"/>
          </a:p>
          <a:p>
            <a:pPr marL="857250" lvl="1" indent="-457200"/>
            <a:r>
              <a:rPr lang="en-US" dirty="0"/>
              <a:t>Testing if Hungarian focus is exhaustive by default, or if it can be contrastive.</a:t>
            </a:r>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a:pPr>
            <a:r>
              <a:rPr lang="en-US" dirty="0"/>
              <a:t>Verbal directionality and social bias</a:t>
            </a:r>
          </a:p>
          <a:p>
            <a:pPr marL="685800" lvl="1"/>
            <a:r>
              <a:rPr lang="en-US" dirty="0"/>
              <a:t>Testing if gender/status/societal bias can change verb directionality </a:t>
            </a:r>
          </a:p>
          <a:p>
            <a:pPr marL="685800" lvl="1"/>
            <a:r>
              <a:rPr lang="en-US" dirty="0"/>
              <a:t>2 halves, 3 conditions, 18 items</a:t>
            </a:r>
          </a:p>
          <a:p>
            <a:pPr marL="400050" lvl="1" indent="0">
              <a:buNone/>
            </a:pPr>
            <a:endParaRPr lang="en-US" dirty="0"/>
          </a:p>
          <a:p>
            <a:pPr marL="400050" lvl="1" indent="0">
              <a:buNone/>
            </a:pPr>
            <a:endParaRPr lang="en-US" dirty="0"/>
          </a:p>
        </p:txBody>
      </p:sp>
    </p:spTree>
    <p:extLst>
      <p:ext uri="{BB962C8B-B14F-4D97-AF65-F5344CB8AC3E}">
        <p14:creationId xmlns:p14="http://schemas.microsoft.com/office/powerpoint/2010/main" val="4071999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B8975-590F-42D4-FC00-54C0DCD564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3C308-F2EC-07E5-35C3-D78E39128849}"/>
              </a:ext>
            </a:extLst>
          </p:cNvPr>
          <p:cNvSpPr>
            <a:spLocks noGrp="1"/>
          </p:cNvSpPr>
          <p:nvPr>
            <p:ph type="title"/>
          </p:nvPr>
        </p:nvSpPr>
        <p:spPr/>
        <p:txBody>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0310A9F-B466-54AE-B946-A529094D3C5A}"/>
              </a:ext>
            </a:extLst>
          </p:cNvPr>
          <p:cNvSpPr>
            <a:spLocks noGrp="1"/>
          </p:cNvSpPr>
          <p:nvPr>
            <p:ph idx="1"/>
          </p:nvPr>
        </p:nvSpPr>
        <p:spPr>
          <a:xfrm>
            <a:off x="1104293" y="2286000"/>
            <a:ext cx="8946541" cy="4238154"/>
          </a:xfrm>
        </p:spPr>
        <p:txBody>
          <a:bodyPr>
            <a:normAutofit/>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169BE7F1-71DA-A390-E953-14BACEA0F235}"/>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Tree>
    <p:extLst>
      <p:ext uri="{BB962C8B-B14F-4D97-AF65-F5344CB8AC3E}">
        <p14:creationId xmlns:p14="http://schemas.microsoft.com/office/powerpoint/2010/main" val="462358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CDE47-3E18-2BD4-C49C-CB86F27619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34C9C3-A105-63D6-ED45-A4522A371755}"/>
              </a:ext>
            </a:extLst>
          </p:cNvPr>
          <p:cNvSpPr>
            <a:spLocks noGrp="1"/>
          </p:cNvSpPr>
          <p:nvPr>
            <p:ph type="title"/>
          </p:nvPr>
        </p:nvSpPr>
        <p:spPr/>
        <p:txBody>
          <a:bodyPr/>
          <a:lstStyle/>
          <a:p>
            <a:r>
              <a:rPr lang="en-US" dirty="0"/>
              <a:t>Two experiments: 2A</a:t>
            </a:r>
            <a:endParaRPr lang="hu-HU" dirty="0"/>
          </a:p>
        </p:txBody>
      </p:sp>
      <p:sp>
        <p:nvSpPr>
          <p:cNvPr id="3" name="Content Placeholder 2">
            <a:extLst>
              <a:ext uri="{FF2B5EF4-FFF2-40B4-BE49-F238E27FC236}">
                <a16:creationId xmlns:a16="http://schemas.microsoft.com/office/drawing/2014/main" id="{17A7D9BF-D5FE-1ED5-5562-CE09B86059E5}"/>
              </a:ext>
            </a:extLst>
          </p:cNvPr>
          <p:cNvSpPr>
            <a:spLocks noGrp="1"/>
          </p:cNvSpPr>
          <p:nvPr>
            <p:ph idx="1"/>
          </p:nvPr>
        </p:nvSpPr>
        <p:spPr>
          <a:xfrm>
            <a:off x="1104293" y="2286000"/>
            <a:ext cx="8946541" cy="4238154"/>
          </a:xfrm>
        </p:spPr>
        <p:txBody>
          <a:bodyPr>
            <a:normAutofit/>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0F1B379C-E466-4242-AAAA-C2DDEAD3D38F}"/>
              </a:ext>
            </a:extLst>
          </p:cNvPr>
          <p:cNvSpPr txBox="1"/>
          <p:nvPr/>
        </p:nvSpPr>
        <p:spPr>
          <a:xfrm>
            <a:off x="1764792" y="1853248"/>
            <a:ext cx="10011188" cy="3416320"/>
          </a:xfrm>
          <a:prstGeom prst="rect">
            <a:avLst/>
          </a:prstGeom>
          <a:noFill/>
        </p:spPr>
        <p:txBody>
          <a:bodyPr wrap="square">
            <a:spAutoFit/>
          </a:bodyPr>
          <a:lstStyle/>
          <a:p>
            <a:r>
              <a:rPr lang="hu-HU" b="1" dirty="0"/>
              <a:t>A szakács	említette	hogy	a dolgozó	kérkedett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megdicsérte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kérkedett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0A38779B-1F7B-7D50-472D-B4DEB702AB9A}"/>
              </a:ext>
            </a:extLst>
          </p:cNvPr>
          <p:cNvSpPr txBox="1"/>
          <p:nvPr/>
        </p:nvSpPr>
        <p:spPr>
          <a:xfrm>
            <a:off x="0" y="1853248"/>
            <a:ext cx="6094476" cy="2585323"/>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p>
        </p:txBody>
      </p:sp>
    </p:spTree>
    <p:extLst>
      <p:ext uri="{BB962C8B-B14F-4D97-AF65-F5344CB8AC3E}">
        <p14:creationId xmlns:p14="http://schemas.microsoft.com/office/powerpoint/2010/main" val="25235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3117E-2E0B-8A49-6D21-A79321C38D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A73CFA-5462-0169-220C-FA433C74C36C}"/>
              </a:ext>
            </a:extLst>
          </p:cNvPr>
          <p:cNvSpPr>
            <a:spLocks noGrp="1"/>
          </p:cNvSpPr>
          <p:nvPr>
            <p:ph type="title"/>
          </p:nvPr>
        </p:nvSpPr>
        <p:spPr/>
        <p:txBody>
          <a:bodyPr/>
          <a:lstStyle/>
          <a:p>
            <a:r>
              <a:rPr lang="en-US" dirty="0"/>
              <a:t>Two experiments: 2A - verb</a:t>
            </a:r>
            <a:endParaRPr lang="hu-HU" dirty="0"/>
          </a:p>
        </p:txBody>
      </p:sp>
      <p:sp>
        <p:nvSpPr>
          <p:cNvPr id="3" name="Content Placeholder 2">
            <a:extLst>
              <a:ext uri="{FF2B5EF4-FFF2-40B4-BE49-F238E27FC236}">
                <a16:creationId xmlns:a16="http://schemas.microsoft.com/office/drawing/2014/main" id="{3C499743-B60C-2D6D-F060-80F117715EFE}"/>
              </a:ext>
            </a:extLst>
          </p:cNvPr>
          <p:cNvSpPr>
            <a:spLocks noGrp="1"/>
          </p:cNvSpPr>
          <p:nvPr>
            <p:ph idx="1"/>
          </p:nvPr>
        </p:nvSpPr>
        <p:spPr>
          <a:xfrm>
            <a:off x="1104293" y="2286000"/>
            <a:ext cx="8946541" cy="4238154"/>
          </a:xfrm>
        </p:spPr>
        <p:txBody>
          <a:bodyPr>
            <a:normAutofit/>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77FA5D25-98F4-221F-BD6C-15ED4D322EB1}"/>
              </a:ext>
            </a:extLst>
          </p:cNvPr>
          <p:cNvSpPr txBox="1"/>
          <p:nvPr/>
        </p:nvSpPr>
        <p:spPr>
          <a:xfrm>
            <a:off x="1764792" y="1853248"/>
            <a:ext cx="10011188" cy="3139321"/>
          </a:xfrm>
          <a:prstGeom prst="rect">
            <a:avLst/>
          </a:prstGeom>
          <a:noFill/>
        </p:spPr>
        <p:txBody>
          <a:bodyPr wrap="square">
            <a:spAutoFit/>
          </a:bodyPr>
          <a:lstStyle/>
          <a:p>
            <a:r>
              <a:rPr lang="hu-HU" b="1" dirty="0"/>
              <a:t>A szakács	említette	hogy	a dolgozó	</a:t>
            </a:r>
            <a:r>
              <a:rPr lang="hu-HU" b="1" dirty="0">
                <a:solidFill>
                  <a:schemeClr val="accent1"/>
                </a:solidFill>
              </a:rPr>
              <a:t>kérkedett</a:t>
            </a:r>
            <a:r>
              <a:rPr lang="hu-HU" b="1" dirty="0"/>
              <a:t>		a főzőtudásával.</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szakács	említette	hogy	a dolgozó	</a:t>
            </a:r>
            <a:r>
              <a:rPr lang="hu-HU" b="1" dirty="0">
                <a:solidFill>
                  <a:schemeClr val="accent1"/>
                </a:solidFill>
              </a:rPr>
              <a:t>megdicsérte</a:t>
            </a:r>
            <a:r>
              <a:rPr lang="hu-HU" b="1" dirty="0"/>
              <a:t>	a főzőtudását.</a:t>
            </a:r>
          </a:p>
          <a:p>
            <a:r>
              <a:rPr lang="hu-HU" dirty="0" err="1"/>
              <a:t>the</a:t>
            </a:r>
            <a:r>
              <a:rPr lang="hu-HU" dirty="0"/>
              <a:t> chef	</a:t>
            </a:r>
            <a:r>
              <a:rPr lang="hu-HU" dirty="0" err="1"/>
              <a:t>mentioned</a:t>
            </a:r>
            <a:r>
              <a:rPr lang="hu-HU" dirty="0"/>
              <a:t>	</a:t>
            </a:r>
            <a:r>
              <a:rPr lang="hu-HU" dirty="0" err="1"/>
              <a:t>that</a:t>
            </a:r>
            <a:r>
              <a:rPr lang="hu-HU" dirty="0"/>
              <a:t>	</a:t>
            </a:r>
            <a:r>
              <a:rPr lang="en-US" dirty="0"/>
              <a:t>	</a:t>
            </a:r>
            <a:r>
              <a:rPr lang="hu-HU" dirty="0" err="1"/>
              <a:t>the</a:t>
            </a:r>
            <a:r>
              <a:rPr lang="hu-HU" dirty="0"/>
              <a:t> </a:t>
            </a:r>
            <a:r>
              <a:rPr lang="hu-HU" dirty="0" err="1"/>
              <a:t>worker</a:t>
            </a:r>
            <a:r>
              <a:rPr lang="hu-HU" dirty="0"/>
              <a:t>	</a:t>
            </a:r>
            <a:r>
              <a:rPr lang="hu-HU" dirty="0" err="1"/>
              <a:t>praised</a:t>
            </a:r>
            <a:r>
              <a:rPr lang="hu-HU" dirty="0"/>
              <a:t>	</a:t>
            </a:r>
            <a:r>
              <a:rPr lang="en-US" dirty="0"/>
              <a:t>		</a:t>
            </a:r>
            <a:r>
              <a:rPr lang="hu-HU" dirty="0" err="1"/>
              <a:t>the</a:t>
            </a:r>
            <a:r>
              <a:rPr lang="hu-HU" dirty="0"/>
              <a:t> </a:t>
            </a:r>
            <a:r>
              <a:rPr lang="hu-HU" dirty="0" err="1"/>
              <a:t>cooking</a:t>
            </a:r>
            <a:r>
              <a:rPr lang="hu-HU" dirty="0"/>
              <a:t> skill-3SG-DAT</a:t>
            </a:r>
          </a:p>
          <a:p>
            <a:r>
              <a:rPr lang="hu-HU" i="1" dirty="0"/>
              <a:t>The chef </a:t>
            </a:r>
            <a:r>
              <a:rPr lang="hu-HU" i="1" dirty="0" err="1"/>
              <a:t>mentioned</a:t>
            </a:r>
            <a:r>
              <a:rPr lang="hu-HU" i="1" dirty="0"/>
              <a:t> </a:t>
            </a:r>
            <a:r>
              <a:rPr lang="hu-HU" i="1" dirty="0" err="1"/>
              <a:t>that</a:t>
            </a:r>
            <a:r>
              <a:rPr lang="hu-HU" i="1" dirty="0"/>
              <a:t> </a:t>
            </a:r>
            <a:r>
              <a:rPr lang="hu-HU" i="1" dirty="0" err="1"/>
              <a:t>the</a:t>
            </a:r>
            <a:r>
              <a:rPr lang="hu-HU" i="1" dirty="0"/>
              <a:t> </a:t>
            </a:r>
            <a:r>
              <a:rPr lang="hu-HU" i="1" dirty="0" err="1"/>
              <a:t>worker</a:t>
            </a:r>
            <a:r>
              <a:rPr lang="hu-HU" i="1" dirty="0"/>
              <a:t> </a:t>
            </a:r>
            <a:r>
              <a:rPr lang="hu-HU" i="1" dirty="0" err="1"/>
              <a:t>praised</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endParaRPr lang="en-US" dirty="0"/>
          </a:p>
          <a:p>
            <a:r>
              <a:rPr lang="hu-HU" dirty="0"/>
              <a:t>	</a:t>
            </a:r>
          </a:p>
          <a:p>
            <a:r>
              <a:rPr lang="hu-HU" b="1" dirty="0"/>
              <a:t>A dolgozó	említette	hogy	a szakács	</a:t>
            </a:r>
            <a:r>
              <a:rPr lang="hu-HU" b="1" dirty="0">
                <a:solidFill>
                  <a:schemeClr val="accent1"/>
                </a:solidFill>
              </a:rPr>
              <a:t>kérkedett</a:t>
            </a:r>
            <a:r>
              <a:rPr lang="hu-HU" b="1" dirty="0"/>
              <a:t>		a főzőtudásával.</a:t>
            </a:r>
          </a:p>
          <a:p>
            <a:r>
              <a:rPr lang="hu-HU" dirty="0" err="1"/>
              <a:t>the</a:t>
            </a:r>
            <a:r>
              <a:rPr lang="hu-HU" dirty="0"/>
              <a:t> </a:t>
            </a:r>
            <a:r>
              <a:rPr lang="hu-HU" dirty="0" err="1"/>
              <a:t>worker</a:t>
            </a:r>
            <a:r>
              <a:rPr lang="hu-HU" dirty="0"/>
              <a:t>	</a:t>
            </a:r>
            <a:r>
              <a:rPr lang="hu-HU" dirty="0" err="1"/>
              <a:t>mentioned</a:t>
            </a:r>
            <a:r>
              <a:rPr lang="hu-HU" dirty="0"/>
              <a:t>	</a:t>
            </a:r>
            <a:r>
              <a:rPr lang="hu-HU" dirty="0" err="1"/>
              <a:t>that</a:t>
            </a:r>
            <a:r>
              <a:rPr lang="hu-HU" dirty="0"/>
              <a:t>	</a:t>
            </a:r>
            <a:r>
              <a:rPr lang="en-US" dirty="0"/>
              <a:t>	</a:t>
            </a:r>
            <a:r>
              <a:rPr lang="hu-HU" dirty="0" err="1"/>
              <a:t>the</a:t>
            </a:r>
            <a:r>
              <a:rPr lang="hu-HU" dirty="0"/>
              <a:t> chef	</a:t>
            </a:r>
            <a:r>
              <a:rPr lang="hu-HU" dirty="0" err="1"/>
              <a:t>boasted</a:t>
            </a:r>
            <a:r>
              <a:rPr lang="hu-HU" dirty="0"/>
              <a:t>		</a:t>
            </a:r>
            <a:r>
              <a:rPr lang="hu-HU" dirty="0" err="1"/>
              <a:t>the</a:t>
            </a:r>
            <a:r>
              <a:rPr lang="hu-HU" dirty="0"/>
              <a:t> </a:t>
            </a:r>
            <a:r>
              <a:rPr lang="hu-HU" dirty="0" err="1"/>
              <a:t>cooking</a:t>
            </a:r>
            <a:r>
              <a:rPr lang="hu-HU" dirty="0"/>
              <a:t> skill-3SG-INS</a:t>
            </a:r>
          </a:p>
          <a:p>
            <a:r>
              <a:rPr lang="hu-HU" i="1" dirty="0"/>
              <a:t>The </a:t>
            </a:r>
            <a:r>
              <a:rPr lang="hu-HU" i="1" dirty="0" err="1"/>
              <a:t>worker</a:t>
            </a:r>
            <a:r>
              <a:rPr lang="hu-HU" i="1" dirty="0"/>
              <a:t> </a:t>
            </a:r>
            <a:r>
              <a:rPr lang="hu-HU" i="1" dirty="0" err="1"/>
              <a:t>mentioned</a:t>
            </a:r>
            <a:r>
              <a:rPr lang="hu-HU" i="1" dirty="0"/>
              <a:t> </a:t>
            </a:r>
            <a:r>
              <a:rPr lang="hu-HU" i="1" dirty="0" err="1"/>
              <a:t>that</a:t>
            </a:r>
            <a:r>
              <a:rPr lang="hu-HU" i="1" dirty="0"/>
              <a:t> </a:t>
            </a:r>
            <a:r>
              <a:rPr lang="hu-HU" i="1" dirty="0" err="1"/>
              <a:t>the</a:t>
            </a:r>
            <a:r>
              <a:rPr lang="hu-HU" i="1" dirty="0"/>
              <a:t> chef </a:t>
            </a:r>
            <a:r>
              <a:rPr lang="hu-HU" i="1" dirty="0" err="1"/>
              <a:t>boasted</a:t>
            </a:r>
            <a:r>
              <a:rPr lang="hu-HU" i="1" dirty="0"/>
              <a:t> </a:t>
            </a:r>
            <a:r>
              <a:rPr lang="hu-HU" i="1" dirty="0" err="1"/>
              <a:t>about</a:t>
            </a:r>
            <a:r>
              <a:rPr lang="hu-HU" i="1" dirty="0"/>
              <a:t>  </a:t>
            </a:r>
            <a:r>
              <a:rPr lang="hu-HU" i="1" dirty="0" err="1"/>
              <a:t>his</a:t>
            </a:r>
            <a:r>
              <a:rPr lang="hu-HU" i="1" dirty="0"/>
              <a:t>/</a:t>
            </a:r>
            <a:r>
              <a:rPr lang="hu-HU" i="1" dirty="0" err="1"/>
              <a:t>her</a:t>
            </a:r>
            <a:r>
              <a:rPr lang="hu-HU" i="1" dirty="0"/>
              <a:t> </a:t>
            </a:r>
            <a:r>
              <a:rPr lang="hu-HU" i="1" dirty="0" err="1"/>
              <a:t>cooking</a:t>
            </a:r>
            <a:r>
              <a:rPr lang="hu-HU" i="1" dirty="0"/>
              <a:t> </a:t>
            </a:r>
            <a:r>
              <a:rPr lang="hu-HU" i="1" dirty="0" err="1"/>
              <a:t>skills</a:t>
            </a:r>
            <a:r>
              <a:rPr lang="hu-HU" i="1" dirty="0"/>
              <a:t>.		</a:t>
            </a:r>
            <a:r>
              <a:rPr lang="hu-HU" dirty="0"/>
              <a:t>				</a:t>
            </a:r>
          </a:p>
        </p:txBody>
      </p:sp>
      <p:sp>
        <p:nvSpPr>
          <p:cNvPr id="12" name="TextBox 11">
            <a:extLst>
              <a:ext uri="{FF2B5EF4-FFF2-40B4-BE49-F238E27FC236}">
                <a16:creationId xmlns:a16="http://schemas.microsoft.com/office/drawing/2014/main" id="{54B15585-BDE7-BE0C-A376-7054332D6793}"/>
              </a:ext>
            </a:extLst>
          </p:cNvPr>
          <p:cNvSpPr txBox="1"/>
          <p:nvPr/>
        </p:nvSpPr>
        <p:spPr>
          <a:xfrm>
            <a:off x="0" y="1853248"/>
            <a:ext cx="4782312" cy="3416320"/>
          </a:xfrm>
          <a:prstGeom prst="rect">
            <a:avLst/>
          </a:prstGeom>
          <a:noFill/>
        </p:spPr>
        <p:txBody>
          <a:bodyPr wrap="square">
            <a:spAutoFit/>
          </a:bodyPr>
          <a:lstStyle/>
          <a:p>
            <a:r>
              <a:rPr lang="hu-HU" b="1" dirty="0" err="1">
                <a:solidFill>
                  <a:schemeClr val="accent4"/>
                </a:solidFill>
              </a:rPr>
              <a:t>self-directed</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other-directed</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self</a:t>
            </a:r>
            <a:r>
              <a:rPr lang="hu-HU" b="1" dirty="0">
                <a:solidFill>
                  <a:schemeClr val="accent4"/>
                </a:solidFill>
              </a:rPr>
              <a:t>-</a:t>
            </a:r>
            <a:r>
              <a:rPr lang="hu-HU" b="1" dirty="0" err="1">
                <a:solidFill>
                  <a:schemeClr val="accent4"/>
                </a:solidFill>
              </a:rPr>
              <a:t>directed</a:t>
            </a:r>
            <a:r>
              <a:rPr lang="hu-HU" b="1" dirty="0">
                <a:solidFill>
                  <a:schemeClr val="accent4"/>
                </a:solidFill>
              </a:rPr>
              <a:t>-x</a:t>
            </a:r>
            <a:endParaRPr lang="en-US" b="1" dirty="0">
              <a:solidFill>
                <a:schemeClr val="accent4"/>
              </a:solidFill>
            </a:endParaRPr>
          </a:p>
          <a:p>
            <a:endParaRPr lang="en-US" b="1" dirty="0">
              <a:solidFill>
                <a:schemeClr val="accent4"/>
              </a:solidFill>
            </a:endParaRPr>
          </a:p>
          <a:p>
            <a:endParaRPr lang="en-US" b="1" dirty="0">
              <a:solidFill>
                <a:schemeClr val="accent4"/>
              </a:solidFill>
            </a:endParaRPr>
          </a:p>
          <a:p>
            <a:r>
              <a:rPr lang="en-US" b="1" dirty="0">
                <a:solidFill>
                  <a:schemeClr val="accent4"/>
                </a:solidFill>
              </a:rPr>
              <a:t>other-directed-x</a:t>
            </a:r>
            <a:endParaRPr lang="hu-HU" b="1" dirty="0">
              <a:solidFill>
                <a:schemeClr val="accent4"/>
              </a:solidFill>
            </a:endParaRPr>
          </a:p>
        </p:txBody>
      </p:sp>
    </p:spTree>
    <p:extLst>
      <p:ext uri="{BB962C8B-B14F-4D97-AF65-F5344CB8AC3E}">
        <p14:creationId xmlns:p14="http://schemas.microsoft.com/office/powerpoint/2010/main" val="26740868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2B541-694F-1F0F-C6B4-12F78338DB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4D5DD2-33DA-4850-B1B1-A2DC25E4E9A8}"/>
              </a:ext>
            </a:extLst>
          </p:cNvPr>
          <p:cNvSpPr>
            <a:spLocks noGrp="1"/>
          </p:cNvSpPr>
          <p:nvPr>
            <p:ph type="title"/>
          </p:nvPr>
        </p:nvSpPr>
        <p:spPr/>
        <p:txBody>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37CE1976-2287-E37A-F088-2C00EC3E2F3F}"/>
              </a:ext>
            </a:extLst>
          </p:cNvPr>
          <p:cNvSpPr>
            <a:spLocks noGrp="1"/>
          </p:cNvSpPr>
          <p:nvPr>
            <p:ph idx="1"/>
          </p:nvPr>
        </p:nvSpPr>
        <p:spPr>
          <a:xfrm>
            <a:off x="1104293" y="2286000"/>
            <a:ext cx="8946541" cy="4238154"/>
          </a:xfrm>
        </p:spPr>
        <p:txBody>
          <a:bodyPr>
            <a:normAutofit/>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FEC201E8-C1F6-ACD2-8042-FDC8C7E67428}"/>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Tree>
    <p:extLst>
      <p:ext uri="{BB962C8B-B14F-4D97-AF65-F5344CB8AC3E}">
        <p14:creationId xmlns:p14="http://schemas.microsoft.com/office/powerpoint/2010/main" val="2755741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63721-0F0E-C26F-C518-FA38271C98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67B822-64FC-FD7F-7F53-C8CDD5969315}"/>
              </a:ext>
            </a:extLst>
          </p:cNvPr>
          <p:cNvSpPr>
            <a:spLocks noGrp="1"/>
          </p:cNvSpPr>
          <p:nvPr>
            <p:ph type="title"/>
          </p:nvPr>
        </p:nvSpPr>
        <p:spPr/>
        <p:txBody>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D92A3A91-220A-93D3-E15B-2F42EF184E48}"/>
              </a:ext>
            </a:extLst>
          </p:cNvPr>
          <p:cNvSpPr>
            <a:spLocks noGrp="1"/>
          </p:cNvSpPr>
          <p:nvPr>
            <p:ph idx="1"/>
          </p:nvPr>
        </p:nvSpPr>
        <p:spPr>
          <a:xfrm>
            <a:off x="1104293" y="2286000"/>
            <a:ext cx="8946541" cy="4238154"/>
          </a:xfrm>
        </p:spPr>
        <p:txBody>
          <a:bodyPr>
            <a:normAutofit/>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B9658AA8-D26B-922B-1EFB-BD2ECE5C235E}"/>
              </a:ext>
            </a:extLst>
          </p:cNvPr>
          <p:cNvSpPr txBox="1"/>
          <p:nvPr/>
        </p:nvSpPr>
        <p:spPr>
          <a:xfrm>
            <a:off x="1508760" y="1853248"/>
            <a:ext cx="10267220" cy="3416320"/>
          </a:xfrm>
          <a:prstGeom prst="rect">
            <a:avLst/>
          </a:prstGeom>
          <a:noFill/>
        </p:spPr>
        <p:txBody>
          <a:bodyPr wrap="square">
            <a:spAutoFit/>
          </a:bodyPr>
          <a:lstStyle/>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89A4062C-BFC3-65E9-621F-92FD6D93B822}"/>
              </a:ext>
            </a:extLst>
          </p:cNvPr>
          <p:cNvSpPr txBox="1"/>
          <p:nvPr/>
        </p:nvSpPr>
        <p:spPr>
          <a:xfrm>
            <a:off x="1524" y="1853248"/>
            <a:ext cx="6094476"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Tree>
    <p:extLst>
      <p:ext uri="{BB962C8B-B14F-4D97-AF65-F5344CB8AC3E}">
        <p14:creationId xmlns:p14="http://schemas.microsoft.com/office/powerpoint/2010/main" val="17380108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F4FDF-F8A9-F280-6E91-E3C383A0F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766D45-2F57-1FF5-7484-452B4FDC67C0}"/>
              </a:ext>
            </a:extLst>
          </p:cNvPr>
          <p:cNvSpPr>
            <a:spLocks noGrp="1"/>
          </p:cNvSpPr>
          <p:nvPr>
            <p:ph type="title"/>
          </p:nvPr>
        </p:nvSpPr>
        <p:spPr/>
        <p:txBody>
          <a:bodyPr/>
          <a:lstStyle/>
          <a:p>
            <a:r>
              <a:rPr lang="en-US" dirty="0"/>
              <a:t>Two experiments: 2B - gender</a:t>
            </a:r>
            <a:endParaRPr lang="hu-HU" dirty="0"/>
          </a:p>
        </p:txBody>
      </p:sp>
      <p:sp>
        <p:nvSpPr>
          <p:cNvPr id="3" name="Content Placeholder 2">
            <a:extLst>
              <a:ext uri="{FF2B5EF4-FFF2-40B4-BE49-F238E27FC236}">
                <a16:creationId xmlns:a16="http://schemas.microsoft.com/office/drawing/2014/main" id="{630D1BFE-9879-39EE-0427-68242672865F}"/>
              </a:ext>
            </a:extLst>
          </p:cNvPr>
          <p:cNvSpPr>
            <a:spLocks noGrp="1"/>
          </p:cNvSpPr>
          <p:nvPr>
            <p:ph idx="1"/>
          </p:nvPr>
        </p:nvSpPr>
        <p:spPr>
          <a:xfrm>
            <a:off x="1104293" y="2286000"/>
            <a:ext cx="8946541" cy="4238154"/>
          </a:xfrm>
        </p:spPr>
        <p:txBody>
          <a:bodyPr>
            <a:normAutofit/>
          </a:bodyPr>
          <a:lstStyle/>
          <a:p>
            <a:pPr marL="457200" indent="-457200"/>
            <a:endParaRPr lang="en-US" dirty="0"/>
          </a:p>
          <a:p>
            <a:pPr marL="457200" indent="-457200"/>
            <a:endParaRPr lang="en-US" dirty="0"/>
          </a:p>
          <a:p>
            <a:pPr marL="457200" indent="-457200"/>
            <a:endParaRPr lang="en-US" dirty="0"/>
          </a:p>
          <a:p>
            <a:pPr marL="857250" lvl="1" indent="-457200"/>
            <a:endParaRPr lang="en-US" dirty="0"/>
          </a:p>
          <a:p>
            <a:pPr marL="857250" lvl="1" indent="-457200"/>
            <a:endParaRPr lang="en-US" dirty="0"/>
          </a:p>
          <a:p>
            <a:pPr marL="857250" lvl="1" indent="-457200"/>
            <a:endParaRPr lang="en-US" dirty="0"/>
          </a:p>
          <a:p>
            <a:pPr marL="857250" lvl="1" indent="-457200"/>
            <a:endParaRPr lang="en-US" dirty="0"/>
          </a:p>
          <a:p>
            <a:pPr marL="457200" indent="-457200">
              <a:buFont typeface="+mj-lt"/>
              <a:buAutoNum type="arabicPeriod" startAt="2"/>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a:p>
            <a:pPr marL="400050" lvl="1" indent="0">
              <a:buNone/>
            </a:pPr>
            <a:endParaRPr lang="en-US" dirty="0"/>
          </a:p>
          <a:p>
            <a:pPr marL="400050" lvl="1" indent="0">
              <a:buNone/>
            </a:pPr>
            <a:endParaRPr lang="en-US" dirty="0"/>
          </a:p>
        </p:txBody>
      </p:sp>
      <p:sp>
        <p:nvSpPr>
          <p:cNvPr id="10" name="TextBox 9">
            <a:extLst>
              <a:ext uri="{FF2B5EF4-FFF2-40B4-BE49-F238E27FC236}">
                <a16:creationId xmlns:a16="http://schemas.microsoft.com/office/drawing/2014/main" id="{564253DA-AB1A-2874-244E-22FB07B6B2EB}"/>
              </a:ext>
            </a:extLst>
          </p:cNvPr>
          <p:cNvSpPr txBox="1"/>
          <p:nvPr/>
        </p:nvSpPr>
        <p:spPr>
          <a:xfrm>
            <a:off x="1508760" y="1853248"/>
            <a:ext cx="10267220" cy="2585323"/>
          </a:xfrm>
          <a:prstGeom prst="rect">
            <a:avLst/>
          </a:prstGeom>
          <a:noFill/>
        </p:spPr>
        <p:txBody>
          <a:bodyPr wrap="square">
            <a:spAutoFit/>
          </a:bodyPr>
          <a:lstStyle/>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professor	boasted		the connections-3SG-INS</a:t>
            </a:r>
          </a:p>
          <a:p>
            <a:r>
              <a:rPr lang="en-US" i="1" dirty="0"/>
              <a:t>The pilot believed that the professor had boasted about his/her connections.	</a:t>
            </a:r>
            <a:r>
              <a:rPr lang="en-US" dirty="0"/>
              <a:t>					</a:t>
            </a:r>
          </a:p>
          <a:p>
            <a:r>
              <a:rPr lang="en-US" b="1" dirty="0"/>
              <a:t>A </a:t>
            </a:r>
            <a:r>
              <a:rPr lang="en-US" b="1" dirty="0" err="1">
                <a:solidFill>
                  <a:schemeClr val="accent3"/>
                </a:solidFill>
              </a:rPr>
              <a:t>modell</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2"/>
                </a:solidFill>
              </a:rPr>
              <a:t>professzor</a:t>
            </a:r>
            <a:r>
              <a:rPr lang="en-US" b="1" dirty="0"/>
              <a:t>		</a:t>
            </a:r>
            <a:r>
              <a:rPr lang="en-US" b="1" dirty="0" err="1"/>
              <a:t>dicsekedett</a:t>
            </a:r>
            <a:r>
              <a:rPr lang="en-US" b="1" dirty="0"/>
              <a:t>		a </a:t>
            </a:r>
            <a:r>
              <a:rPr lang="en-US" b="1" dirty="0" err="1"/>
              <a:t>kapcsolataival</a:t>
            </a:r>
            <a:r>
              <a:rPr lang="en-US" b="1" dirty="0"/>
              <a:t>.</a:t>
            </a:r>
          </a:p>
          <a:p>
            <a:r>
              <a:rPr lang="en-US" dirty="0"/>
              <a:t>the model	</a:t>
            </a:r>
            <a:r>
              <a:rPr lang="en-US" dirty="0" err="1"/>
              <a:t>beleived</a:t>
            </a:r>
            <a:r>
              <a:rPr lang="en-US" dirty="0"/>
              <a:t>	that		the professor	boasted		the connections-3SG-INS</a:t>
            </a:r>
          </a:p>
          <a:p>
            <a:r>
              <a:rPr lang="en-US" i="1" dirty="0"/>
              <a:t>The model believed that the professor had boasted about his/her connections.</a:t>
            </a:r>
            <a:r>
              <a:rPr lang="en-US" dirty="0"/>
              <a:t>						</a:t>
            </a:r>
          </a:p>
          <a:p>
            <a:r>
              <a:rPr lang="en-US" b="1" dirty="0"/>
              <a:t>A </a:t>
            </a:r>
            <a:r>
              <a:rPr lang="en-US" b="1" dirty="0" err="1">
                <a:solidFill>
                  <a:schemeClr val="accent2"/>
                </a:solidFill>
              </a:rPr>
              <a:t>pilóta</a:t>
            </a:r>
            <a:r>
              <a:rPr lang="en-US" b="1" dirty="0"/>
              <a:t>		</a:t>
            </a:r>
            <a:r>
              <a:rPr lang="en-US" b="1" dirty="0" err="1"/>
              <a:t>úgy</a:t>
            </a:r>
            <a:r>
              <a:rPr lang="en-US" b="1" dirty="0"/>
              <a:t> </a:t>
            </a:r>
            <a:r>
              <a:rPr lang="en-US" b="1" dirty="0" err="1"/>
              <a:t>vélte</a:t>
            </a:r>
            <a:r>
              <a:rPr lang="en-US" b="1" dirty="0"/>
              <a:t>	</a:t>
            </a:r>
            <a:r>
              <a:rPr lang="en-US" b="1" dirty="0" err="1"/>
              <a:t>hogy</a:t>
            </a:r>
            <a:r>
              <a:rPr lang="en-US" b="1" dirty="0"/>
              <a:t>	a </a:t>
            </a:r>
            <a:r>
              <a:rPr lang="en-US" b="1" dirty="0" err="1">
                <a:solidFill>
                  <a:schemeClr val="accent3"/>
                </a:solidFill>
              </a:rPr>
              <a:t>modell</a:t>
            </a:r>
            <a:r>
              <a:rPr lang="en-US" b="1" dirty="0"/>
              <a:t>	</a:t>
            </a:r>
            <a:r>
              <a:rPr lang="en-US" b="1" dirty="0" err="1"/>
              <a:t>dicsekedett</a:t>
            </a:r>
            <a:r>
              <a:rPr lang="en-US" b="1" dirty="0"/>
              <a:t>		a </a:t>
            </a:r>
            <a:r>
              <a:rPr lang="en-US" b="1" dirty="0" err="1"/>
              <a:t>kapcsolataival</a:t>
            </a:r>
            <a:r>
              <a:rPr lang="en-US" b="1" dirty="0"/>
              <a:t>.</a:t>
            </a:r>
          </a:p>
          <a:p>
            <a:r>
              <a:rPr lang="en-US" dirty="0"/>
              <a:t>the pilot		</a:t>
            </a:r>
            <a:r>
              <a:rPr lang="en-US" dirty="0" err="1"/>
              <a:t>beleived</a:t>
            </a:r>
            <a:r>
              <a:rPr lang="en-US" dirty="0"/>
              <a:t>	that		the model	boasted		the connections-3SG-INS</a:t>
            </a:r>
          </a:p>
          <a:p>
            <a:r>
              <a:rPr lang="en-US" i="1" dirty="0"/>
              <a:t>The pilot believed that the model had boasted about his/her connections.	</a:t>
            </a:r>
            <a:r>
              <a:rPr lang="en-US" dirty="0"/>
              <a:t>					</a:t>
            </a:r>
          </a:p>
        </p:txBody>
      </p:sp>
      <p:sp>
        <p:nvSpPr>
          <p:cNvPr id="6" name="TextBox 5">
            <a:extLst>
              <a:ext uri="{FF2B5EF4-FFF2-40B4-BE49-F238E27FC236}">
                <a16:creationId xmlns:a16="http://schemas.microsoft.com/office/drawing/2014/main" id="{18777000-E4B1-C9BD-6301-F30EEFB2D265}"/>
              </a:ext>
            </a:extLst>
          </p:cNvPr>
          <p:cNvSpPr txBox="1"/>
          <p:nvPr/>
        </p:nvSpPr>
        <p:spPr>
          <a:xfrm>
            <a:off x="1524" y="1853248"/>
            <a:ext cx="1662684" cy="2585323"/>
          </a:xfrm>
          <a:prstGeom prst="rect">
            <a:avLst/>
          </a:prstGeom>
          <a:noFill/>
        </p:spPr>
        <p:txBody>
          <a:bodyPr wrap="square">
            <a:spAutoFit/>
          </a:bodyPr>
          <a:lstStyle/>
          <a:p>
            <a:r>
              <a:rPr lang="hu-HU" b="1" dirty="0" err="1">
                <a:solidFill>
                  <a:schemeClr val="accent4"/>
                </a:solidFill>
              </a:rPr>
              <a:t>male-male</a:t>
            </a:r>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endParaRPr lang="hu-HU" b="1" dirty="0">
              <a:solidFill>
                <a:schemeClr val="accent4"/>
              </a:solidFill>
            </a:endParaRPr>
          </a:p>
          <a:p>
            <a:r>
              <a:rPr lang="hu-HU" b="1" dirty="0" err="1">
                <a:solidFill>
                  <a:schemeClr val="accent4"/>
                </a:solidFill>
              </a:rPr>
              <a:t>female-male</a:t>
            </a:r>
            <a:endParaRPr lang="hu-HU" b="1" dirty="0">
              <a:solidFill>
                <a:schemeClr val="accent4"/>
              </a:solidFill>
            </a:endParaRPr>
          </a:p>
          <a:p>
            <a:endParaRPr lang="hu-HU" b="1" dirty="0">
              <a:solidFill>
                <a:schemeClr val="accent4"/>
              </a:solidFill>
            </a:endParaRPr>
          </a:p>
          <a:p>
            <a:endParaRPr lang="en-US" b="1" dirty="0">
              <a:solidFill>
                <a:schemeClr val="accent4"/>
              </a:solidFill>
            </a:endParaRPr>
          </a:p>
          <a:p>
            <a:endParaRPr lang="hu-HU" b="1" dirty="0">
              <a:solidFill>
                <a:schemeClr val="accent4"/>
              </a:solidFill>
            </a:endParaRPr>
          </a:p>
          <a:p>
            <a:r>
              <a:rPr lang="hu-HU" b="1" dirty="0" err="1">
                <a:solidFill>
                  <a:schemeClr val="accent4"/>
                </a:solidFill>
              </a:rPr>
              <a:t>male-female</a:t>
            </a:r>
            <a:endParaRPr lang="hu-HU" b="1" dirty="0">
              <a:solidFill>
                <a:schemeClr val="accent4"/>
              </a:solidFill>
            </a:endParaRPr>
          </a:p>
        </p:txBody>
      </p:sp>
    </p:spTree>
    <p:extLst>
      <p:ext uri="{BB962C8B-B14F-4D97-AF65-F5344CB8AC3E}">
        <p14:creationId xmlns:p14="http://schemas.microsoft.com/office/powerpoint/2010/main" val="27548639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C5AD13-20C4-49BA-B6F2-1F1D29948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E5384-7F2F-1802-F140-ED2F1AF64F85}"/>
              </a:ext>
            </a:extLst>
          </p:cNvPr>
          <p:cNvSpPr>
            <a:spLocks noGrp="1"/>
          </p:cNvSpPr>
          <p:nvPr>
            <p:ph type="title"/>
          </p:nvPr>
        </p:nvSpPr>
        <p:spPr/>
        <p:txBody>
          <a:bodyPr/>
          <a:lstStyle/>
          <a:p>
            <a:r>
              <a:rPr lang="en-US" dirty="0"/>
              <a:t>Two experiments: 2</a:t>
            </a:r>
            <a:endParaRPr lang="hu-HU" dirty="0"/>
          </a:p>
        </p:txBody>
      </p:sp>
      <p:sp>
        <p:nvSpPr>
          <p:cNvPr id="3" name="Content Placeholder 2">
            <a:extLst>
              <a:ext uri="{FF2B5EF4-FFF2-40B4-BE49-F238E27FC236}">
                <a16:creationId xmlns:a16="http://schemas.microsoft.com/office/drawing/2014/main" id="{3D921E8D-55E4-EE48-FD30-F01B4EA07AA4}"/>
              </a:ext>
            </a:extLst>
          </p:cNvPr>
          <p:cNvSpPr>
            <a:spLocks noGrp="1"/>
          </p:cNvSpPr>
          <p:nvPr>
            <p:ph idx="1"/>
          </p:nvPr>
        </p:nvSpPr>
        <p:spPr>
          <a:xfrm>
            <a:off x="1103312" y="2052918"/>
            <a:ext cx="8946541" cy="4677066"/>
          </a:xfrm>
        </p:spPr>
        <p:txBody>
          <a:bodyPr>
            <a:normAutofit/>
          </a:bodyPr>
          <a:lstStyle/>
          <a:p>
            <a:pPr marL="457200" indent="-457200">
              <a:buFont typeface="+mj-lt"/>
              <a:buAutoNum type="arabicPeriod"/>
            </a:pPr>
            <a:r>
              <a:rPr lang="en-US" dirty="0">
                <a:solidFill>
                  <a:schemeClr val="tx1">
                    <a:lumMod val="75000"/>
                  </a:schemeClr>
                </a:solidFill>
              </a:rPr>
              <a:t>Hungarian focus constructions – exclusivity vs. </a:t>
            </a:r>
            <a:r>
              <a:rPr lang="en-US" dirty="0" err="1">
                <a:solidFill>
                  <a:schemeClr val="tx1">
                    <a:lumMod val="75000"/>
                  </a:schemeClr>
                </a:solidFill>
              </a:rPr>
              <a:t>contrastivity</a:t>
            </a:r>
            <a:endParaRPr lang="en-US" dirty="0">
              <a:solidFill>
                <a:schemeClr val="tx1">
                  <a:lumMod val="75000"/>
                </a:schemeClr>
              </a:solidFill>
            </a:endParaRPr>
          </a:p>
          <a:p>
            <a:pPr marL="857250" lvl="1" indent="-457200"/>
            <a:r>
              <a:rPr lang="en-US" dirty="0">
                <a:solidFill>
                  <a:schemeClr val="tx1">
                    <a:lumMod val="75000"/>
                  </a:schemeClr>
                </a:solidFill>
              </a:rPr>
              <a:t>Testing if Hungarian focus is exhaustive by default, or if it can be contrastive.</a:t>
            </a: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857250" lvl="1" indent="-457200"/>
            <a:endParaRPr lang="en-US" dirty="0">
              <a:solidFill>
                <a:schemeClr val="tx1">
                  <a:lumMod val="75000"/>
                </a:schemeClr>
              </a:solidFill>
            </a:endParaRPr>
          </a:p>
          <a:p>
            <a:pPr marL="457200" indent="-457200">
              <a:buFont typeface="+mj-lt"/>
              <a:buAutoNum type="arabicPeriod"/>
            </a:pPr>
            <a:r>
              <a:rPr lang="en-US" dirty="0">
                <a:solidFill>
                  <a:schemeClr val="tx1">
                    <a:lumMod val="75000"/>
                  </a:schemeClr>
                </a:solidFill>
              </a:rPr>
              <a:t>Verbal directionality and social bias</a:t>
            </a:r>
          </a:p>
          <a:p>
            <a:pPr marL="685800" lvl="1"/>
            <a:r>
              <a:rPr lang="en-US" dirty="0">
                <a:solidFill>
                  <a:schemeClr val="tx1">
                    <a:lumMod val="75000"/>
                  </a:schemeClr>
                </a:solidFill>
              </a:rPr>
              <a:t>Testing if gender/status/societal bias can change verb directionality </a:t>
            </a:r>
          </a:p>
          <a:p>
            <a:pPr marL="685800" lvl="1"/>
            <a:r>
              <a:rPr lang="en-US" dirty="0">
                <a:solidFill>
                  <a:schemeClr val="tx1">
                    <a:lumMod val="75000"/>
                  </a:schemeClr>
                </a:solidFill>
              </a:rPr>
              <a:t>2 halves, 3 conditions, 18 items</a:t>
            </a:r>
          </a:p>
        </p:txBody>
      </p:sp>
      <p:sp>
        <p:nvSpPr>
          <p:cNvPr id="4" name="TextBox 3">
            <a:extLst>
              <a:ext uri="{FF2B5EF4-FFF2-40B4-BE49-F238E27FC236}">
                <a16:creationId xmlns:a16="http://schemas.microsoft.com/office/drawing/2014/main" id="{F4A02650-B80E-3B90-8E70-7742D298E8AA}"/>
              </a:ext>
            </a:extLst>
          </p:cNvPr>
          <p:cNvSpPr txBox="1"/>
          <p:nvPr/>
        </p:nvSpPr>
        <p:spPr>
          <a:xfrm>
            <a:off x="2670047" y="3429000"/>
            <a:ext cx="7379805" cy="1384995"/>
          </a:xfrm>
          <a:prstGeom prst="rect">
            <a:avLst/>
          </a:prstGeom>
          <a:noFill/>
        </p:spPr>
        <p:txBody>
          <a:bodyPr wrap="square">
            <a:spAutoFit/>
          </a:bodyPr>
          <a:lstStyle/>
          <a:p>
            <a:r>
              <a:rPr lang="en-US" sz="2800" dirty="0"/>
              <a:t>The two will serve as each other’s fillers.</a:t>
            </a:r>
          </a:p>
          <a:p>
            <a:endParaRPr lang="en-US" sz="2800" dirty="0"/>
          </a:p>
          <a:p>
            <a:r>
              <a:rPr lang="en-US" sz="2800" dirty="0"/>
              <a:t>Stimuli is ready but needs checking.</a:t>
            </a:r>
          </a:p>
        </p:txBody>
      </p:sp>
    </p:spTree>
    <p:extLst>
      <p:ext uri="{BB962C8B-B14F-4D97-AF65-F5344CB8AC3E}">
        <p14:creationId xmlns:p14="http://schemas.microsoft.com/office/powerpoint/2010/main" val="8929445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F9AA-6F57-1254-0EF0-7DC6B201CF5B}"/>
              </a:ext>
            </a:extLst>
          </p:cNvPr>
          <p:cNvSpPr>
            <a:spLocks noGrp="1"/>
          </p:cNvSpPr>
          <p:nvPr>
            <p:ph type="title"/>
          </p:nvPr>
        </p:nvSpPr>
        <p:spPr/>
        <p:txBody>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2868C5BE-4602-155B-77CD-F051F5464F10}"/>
              </a:ext>
            </a:extLst>
          </p:cNvPr>
          <p:cNvSpPr>
            <a:spLocks noGrp="1"/>
          </p:cNvSpPr>
          <p:nvPr>
            <p:ph idx="1"/>
          </p:nvPr>
        </p:nvSpPr>
        <p:spPr>
          <a:xfrm>
            <a:off x="1103313" y="2052918"/>
            <a:ext cx="4209352" cy="4195481"/>
          </a:xfrm>
        </p:spPr>
        <p:txBody>
          <a:bodyPr/>
          <a:lstStyle/>
          <a:p>
            <a:pPr marL="0" indent="0">
              <a:buNone/>
            </a:pPr>
            <a:r>
              <a:rPr lang="en-US" sz="3600" dirty="0"/>
              <a:t>1</a:t>
            </a:r>
            <a:endParaRPr lang="en-US" sz="3200" dirty="0"/>
          </a:p>
          <a:p>
            <a:r>
              <a:rPr lang="en-US" dirty="0"/>
              <a:t>Preview of image pair</a:t>
            </a:r>
          </a:p>
          <a:p>
            <a:r>
              <a:rPr lang="en-US" dirty="0"/>
              <a:t>+</a:t>
            </a:r>
          </a:p>
          <a:p>
            <a:r>
              <a:rPr lang="en-US" dirty="0"/>
              <a:t>Self-paced reading of sentence in fixed window</a:t>
            </a:r>
          </a:p>
          <a:p>
            <a:r>
              <a:rPr lang="en-US" dirty="0"/>
              <a:t>+</a:t>
            </a:r>
          </a:p>
          <a:p>
            <a:r>
              <a:rPr lang="en-US" dirty="0"/>
              <a:t>Choice from image pair</a:t>
            </a:r>
          </a:p>
          <a:p>
            <a:endParaRPr lang="hu-HU" dirty="0"/>
          </a:p>
        </p:txBody>
      </p:sp>
      <p:sp>
        <p:nvSpPr>
          <p:cNvPr id="4" name="Right Brace 3">
            <a:extLst>
              <a:ext uri="{FF2B5EF4-FFF2-40B4-BE49-F238E27FC236}">
                <a16:creationId xmlns:a16="http://schemas.microsoft.com/office/drawing/2014/main" id="{6389A1B4-87D2-0B9D-9E18-FEED5246742F}"/>
              </a:ext>
            </a:extLst>
          </p:cNvPr>
          <p:cNvSpPr/>
          <p:nvPr/>
        </p:nvSpPr>
        <p:spPr>
          <a:xfrm>
            <a:off x="4854593" y="4694355"/>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5" name="Rectangle: Rounded Corners 4">
            <a:extLst>
              <a:ext uri="{FF2B5EF4-FFF2-40B4-BE49-F238E27FC236}">
                <a16:creationId xmlns:a16="http://schemas.microsoft.com/office/drawing/2014/main" id="{E6668652-35AF-EA75-B2A3-1F9387A998C7}"/>
              </a:ext>
            </a:extLst>
          </p:cNvPr>
          <p:cNvSpPr/>
          <p:nvPr/>
        </p:nvSpPr>
        <p:spPr>
          <a:xfrm>
            <a:off x="5312665" y="4636008"/>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
        <p:nvSpPr>
          <p:cNvPr id="6" name="Content Placeholder 2">
            <a:extLst>
              <a:ext uri="{FF2B5EF4-FFF2-40B4-BE49-F238E27FC236}">
                <a16:creationId xmlns:a16="http://schemas.microsoft.com/office/drawing/2014/main" id="{DAA79554-0DF1-3A99-66C4-CD47F3F677AC}"/>
              </a:ext>
            </a:extLst>
          </p:cNvPr>
          <p:cNvSpPr txBox="1">
            <a:spLocks/>
          </p:cNvSpPr>
          <p:nvPr/>
        </p:nvSpPr>
        <p:spPr>
          <a:xfrm>
            <a:off x="6586665" y="2052918"/>
            <a:ext cx="4209352" cy="419548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buFont typeface="Wingdings 3" charset="2"/>
              <a:buNone/>
            </a:pPr>
            <a:r>
              <a:rPr lang="en-US" sz="3600" dirty="0"/>
              <a:t>2</a:t>
            </a:r>
          </a:p>
          <a:p>
            <a:r>
              <a:rPr lang="en-US" dirty="0"/>
              <a:t>Preview of word pair</a:t>
            </a:r>
          </a:p>
          <a:p>
            <a:r>
              <a:rPr lang="en-US" dirty="0"/>
              <a:t>+</a:t>
            </a:r>
          </a:p>
          <a:p>
            <a:r>
              <a:rPr lang="en-US" dirty="0"/>
              <a:t>Self-paced reading of sentence in fixed window</a:t>
            </a:r>
          </a:p>
          <a:p>
            <a:r>
              <a:rPr lang="en-US" b="1" dirty="0"/>
              <a:t>Question</a:t>
            </a:r>
          </a:p>
          <a:p>
            <a:r>
              <a:rPr lang="en-US" dirty="0"/>
              <a:t>+</a:t>
            </a:r>
          </a:p>
          <a:p>
            <a:r>
              <a:rPr lang="en-US" dirty="0"/>
              <a:t>Choice from word pair</a:t>
            </a:r>
          </a:p>
          <a:p>
            <a:endParaRPr lang="hu-HU" dirty="0"/>
          </a:p>
        </p:txBody>
      </p:sp>
      <p:sp>
        <p:nvSpPr>
          <p:cNvPr id="7" name="Right Brace 6">
            <a:extLst>
              <a:ext uri="{FF2B5EF4-FFF2-40B4-BE49-F238E27FC236}">
                <a16:creationId xmlns:a16="http://schemas.microsoft.com/office/drawing/2014/main" id="{4B4D6ADF-472D-D6B2-755B-CE7B46030945}"/>
              </a:ext>
            </a:extLst>
          </p:cNvPr>
          <p:cNvSpPr/>
          <p:nvPr/>
        </p:nvSpPr>
        <p:spPr>
          <a:xfrm>
            <a:off x="10310513" y="5114979"/>
            <a:ext cx="229036" cy="435429"/>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hu-HU"/>
          </a:p>
        </p:txBody>
      </p:sp>
      <p:sp>
        <p:nvSpPr>
          <p:cNvPr id="8" name="Rectangle: Rounded Corners 7">
            <a:extLst>
              <a:ext uri="{FF2B5EF4-FFF2-40B4-BE49-F238E27FC236}">
                <a16:creationId xmlns:a16="http://schemas.microsoft.com/office/drawing/2014/main" id="{14DAE624-173C-D3E4-BF6F-AC6CD5478F5C}"/>
              </a:ext>
            </a:extLst>
          </p:cNvPr>
          <p:cNvSpPr/>
          <p:nvPr/>
        </p:nvSpPr>
        <p:spPr>
          <a:xfrm>
            <a:off x="10768585" y="5056632"/>
            <a:ext cx="604272" cy="5120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ET</a:t>
            </a:r>
            <a:endParaRPr lang="hu-HU" dirty="0"/>
          </a:p>
        </p:txBody>
      </p:sp>
    </p:spTree>
    <p:extLst>
      <p:ext uri="{BB962C8B-B14F-4D97-AF65-F5344CB8AC3E}">
        <p14:creationId xmlns:p14="http://schemas.microsoft.com/office/powerpoint/2010/main" val="41339742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F1D35E-F906-4B31-4C4C-FDC5F9A567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435BFF-A762-E712-5411-5A3F6FA0514A}"/>
              </a:ext>
            </a:extLst>
          </p:cNvPr>
          <p:cNvSpPr>
            <a:spLocks noGrp="1"/>
          </p:cNvSpPr>
          <p:nvPr>
            <p:ph type="title"/>
          </p:nvPr>
        </p:nvSpPr>
        <p:spPr/>
        <p:txBody>
          <a:bodyPr/>
          <a:lstStyle/>
          <a:p>
            <a:r>
              <a:rPr lang="en-US" dirty="0"/>
              <a:t>Experiment design</a:t>
            </a:r>
            <a:endParaRPr lang="hu-HU" dirty="0"/>
          </a:p>
        </p:txBody>
      </p:sp>
      <p:sp>
        <p:nvSpPr>
          <p:cNvPr id="3" name="Content Placeholder 2">
            <a:extLst>
              <a:ext uri="{FF2B5EF4-FFF2-40B4-BE49-F238E27FC236}">
                <a16:creationId xmlns:a16="http://schemas.microsoft.com/office/drawing/2014/main" id="{E7DFFF39-00DB-CF93-4EC4-834FB06A2257}"/>
              </a:ext>
            </a:extLst>
          </p:cNvPr>
          <p:cNvSpPr>
            <a:spLocks noGrp="1"/>
          </p:cNvSpPr>
          <p:nvPr>
            <p:ph idx="1"/>
          </p:nvPr>
        </p:nvSpPr>
        <p:spPr>
          <a:xfrm>
            <a:off x="1103313" y="2052919"/>
            <a:ext cx="10269544" cy="2436786"/>
          </a:xfrm>
        </p:spPr>
        <p:txBody>
          <a:bodyPr/>
          <a:lstStyle/>
          <a:p>
            <a:pPr marL="0" indent="0">
              <a:buNone/>
            </a:pPr>
            <a:r>
              <a:rPr lang="en-US" sz="3600" dirty="0"/>
              <a:t>36 items x 3 conditions =108</a:t>
            </a:r>
          </a:p>
          <a:p>
            <a:pPr marL="0" indent="0">
              <a:buNone/>
            </a:pPr>
            <a:r>
              <a:rPr lang="en-US" sz="3600" dirty="0"/>
              <a:t>108/3 groups = 36 items per pax</a:t>
            </a:r>
          </a:p>
          <a:p>
            <a:pPr marL="0" indent="0">
              <a:buNone/>
            </a:pPr>
            <a:r>
              <a:rPr lang="en-US" sz="3600" dirty="0"/>
              <a:t>+ attention checks? Maybe 4?</a:t>
            </a:r>
            <a:endParaRPr lang="hu-HU" dirty="0"/>
          </a:p>
        </p:txBody>
      </p:sp>
    </p:spTree>
    <p:extLst>
      <p:ext uri="{BB962C8B-B14F-4D97-AF65-F5344CB8AC3E}">
        <p14:creationId xmlns:p14="http://schemas.microsoft.com/office/powerpoint/2010/main" val="41097957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0727-3DA5-0AA9-FB61-340E126F2C7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F06EFF-E630-EE9A-71BF-1E3785A1FD0E}"/>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666151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BCB83-4076-CDB6-8446-CBE2597AD4D2}"/>
              </a:ext>
            </a:extLst>
          </p:cNvPr>
          <p:cNvSpPr>
            <a:spLocks noGrp="1"/>
          </p:cNvSpPr>
          <p:nvPr>
            <p:ph type="title"/>
          </p:nvPr>
        </p:nvSpPr>
        <p:spPr/>
        <p:txBody>
          <a:bodyPr/>
          <a:lstStyle/>
          <a:p>
            <a:r>
              <a:rPr lang="en-US" b="1" dirty="0"/>
              <a:t>I-DT (Identification by Dispersion Threshold)</a:t>
            </a:r>
            <a:endParaRPr lang="en-US" dirty="0"/>
          </a:p>
        </p:txBody>
      </p:sp>
      <p:sp>
        <p:nvSpPr>
          <p:cNvPr id="3" name="Text Placeholder 2">
            <a:extLst>
              <a:ext uri="{FF2B5EF4-FFF2-40B4-BE49-F238E27FC236}">
                <a16:creationId xmlns:a16="http://schemas.microsoft.com/office/drawing/2014/main" id="{6F30539E-05D6-F336-B407-C68B190EA0F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1406756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CD16A-0C78-C41D-28BF-C7196830A885}"/>
              </a:ext>
            </a:extLst>
          </p:cNvPr>
          <p:cNvSpPr>
            <a:spLocks noGrp="1"/>
          </p:cNvSpPr>
          <p:nvPr>
            <p:ph type="title"/>
          </p:nvPr>
        </p:nvSpPr>
        <p:spPr/>
        <p:txBody>
          <a:bodyPr/>
          <a:lstStyle/>
          <a:p>
            <a:r>
              <a:rPr lang="hu-HU" dirty="0" err="1"/>
              <a:t>Problems</a:t>
            </a:r>
            <a:endParaRPr lang="hu-HU" dirty="0"/>
          </a:p>
        </p:txBody>
      </p:sp>
      <p:sp>
        <p:nvSpPr>
          <p:cNvPr id="3" name="Content Placeholder 2">
            <a:extLst>
              <a:ext uri="{FF2B5EF4-FFF2-40B4-BE49-F238E27FC236}">
                <a16:creationId xmlns:a16="http://schemas.microsoft.com/office/drawing/2014/main" id="{78464E3D-8563-8598-B1F9-F67BF77FE33B}"/>
              </a:ext>
            </a:extLst>
          </p:cNvPr>
          <p:cNvSpPr>
            <a:spLocks noGrp="1"/>
          </p:cNvSpPr>
          <p:nvPr>
            <p:ph idx="1"/>
          </p:nvPr>
        </p:nvSpPr>
        <p:spPr>
          <a:xfrm>
            <a:off x="1103312" y="1262744"/>
            <a:ext cx="10527856" cy="4985656"/>
          </a:xfrm>
        </p:spPr>
        <p:txBody>
          <a:bodyPr>
            <a:normAutofit/>
          </a:bodyPr>
          <a:lstStyle/>
          <a:p>
            <a:r>
              <a:rPr lang="en-US" dirty="0"/>
              <a:t>After around 60-80 hours of PCIbex and 200-300 test runs, I can say that</a:t>
            </a:r>
          </a:p>
          <a:p>
            <a:r>
              <a:rPr lang="hu-HU" dirty="0" err="1"/>
              <a:t>PCIBex</a:t>
            </a:r>
            <a:r>
              <a:rPr lang="hu-HU" dirty="0"/>
              <a:t> is a </a:t>
            </a:r>
            <a:r>
              <a:rPr lang="hu-HU" dirty="0" err="1"/>
              <a:t>broken</a:t>
            </a:r>
            <a:r>
              <a:rPr lang="hu-HU" dirty="0"/>
              <a:t>, </a:t>
            </a:r>
            <a:r>
              <a:rPr lang="hu-HU" dirty="0" err="1"/>
              <a:t>unfinished</a:t>
            </a:r>
            <a:r>
              <a:rPr lang="hu-HU" dirty="0"/>
              <a:t>, and </a:t>
            </a:r>
            <a:r>
              <a:rPr lang="hu-HU" dirty="0" err="1"/>
              <a:t>unstable</a:t>
            </a:r>
            <a:r>
              <a:rPr lang="hu-HU" dirty="0"/>
              <a:t> software.</a:t>
            </a:r>
            <a:endParaRPr lang="en-US" dirty="0"/>
          </a:p>
          <a:p>
            <a:r>
              <a:rPr lang="en-US" dirty="0"/>
              <a:t>Support is minimal, error messages are non-existent, documentation is porous.</a:t>
            </a:r>
          </a:p>
          <a:p>
            <a:r>
              <a:rPr lang="en-US" dirty="0"/>
              <a:t>Besides this, eye-tracking results have 0s, in every browser, every lighting, with or without glasses. Will try to dig in code more, but the tracker works and records time but not fixations. The problem is somewhere in my setup.</a:t>
            </a:r>
          </a:p>
          <a:p>
            <a:r>
              <a:rPr lang="en-US" dirty="0"/>
              <a:t>Eye-tracking testing is miserable. (You must calibrate every time to even try), but you cannot see what is going on, there are no logs or explanations, it’s in the background running on their servers.</a:t>
            </a:r>
          </a:p>
          <a:p>
            <a:endParaRPr lang="en-US" dirty="0"/>
          </a:p>
          <a:p>
            <a:endParaRPr lang="hu-HU" dirty="0"/>
          </a:p>
          <a:p>
            <a:endParaRPr lang="hu-HU" dirty="0"/>
          </a:p>
        </p:txBody>
      </p:sp>
    </p:spTree>
    <p:extLst>
      <p:ext uri="{BB962C8B-B14F-4D97-AF65-F5344CB8AC3E}">
        <p14:creationId xmlns:p14="http://schemas.microsoft.com/office/powerpoint/2010/main" val="1803289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63319-B987-40B0-3DBF-D520397AAAA1}"/>
              </a:ext>
            </a:extLst>
          </p:cNvPr>
          <p:cNvSpPr>
            <a:spLocks noGrp="1"/>
          </p:cNvSpPr>
          <p:nvPr>
            <p:ph type="title"/>
          </p:nvPr>
        </p:nvSpPr>
        <p:spPr>
          <a:xfrm>
            <a:off x="636916" y="4854346"/>
            <a:ext cx="10407602" cy="868026"/>
          </a:xfrm>
        </p:spPr>
        <p:txBody>
          <a:bodyPr vert="horz" lIns="91440" tIns="45720" rIns="91440" bIns="45720" rtlCol="0" anchor="b">
            <a:normAutofit/>
          </a:bodyPr>
          <a:lstStyle/>
          <a:p>
            <a:r>
              <a:rPr lang="en-US" sz="4800" dirty="0">
                <a:solidFill>
                  <a:srgbClr val="EBEBEB"/>
                </a:solidFill>
              </a:rPr>
              <a:t>Thank you!</a:t>
            </a:r>
          </a:p>
        </p:txBody>
      </p:sp>
      <p:pic>
        <p:nvPicPr>
          <p:cNvPr id="5" name="Content Placeholder 4" descr="A banana on a white surface&#10;&#10;AI-generated content may be incorrect.">
            <a:extLst>
              <a:ext uri="{FF2B5EF4-FFF2-40B4-BE49-F238E27FC236}">
                <a16:creationId xmlns:a16="http://schemas.microsoft.com/office/drawing/2014/main" id="{28E9F65D-3A41-5AF7-7B29-5162D40B46CD}"/>
              </a:ext>
            </a:extLst>
          </p:cNvPr>
          <p:cNvPicPr>
            <a:picLocks noGrp="1" noChangeAspect="1"/>
          </p:cNvPicPr>
          <p:nvPr>
            <p:ph idx="1"/>
          </p:nvPr>
        </p:nvPicPr>
        <p:blipFill>
          <a:blip r:embed="rId2"/>
          <a:srcRect t="4291" b="13356"/>
          <a:stretch>
            <a:fillRect/>
          </a:stretch>
        </p:blipFill>
        <p:spPr>
          <a:xfrm>
            <a:off x="-262" y="-5"/>
            <a:ext cx="5675638" cy="4956053"/>
          </a:xfrm>
          <a:custGeom>
            <a:avLst/>
            <a:gdLst/>
            <a:ahLst/>
            <a:cxnLst/>
            <a:rect l="l" t="t" r="r" b="b"/>
            <a:pathLst>
              <a:path w="6095999" h="5020241">
                <a:moveTo>
                  <a:pt x="0" y="0"/>
                </a:moveTo>
                <a:lnTo>
                  <a:pt x="6095999" y="0"/>
                </a:lnTo>
                <a:lnTo>
                  <a:pt x="6095999" y="4581001"/>
                </a:lnTo>
                <a:lnTo>
                  <a:pt x="5995877" y="4581001"/>
                </a:lnTo>
                <a:lnTo>
                  <a:pt x="5747167" y="4576798"/>
                </a:lnTo>
                <a:lnTo>
                  <a:pt x="5503333" y="4570492"/>
                </a:lnTo>
                <a:lnTo>
                  <a:pt x="5261938" y="4564537"/>
                </a:lnTo>
                <a:lnTo>
                  <a:pt x="5025418" y="4557881"/>
                </a:lnTo>
                <a:lnTo>
                  <a:pt x="4790118" y="4547722"/>
                </a:lnTo>
                <a:lnTo>
                  <a:pt x="4558477" y="4536862"/>
                </a:lnTo>
                <a:lnTo>
                  <a:pt x="4331710" y="4527054"/>
                </a:lnTo>
                <a:lnTo>
                  <a:pt x="3889152" y="4499379"/>
                </a:lnTo>
                <a:lnTo>
                  <a:pt x="3464881" y="4469954"/>
                </a:lnTo>
                <a:lnTo>
                  <a:pt x="3057678" y="4439126"/>
                </a:lnTo>
                <a:lnTo>
                  <a:pt x="2672421" y="4405147"/>
                </a:lnTo>
                <a:lnTo>
                  <a:pt x="2304232" y="4369765"/>
                </a:lnTo>
                <a:lnTo>
                  <a:pt x="1962864" y="4331582"/>
                </a:lnTo>
                <a:lnTo>
                  <a:pt x="1642223" y="4294099"/>
                </a:lnTo>
                <a:lnTo>
                  <a:pt x="1347183" y="4256616"/>
                </a:lnTo>
                <a:lnTo>
                  <a:pt x="1076528" y="4221235"/>
                </a:lnTo>
                <a:lnTo>
                  <a:pt x="836351" y="4187605"/>
                </a:lnTo>
                <a:lnTo>
                  <a:pt x="619339" y="4155727"/>
                </a:lnTo>
                <a:lnTo>
                  <a:pt x="436464" y="4129104"/>
                </a:lnTo>
                <a:lnTo>
                  <a:pt x="282848" y="4103881"/>
                </a:lnTo>
                <a:lnTo>
                  <a:pt x="71932" y="4067800"/>
                </a:lnTo>
                <a:lnTo>
                  <a:pt x="1" y="4055539"/>
                </a:lnTo>
                <a:lnTo>
                  <a:pt x="1" y="5020241"/>
                </a:lnTo>
                <a:lnTo>
                  <a:pt x="0" y="5020241"/>
                </a:lnTo>
                <a:close/>
              </a:path>
            </a:pathLst>
          </a:custGeom>
        </p:spPr>
      </p:pic>
      <p:pic>
        <p:nvPicPr>
          <p:cNvPr id="7" name="Picture 6" descr="A banana and grapes next to a red apple&#10;&#10;AI-generated content may be incorrect.">
            <a:extLst>
              <a:ext uri="{FF2B5EF4-FFF2-40B4-BE49-F238E27FC236}">
                <a16:creationId xmlns:a16="http://schemas.microsoft.com/office/drawing/2014/main" id="{6ED21B80-1F7D-E930-CC12-F404E289582A}"/>
              </a:ext>
            </a:extLst>
          </p:cNvPr>
          <p:cNvPicPr>
            <a:picLocks noChangeAspect="1"/>
          </p:cNvPicPr>
          <p:nvPr/>
        </p:nvPicPr>
        <p:blipFill>
          <a:blip r:embed="rId3"/>
          <a:srcRect t="10329" r="-2" b="14484"/>
          <a:stretch>
            <a:fillRect/>
          </a:stretch>
        </p:blipFill>
        <p:spPr>
          <a:xfrm>
            <a:off x="5675376" y="9404"/>
            <a:ext cx="5671433" cy="4507732"/>
          </a:xfrm>
          <a:custGeom>
            <a:avLst/>
            <a:gdLst/>
            <a:ahLst/>
            <a:cxnLst/>
            <a:rect l="l" t="t" r="r" b="b"/>
            <a:pathLst>
              <a:path w="6095696" h="4583103">
                <a:moveTo>
                  <a:pt x="0" y="0"/>
                </a:moveTo>
                <a:lnTo>
                  <a:pt x="6095696" y="0"/>
                </a:lnTo>
                <a:lnTo>
                  <a:pt x="6095696" y="4057991"/>
                </a:lnTo>
                <a:lnTo>
                  <a:pt x="5818946" y="4110187"/>
                </a:lnTo>
                <a:lnTo>
                  <a:pt x="5543413" y="4159931"/>
                </a:lnTo>
                <a:lnTo>
                  <a:pt x="5266662" y="4208624"/>
                </a:lnTo>
                <a:lnTo>
                  <a:pt x="4988691" y="4250310"/>
                </a:lnTo>
                <a:lnTo>
                  <a:pt x="4711940" y="4292347"/>
                </a:lnTo>
                <a:lnTo>
                  <a:pt x="4433969" y="4331582"/>
                </a:lnTo>
                <a:lnTo>
                  <a:pt x="4159656" y="4365211"/>
                </a:lnTo>
                <a:lnTo>
                  <a:pt x="3881685" y="4397089"/>
                </a:lnTo>
                <a:lnTo>
                  <a:pt x="3604934" y="4426165"/>
                </a:lnTo>
                <a:lnTo>
                  <a:pt x="3333059" y="4451387"/>
                </a:lnTo>
                <a:lnTo>
                  <a:pt x="3057527" y="4476609"/>
                </a:lnTo>
                <a:lnTo>
                  <a:pt x="2785652" y="4497628"/>
                </a:lnTo>
                <a:lnTo>
                  <a:pt x="2513777" y="4514092"/>
                </a:lnTo>
                <a:lnTo>
                  <a:pt x="2243122" y="4531258"/>
                </a:lnTo>
                <a:lnTo>
                  <a:pt x="1974904" y="4545620"/>
                </a:lnTo>
                <a:lnTo>
                  <a:pt x="1709125" y="4555779"/>
                </a:lnTo>
                <a:lnTo>
                  <a:pt x="1443346" y="4564537"/>
                </a:lnTo>
                <a:lnTo>
                  <a:pt x="1180006" y="4572944"/>
                </a:lnTo>
                <a:lnTo>
                  <a:pt x="920323" y="4576798"/>
                </a:lnTo>
                <a:lnTo>
                  <a:pt x="660640" y="4581001"/>
                </a:lnTo>
                <a:lnTo>
                  <a:pt x="404614" y="4583103"/>
                </a:lnTo>
                <a:lnTo>
                  <a:pt x="151027" y="4581001"/>
                </a:lnTo>
                <a:lnTo>
                  <a:pt x="0" y="4581001"/>
                </a:lnTo>
                <a:close/>
              </a:path>
            </a:pathLst>
          </a:custGeom>
        </p:spPr>
      </p:pic>
    </p:spTree>
    <p:extLst>
      <p:ext uri="{BB962C8B-B14F-4D97-AF65-F5344CB8AC3E}">
        <p14:creationId xmlns:p14="http://schemas.microsoft.com/office/powerpoint/2010/main" val="1389209863"/>
      </p:ext>
    </p:extLst>
  </p:cSld>
  <p:clrMapOvr>
    <a:masterClrMapping/>
  </p:clrMapOvr>
</p:sld>
</file>

<file path=ppt/theme/theme1.xml><?xml version="1.0" encoding="utf-8"?>
<a:theme xmlns:a="http://schemas.openxmlformats.org/drawingml/2006/main" name="View">
  <a:themeElements>
    <a:clrScheme name="Nord">
      <a:dk1>
        <a:srgbClr val="2E3440"/>
      </a:dk1>
      <a:lt1>
        <a:srgbClr val="ECEFF4"/>
      </a:lt1>
      <a:dk2>
        <a:srgbClr val="3B4252"/>
      </a:dk2>
      <a:lt2>
        <a:srgbClr val="E5E9F0"/>
      </a:lt2>
      <a:accent1>
        <a:srgbClr val="A3BE8C"/>
      </a:accent1>
      <a:accent2>
        <a:srgbClr val="88C0D0"/>
      </a:accent2>
      <a:accent3>
        <a:srgbClr val="EBCB8B"/>
      </a:accent3>
      <a:accent4>
        <a:srgbClr val="9F7FC3"/>
      </a:accent4>
      <a:accent5>
        <a:srgbClr val="D8DEE9"/>
      </a:accent5>
      <a:accent6>
        <a:srgbClr val="4C566A"/>
      </a:accent6>
      <a:hlink>
        <a:srgbClr val="5E81AC"/>
      </a:hlink>
      <a:folHlink>
        <a:srgbClr val="81A1C1"/>
      </a:folHlink>
    </a:clrScheme>
    <a:fontScheme name="Brill + Noto">
      <a:majorFont>
        <a:latin typeface="Brill"/>
        <a:ea typeface="Noto Serif TC"/>
        <a:cs typeface=""/>
      </a:majorFont>
      <a:minorFont>
        <a:latin typeface="Brill"/>
        <a:ea typeface="Noto Serif TC"/>
        <a:cs typeface=""/>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666</TotalTime>
  <Words>2211</Words>
  <Application>Microsoft Office PowerPoint</Application>
  <PresentationFormat>Widescreen</PresentationFormat>
  <Paragraphs>299</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Brill</vt:lpstr>
      <vt:lpstr>Wingdings 2</vt:lpstr>
      <vt:lpstr>Wingdings 3</vt:lpstr>
      <vt:lpstr>View</vt:lpstr>
      <vt:lpstr>Hungarian focus constructions: A visual world paradigm study with self-paced reading and eye-tracking —a small update</vt:lpstr>
      <vt:lpstr>Two experiments</vt:lpstr>
      <vt:lpstr>Two experiments: 1</vt:lpstr>
      <vt:lpstr>Two experiments: 1</vt:lpstr>
      <vt:lpstr>Two experiments: 1</vt:lpstr>
      <vt:lpstr>Two experiments: 1</vt:lpstr>
      <vt:lpstr>Two experiments: 2</vt:lpstr>
      <vt:lpstr>Two experiments: 2</vt:lpstr>
      <vt:lpstr>Two experiments: 2</vt:lpstr>
      <vt:lpstr>Two experiments: 2A</vt:lpstr>
      <vt:lpstr>Two experiments: 2A - verb</vt:lpstr>
      <vt:lpstr>Two experiments: 2B - gender</vt:lpstr>
      <vt:lpstr>Two experiments: 2B - gender</vt:lpstr>
      <vt:lpstr>Two experiments: 2B - gender</vt:lpstr>
      <vt:lpstr>Two experiments: 2</vt:lpstr>
      <vt:lpstr>Experiment design</vt:lpstr>
      <vt:lpstr>Experiment design</vt:lpstr>
      <vt:lpstr>PowerPoint Presentation</vt:lpstr>
      <vt:lpstr>I-DT (Identification by Dispersion Threshold)</vt:lpstr>
      <vt:lpstr>Problems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Gábor Parti</dc:creator>
  <cp:lastModifiedBy>Gábor Parti</cp:lastModifiedBy>
  <cp:revision>11</cp:revision>
  <dcterms:created xsi:type="dcterms:W3CDTF">2025-07-28T03:45:11Z</dcterms:created>
  <dcterms:modified xsi:type="dcterms:W3CDTF">2025-10-29T16:43:28Z</dcterms:modified>
</cp:coreProperties>
</file>