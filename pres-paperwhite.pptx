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9" r:id="rId1"/>
  </p:sldMasterIdLst>
  <p:notesMasterIdLst>
    <p:notesMasterId r:id="rId60"/>
  </p:notesMasterIdLst>
  <p:handoutMasterIdLst>
    <p:handoutMasterId r:id="rId61"/>
  </p:handoutMasterIdLst>
  <p:sldIdLst>
    <p:sldId id="282" r:id="rId2"/>
    <p:sldId id="298" r:id="rId3"/>
    <p:sldId id="294" r:id="rId4"/>
    <p:sldId id="291" r:id="rId5"/>
    <p:sldId id="292" r:id="rId6"/>
    <p:sldId id="295" r:id="rId7"/>
    <p:sldId id="297" r:id="rId8"/>
    <p:sldId id="296" r:id="rId9"/>
    <p:sldId id="299" r:id="rId10"/>
    <p:sldId id="304" r:id="rId11"/>
    <p:sldId id="303" r:id="rId12"/>
    <p:sldId id="308" r:id="rId13"/>
    <p:sldId id="307" r:id="rId14"/>
    <p:sldId id="309" r:id="rId15"/>
    <p:sldId id="300" r:id="rId16"/>
    <p:sldId id="313" r:id="rId17"/>
    <p:sldId id="314" r:id="rId18"/>
    <p:sldId id="318" r:id="rId19"/>
    <p:sldId id="317" r:id="rId20"/>
    <p:sldId id="320" r:id="rId21"/>
    <p:sldId id="321" r:id="rId22"/>
    <p:sldId id="326" r:id="rId23"/>
    <p:sldId id="327" r:id="rId24"/>
    <p:sldId id="330" r:id="rId25"/>
    <p:sldId id="332" r:id="rId26"/>
    <p:sldId id="334" r:id="rId27"/>
    <p:sldId id="350" r:id="rId28"/>
    <p:sldId id="329" r:id="rId29"/>
    <p:sldId id="328" r:id="rId30"/>
    <p:sldId id="336" r:id="rId31"/>
    <p:sldId id="338" r:id="rId32"/>
    <p:sldId id="337" r:id="rId33"/>
    <p:sldId id="335" r:id="rId34"/>
    <p:sldId id="340" r:id="rId35"/>
    <p:sldId id="341" r:id="rId36"/>
    <p:sldId id="343" r:id="rId37"/>
    <p:sldId id="344" r:id="rId38"/>
    <p:sldId id="339" r:id="rId39"/>
    <p:sldId id="347" r:id="rId40"/>
    <p:sldId id="348" r:id="rId41"/>
    <p:sldId id="346" r:id="rId42"/>
    <p:sldId id="257" r:id="rId43"/>
    <p:sldId id="269" r:id="rId44"/>
    <p:sldId id="268" r:id="rId45"/>
    <p:sldId id="272" r:id="rId46"/>
    <p:sldId id="263" r:id="rId47"/>
    <p:sldId id="261" r:id="rId48"/>
    <p:sldId id="270" r:id="rId49"/>
    <p:sldId id="271" r:id="rId50"/>
    <p:sldId id="273" r:id="rId51"/>
    <p:sldId id="274" r:id="rId52"/>
    <p:sldId id="275" r:id="rId53"/>
    <p:sldId id="277" r:id="rId54"/>
    <p:sldId id="276" r:id="rId55"/>
    <p:sldId id="278" r:id="rId56"/>
    <p:sldId id="267" r:id="rId57"/>
    <p:sldId id="281" r:id="rId58"/>
    <p:sldId id="258" r:id="rId5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showGuides="1">
      <p:cViewPr varScale="1">
        <p:scale>
          <a:sx n="70" d="100"/>
          <a:sy n="70" d="100"/>
        </p:scale>
        <p:origin x="536" y="32"/>
      </p:cViewPr>
      <p:guideLst>
        <p:guide orient="horz" pos="2160"/>
        <p:guide pos="3840"/>
      </p:guideLst>
    </p:cSldViewPr>
  </p:slideViewPr>
  <p:notesTextViewPr>
    <p:cViewPr>
      <p:scale>
        <a:sx n="1" d="1"/>
        <a:sy n="1" d="1"/>
      </p:scale>
      <p:origin x="0" y="0"/>
    </p:cViewPr>
  </p:notesTextViewPr>
  <p:notesViewPr>
    <p:cSldViewPr snapToGrid="0">
      <p:cViewPr varScale="1">
        <p:scale>
          <a:sx n="56" d="100"/>
          <a:sy n="56" d="100"/>
        </p:scale>
        <p:origin x="2588" y="5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AC46DCC-8AD7-57A2-2355-77A60326264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523A7A0-EDFE-8796-52D3-A1DE00E7EF3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2C60018-7CC8-401C-AB78-8B75404606AA}" type="datetimeFigureOut">
              <a:rPr lang="en-US" smtClean="0"/>
              <a:t>11/28/2025</a:t>
            </a:fld>
            <a:endParaRPr lang="en-US"/>
          </a:p>
        </p:txBody>
      </p:sp>
      <p:sp>
        <p:nvSpPr>
          <p:cNvPr id="4" name="Footer Placeholder 3">
            <a:extLst>
              <a:ext uri="{FF2B5EF4-FFF2-40B4-BE49-F238E27FC236}">
                <a16:creationId xmlns:a16="http://schemas.microsoft.com/office/drawing/2014/main" id="{3BD41780-2367-FBA5-59DB-202906D2C7B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9AD82E7-1900-560F-C6C7-5AFA04A6A42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58B1D2C-AB8E-497C-9B37-D95D73F328C3}" type="slidenum">
              <a:rPr lang="en-US" smtClean="0"/>
              <a:t>‹#›</a:t>
            </a:fld>
            <a:endParaRPr lang="en-US"/>
          </a:p>
        </p:txBody>
      </p:sp>
    </p:spTree>
    <p:extLst>
      <p:ext uri="{BB962C8B-B14F-4D97-AF65-F5344CB8AC3E}">
        <p14:creationId xmlns:p14="http://schemas.microsoft.com/office/powerpoint/2010/main" val="16290588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D59BB8-8670-4246-B25D-4FC5ED36B8F7}" type="datetimeFigureOut">
              <a:rPr lang="en-US" smtClean="0"/>
              <a:t>11/28/2025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6CB590-530B-41C4-9C81-7DA6449172BA}" type="slidenum">
              <a:rPr lang="en-US" smtClean="0"/>
              <a:t>‹#›</a:t>
            </a:fld>
            <a:endParaRPr lang="en-US"/>
          </a:p>
        </p:txBody>
      </p:sp>
    </p:spTree>
    <p:extLst>
      <p:ext uri="{BB962C8B-B14F-4D97-AF65-F5344CB8AC3E}">
        <p14:creationId xmlns:p14="http://schemas.microsoft.com/office/powerpoint/2010/main" val="37793090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dirty="0"/>
              <a:t>Click to edit Master title style</a:t>
            </a:r>
          </a:p>
        </p:txBody>
      </p:sp>
      <p:sp>
        <p:nvSpPr>
          <p:cNvPr id="3" name="Subtitle 2"/>
          <p:cNvSpPr>
            <a:spLocks noGrp="1"/>
          </p:cNvSpPr>
          <p:nvPr>
            <p:ph type="subTitle" idx="1"/>
          </p:nvPr>
        </p:nvSpPr>
        <p:spPr>
          <a:xfrm>
            <a:off x="1261872" y="4800600"/>
            <a:ext cx="9418320" cy="1691640"/>
          </a:xfrm>
          <a:prstGeom prst="rect">
            <a:avLst/>
          </a:prstGeo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4BF6D765-002A-4342-9A27-1499FB12475C}" type="datetime1">
              <a:rPr lang="en-US" smtClean="0"/>
              <a:t>11/28/2025</a:t>
            </a:fld>
            <a:endParaRPr lang="en-US" dirty="0"/>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D57F1E4F-1CFF-5643-939E-217C01CDF565}" type="slidenum">
              <a:rPr lang="en-US" smtClean="0"/>
              <a:pPr/>
              <a:t>‹#›</a:t>
            </a:fld>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12609904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77E7C12-67C9-485C-820C-513DE461645A}" type="datetime1">
              <a:rPr lang="en-US" smtClean="0"/>
              <a:t>11/28/2025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Title Placeholder 1">
            <a:extLst>
              <a:ext uri="{FF2B5EF4-FFF2-40B4-BE49-F238E27FC236}">
                <a16:creationId xmlns:a16="http://schemas.microsoft.com/office/drawing/2014/main" id="{C5BE26AE-0E69-BDD7-144E-182B49317F31}"/>
              </a:ext>
            </a:extLst>
          </p:cNvPr>
          <p:cNvSpPr>
            <a:spLocks noGrp="1"/>
          </p:cNvSpPr>
          <p:nvPr>
            <p:ph type="title"/>
          </p:nvPr>
        </p:nvSpPr>
        <p:spPr>
          <a:xfrm>
            <a:off x="1261872" y="365761"/>
            <a:ext cx="9692640" cy="684106"/>
          </a:xfrm>
          <a:prstGeom prst="rect">
            <a:avLst/>
          </a:prstGeom>
        </p:spPr>
        <p:txBody>
          <a:bodyPr vert="horz" lIns="91440" tIns="45720" rIns="91440" bIns="45720" rtlCol="0" anchor="b">
            <a:normAutofit/>
          </a:bodyPr>
          <a:lstStyle/>
          <a:p>
            <a:r>
              <a:rPr lang="en-US" dirty="0"/>
              <a:t>Click to edit Master title style</a:t>
            </a:r>
          </a:p>
        </p:txBody>
      </p:sp>
      <p:sp>
        <p:nvSpPr>
          <p:cNvPr id="8" name="Text Placeholder 2">
            <a:extLst>
              <a:ext uri="{FF2B5EF4-FFF2-40B4-BE49-F238E27FC236}">
                <a16:creationId xmlns:a16="http://schemas.microsoft.com/office/drawing/2014/main" id="{9DF0A6A8-EC8F-7E72-BB5D-E0D5E880E100}"/>
              </a:ext>
            </a:extLst>
          </p:cNvPr>
          <p:cNvSpPr>
            <a:spLocks noGrp="1"/>
          </p:cNvSpPr>
          <p:nvPr>
            <p:ph idx="1"/>
          </p:nvPr>
        </p:nvSpPr>
        <p:spPr>
          <a:xfrm>
            <a:off x="1261871" y="1473200"/>
            <a:ext cx="9692639" cy="501904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9814309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6600" b="0"/>
            </a:lvl1pPr>
          </a:lstStyle>
          <a:p>
            <a:r>
              <a:rPr lang="en-US" dirty="0"/>
              <a:t>Click to edit Master title style</a:t>
            </a:r>
          </a:p>
        </p:txBody>
      </p:sp>
      <p:sp>
        <p:nvSpPr>
          <p:cNvPr id="3" name="Text Placeholder 2"/>
          <p:cNvSpPr>
            <a:spLocks noGrp="1"/>
          </p:cNvSpPr>
          <p:nvPr>
            <p:ph type="body" idx="1"/>
          </p:nvPr>
        </p:nvSpPr>
        <p:spPr>
          <a:xfrm>
            <a:off x="1261872" y="4800600"/>
            <a:ext cx="9418320" cy="1691640"/>
          </a:xfrm>
          <a:prstGeom prst="rect">
            <a:avLst/>
          </a:prstGeo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F978D1-8A5E-4FEF-BEEE-7C5FD85138FC}" type="datetime1">
              <a:rPr lang="en-US" smtClean="0"/>
              <a:t>11/28/2025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194508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a:prstGeom prst="rect">
            <a:avLst/>
          </a:prstGeo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828032" cy="4351337"/>
          </a:xfrm>
          <a:prstGeom prst="rect">
            <a:avLst/>
          </a:prstGeo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F6C8F2A-3531-4A29-9F1E-3978A22101A4}" type="datetime1">
              <a:rPr lang="en-US" smtClean="0"/>
              <a:t>11/28/2025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176199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a:prstGeom prst="rect">
            <a:avLst/>
          </a:prstGeo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a:prstGeom prst="rect">
            <a:avLst/>
          </a:prstGeo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828032" cy="731520"/>
          </a:xfrm>
          <a:prstGeom prst="rect">
            <a:avLst/>
          </a:prstGeo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828032" cy="3664650"/>
          </a:xfrm>
          <a:prstGeom prst="rect">
            <a:avLst/>
          </a:prstGeo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A4D1F1A-0741-496E-8B9C-B92A95DD16AD}" type="datetime1">
              <a:rPr lang="en-US" smtClean="0"/>
              <a:t>11/28/2025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208347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F76A380-FA24-4993-8830-303CEC9CE16B}" type="datetime1">
              <a:rPr lang="en-US" smtClean="0"/>
              <a:t>11/28/2025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085522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A6E378-4A2A-47BA-9986-40FF8A7619DE}" type="datetime1">
              <a:rPr lang="en-US" smtClean="0"/>
              <a:t>11/28/2025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35376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a:prstGeom prst="rect">
            <a:avLst/>
          </a:prstGeo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a:prstGeom prst="rect">
            <a:avLst/>
          </a:prstGeo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39EA816-D1F5-4388-842B-7976C0692158}" type="datetime1">
              <a:rPr lang="en-US" smtClean="0"/>
              <a:t>11/28/2025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175001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prstGeom prst="rect">
            <a:avLst/>
          </a:prstGeo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a:prstGeom prst="rect">
            <a:avLst/>
          </a:prstGeo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F47C5A-0C90-426A-BA35-78C5C3FF49DC}" type="datetime1">
              <a:rPr lang="en-US" smtClean="0"/>
              <a:t>11/28/2025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17965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261871" y="1473200"/>
            <a:ext cx="9692639" cy="5019040"/>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12ED1A-FEFC-44CA-B4FE-E0737B71C631}" type="datetime1">
              <a:rPr lang="en-US" smtClean="0"/>
              <a:t>11/28/2025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67514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AFF9B8-0434-4E77-A033-3A5C17C8663C}" type="datetime1">
              <a:rPr lang="en-US" smtClean="0"/>
              <a:t>11/28/2025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765658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261872" y="365761"/>
            <a:ext cx="9692640" cy="684106"/>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261871" y="1473200"/>
            <a:ext cx="9692639" cy="501904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39A0FD01-2B24-4C0C-9B52-4F23CD4DFF11}" type="datetime1">
              <a:rPr lang="en-US" smtClean="0"/>
              <a:t>11/28/2025</a:t>
            </a:fld>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27339"/>
      </p:ext>
    </p:extLst>
  </p:cSld>
  <p:clrMap bg1="dk1" tx1="lt1" bg2="dk2" tx2="lt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hf hdr="0" ftr="0" dt="0"/>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0000" algn="l" defTabSz="914400" rtl="0" eaLnBrk="1" latinLnBrk="0" hangingPunct="1">
        <a:lnSpc>
          <a:spcPct val="100000"/>
        </a:lnSpc>
        <a:spcBef>
          <a:spcPts val="1400"/>
        </a:spcBef>
        <a:spcAft>
          <a:spcPts val="600"/>
        </a:spcAft>
        <a:buClr>
          <a:schemeClr val="accent1"/>
        </a:buClr>
        <a:buSzPct val="80000"/>
        <a:buFont typeface="Arial" pitchFamily="34" charset="0"/>
        <a:buChar char="•"/>
        <a:defRPr sz="2800" kern="1200" spc="10" baseline="0">
          <a:solidFill>
            <a:schemeClr val="tx1"/>
          </a:solidFill>
          <a:latin typeface="+mn-lt"/>
          <a:ea typeface="+mn-ea"/>
          <a:cs typeface="+mn-cs"/>
        </a:defRPr>
      </a:lvl1pPr>
      <a:lvl2pPr marL="457200" indent="-180000" algn="l" defTabSz="914400" rtl="0" eaLnBrk="1" latinLnBrk="0" hangingPunct="1">
        <a:lnSpc>
          <a:spcPct val="100000"/>
        </a:lnSpc>
        <a:spcBef>
          <a:spcPts val="300"/>
        </a:spcBef>
        <a:spcAft>
          <a:spcPts val="600"/>
        </a:spcAft>
        <a:buClr>
          <a:schemeClr val="accent1"/>
        </a:buClr>
        <a:buFont typeface="Wingdings 2" pitchFamily="18" charset="2"/>
        <a:buChar char=""/>
        <a:defRPr sz="2400" kern="1200">
          <a:solidFill>
            <a:schemeClr val="tx1">
              <a:lumMod val="85000"/>
              <a:lumOff val="15000"/>
            </a:schemeClr>
          </a:solidFill>
          <a:latin typeface="+mn-lt"/>
          <a:ea typeface="+mn-ea"/>
          <a:cs typeface="+mn-cs"/>
        </a:defRPr>
      </a:lvl2pPr>
      <a:lvl3pPr marL="731520" indent="-180000" algn="l" defTabSz="914400" rtl="0" eaLnBrk="1" latinLnBrk="0" hangingPunct="1">
        <a:lnSpc>
          <a:spcPct val="100000"/>
        </a:lnSpc>
        <a:spcBef>
          <a:spcPts val="300"/>
        </a:spcBef>
        <a:spcAft>
          <a:spcPts val="600"/>
        </a:spcAft>
        <a:buClr>
          <a:schemeClr val="accent1"/>
        </a:buClr>
        <a:buFont typeface="Wingdings 2" pitchFamily="18" charset="2"/>
        <a:buChar char=""/>
        <a:defRPr sz="2000" kern="1200">
          <a:solidFill>
            <a:schemeClr val="tx1">
              <a:lumMod val="85000"/>
              <a:lumOff val="15000"/>
            </a:schemeClr>
          </a:solidFill>
          <a:latin typeface="+mn-lt"/>
          <a:ea typeface="+mn-ea"/>
          <a:cs typeface="+mn-cs"/>
        </a:defRPr>
      </a:lvl3pPr>
      <a:lvl4pPr marL="1005840" indent="-180000" algn="l" defTabSz="914400" rtl="0" eaLnBrk="1" latinLnBrk="0" hangingPunct="1">
        <a:lnSpc>
          <a:spcPct val="100000"/>
        </a:lnSpc>
        <a:spcBef>
          <a:spcPts val="300"/>
        </a:spcBef>
        <a:spcAft>
          <a:spcPts val="600"/>
        </a:spcAft>
        <a:buClr>
          <a:schemeClr val="accent1"/>
        </a:buClr>
        <a:buFont typeface="Wingdings 2" pitchFamily="18" charset="2"/>
        <a:buChar char=""/>
        <a:defRPr sz="2000" kern="1200">
          <a:solidFill>
            <a:schemeClr val="tx1">
              <a:lumMod val="85000"/>
              <a:lumOff val="15000"/>
            </a:schemeClr>
          </a:solidFill>
          <a:latin typeface="+mn-lt"/>
          <a:ea typeface="+mn-ea"/>
          <a:cs typeface="+mn-cs"/>
        </a:defRPr>
      </a:lvl4pPr>
      <a:lvl5pPr marL="1280160" indent="-180000" algn="l" defTabSz="914400" rtl="0" eaLnBrk="1" latinLnBrk="0" hangingPunct="1">
        <a:lnSpc>
          <a:spcPct val="100000"/>
        </a:lnSpc>
        <a:spcBef>
          <a:spcPts val="300"/>
        </a:spcBef>
        <a:spcAft>
          <a:spcPts val="600"/>
        </a:spcAft>
        <a:buClr>
          <a:schemeClr val="accent1"/>
        </a:buClr>
        <a:buFont typeface="Wingdings 2" pitchFamily="18" charset="2"/>
        <a:buChar char=""/>
        <a:defRPr sz="20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32DFB-759E-FB11-8122-08A8588CA5F9}"/>
              </a:ext>
            </a:extLst>
          </p:cNvPr>
          <p:cNvSpPr>
            <a:spLocks noGrp="1"/>
          </p:cNvSpPr>
          <p:nvPr>
            <p:ph type="ctrTitle"/>
          </p:nvPr>
        </p:nvSpPr>
        <p:spPr>
          <a:xfrm>
            <a:off x="1261872" y="448056"/>
            <a:ext cx="9070848" cy="4645152"/>
          </a:xfrm>
        </p:spPr>
        <p:txBody>
          <a:bodyPr>
            <a:normAutofit/>
          </a:bodyPr>
          <a:lstStyle/>
          <a:p>
            <a:pPr>
              <a:lnSpc>
                <a:spcPct val="100000"/>
              </a:lnSpc>
              <a:spcAft>
                <a:spcPts val="1200"/>
              </a:spcAft>
            </a:pPr>
            <a:r>
              <a:rPr lang="en-US" b="1" dirty="0"/>
              <a:t>Exclusivity in Hungarian focus constructions:</a:t>
            </a:r>
            <a:br>
              <a:rPr lang="en-US" dirty="0"/>
            </a:br>
            <a:r>
              <a:rPr lang="en-US" sz="4800" dirty="0"/>
              <a:t>A visual world paradigm study with self-paced reading and eye-tracking</a:t>
            </a:r>
            <a:br>
              <a:rPr lang="en-US" sz="4800" dirty="0"/>
            </a:br>
            <a:r>
              <a:rPr lang="hu-HU" sz="4000" dirty="0">
                <a:solidFill>
                  <a:schemeClr val="accent1"/>
                </a:solidFill>
              </a:rPr>
              <a:t>—</a:t>
            </a:r>
            <a:r>
              <a:rPr lang="en-US" sz="4000" dirty="0">
                <a:solidFill>
                  <a:schemeClr val="accent1"/>
                </a:solidFill>
              </a:rPr>
              <a:t>a small update</a:t>
            </a:r>
            <a:endParaRPr lang="en-US" dirty="0">
              <a:solidFill>
                <a:schemeClr val="accent1"/>
              </a:solidFill>
            </a:endParaRPr>
          </a:p>
        </p:txBody>
      </p:sp>
      <p:sp>
        <p:nvSpPr>
          <p:cNvPr id="3" name="Subtitle 2">
            <a:extLst>
              <a:ext uri="{FF2B5EF4-FFF2-40B4-BE49-F238E27FC236}">
                <a16:creationId xmlns:a16="http://schemas.microsoft.com/office/drawing/2014/main" id="{9358F378-2C56-AECD-4BE5-0D9CA3ABBEAF}"/>
              </a:ext>
            </a:extLst>
          </p:cNvPr>
          <p:cNvSpPr>
            <a:spLocks noGrp="1"/>
          </p:cNvSpPr>
          <p:nvPr>
            <p:ph type="subTitle" idx="1"/>
          </p:nvPr>
        </p:nvSpPr>
        <p:spPr>
          <a:xfrm>
            <a:off x="1261872" y="5093208"/>
            <a:ext cx="9418320" cy="1399032"/>
          </a:xfrm>
        </p:spPr>
        <p:txBody>
          <a:bodyPr/>
          <a:lstStyle/>
          <a:p>
            <a:r>
              <a:rPr lang="en-US" dirty="0"/>
              <a:t>PARTI G</a:t>
            </a:r>
            <a:r>
              <a:rPr lang="hu-HU" dirty="0"/>
              <a:t>á</a:t>
            </a:r>
            <a:r>
              <a:rPr lang="en-US" dirty="0" err="1"/>
              <a:t>bor</a:t>
            </a:r>
            <a:r>
              <a:rPr lang="en-US" dirty="0"/>
              <a:t>, Dr. HSU Yu-Yin </a:t>
            </a:r>
          </a:p>
          <a:p>
            <a:r>
              <a:rPr lang="en-US" dirty="0"/>
              <a:t>2025.10.30.</a:t>
            </a:r>
          </a:p>
        </p:txBody>
      </p:sp>
      <p:sp>
        <p:nvSpPr>
          <p:cNvPr id="4" name="Slide Number Placeholder 3">
            <a:extLst>
              <a:ext uri="{FF2B5EF4-FFF2-40B4-BE49-F238E27FC236}">
                <a16:creationId xmlns:a16="http://schemas.microsoft.com/office/drawing/2014/main" id="{C361D40C-FB2A-247A-233D-95CCCD42B963}"/>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1</a:t>
            </a:fld>
            <a:endParaRPr lang="en-US" dirty="0"/>
          </a:p>
        </p:txBody>
      </p:sp>
    </p:spTree>
    <p:extLst>
      <p:ext uri="{BB962C8B-B14F-4D97-AF65-F5344CB8AC3E}">
        <p14:creationId xmlns:p14="http://schemas.microsoft.com/office/powerpoint/2010/main" val="23016255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36112-21CA-C8BC-28DF-7014CD2D2F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1C0E0F-9EA1-CF1D-58A9-530A3DF88E92}"/>
              </a:ext>
            </a:extLst>
          </p:cNvPr>
          <p:cNvSpPr>
            <a:spLocks noGrp="1"/>
          </p:cNvSpPr>
          <p:nvPr>
            <p:ph type="title"/>
          </p:nvPr>
        </p:nvSpPr>
        <p:spPr>
          <a:xfrm>
            <a:off x="1261872" y="365760"/>
            <a:ext cx="9692640" cy="658707"/>
          </a:xfrm>
        </p:spPr>
        <p:txBody>
          <a:bodyPr>
            <a:normAutofit fontScale="90000"/>
          </a:bodyPr>
          <a:lstStyle/>
          <a:p>
            <a:r>
              <a:rPr lang="en-US" dirty="0"/>
              <a:t>Background</a:t>
            </a:r>
          </a:p>
        </p:txBody>
      </p:sp>
      <p:sp>
        <p:nvSpPr>
          <p:cNvPr id="3" name="Content Placeholder 2">
            <a:extLst>
              <a:ext uri="{FF2B5EF4-FFF2-40B4-BE49-F238E27FC236}">
                <a16:creationId xmlns:a16="http://schemas.microsoft.com/office/drawing/2014/main" id="{505E6624-EBBF-CADD-884D-EB7BFA209308}"/>
              </a:ext>
            </a:extLst>
          </p:cNvPr>
          <p:cNvSpPr>
            <a:spLocks noGrp="1"/>
          </p:cNvSpPr>
          <p:nvPr>
            <p:ph idx="4294967295"/>
          </p:nvPr>
        </p:nvSpPr>
        <p:spPr>
          <a:xfrm>
            <a:off x="1261872" y="1261872"/>
            <a:ext cx="10360152" cy="5504053"/>
          </a:xfrm>
        </p:spPr>
        <p:txBody>
          <a:bodyPr>
            <a:normAutofit/>
          </a:bodyPr>
          <a:lstStyle/>
          <a:p>
            <a:pPr>
              <a:spcBef>
                <a:spcPts val="0"/>
              </a:spcBef>
            </a:pPr>
            <a:r>
              <a:rPr lang="en-US" dirty="0"/>
              <a:t>Hungarian is an </a:t>
            </a:r>
            <a:r>
              <a:rPr lang="en-US" b="1" dirty="0"/>
              <a:t>agglutinative, discourse configurational </a:t>
            </a:r>
            <a:r>
              <a:rPr lang="en-US" dirty="0"/>
              <a:t>language with a relatively “</a:t>
            </a:r>
            <a:r>
              <a:rPr lang="en-US" b="1" dirty="0"/>
              <a:t>free”</a:t>
            </a:r>
            <a:r>
              <a:rPr lang="en-US" dirty="0"/>
              <a:t> word order</a:t>
            </a:r>
          </a:p>
          <a:p>
            <a:pPr>
              <a:spcBef>
                <a:spcPts val="0"/>
              </a:spcBef>
            </a:pPr>
            <a:r>
              <a:rPr lang="en-US" dirty="0"/>
              <a:t>There is one important (prominent) place in a sentence: </a:t>
            </a:r>
            <a:r>
              <a:rPr lang="en-US" b="1" dirty="0"/>
              <a:t>the focus position</a:t>
            </a:r>
          </a:p>
          <a:p>
            <a:pPr>
              <a:spcBef>
                <a:spcPts val="0"/>
              </a:spcBef>
            </a:pPr>
            <a:r>
              <a:rPr lang="en-US" dirty="0"/>
              <a:t>Focus comes before the verb; they are always together: </a:t>
            </a:r>
            <a:r>
              <a:rPr lang="en-US" b="1" dirty="0"/>
              <a:t>focus + verb</a:t>
            </a:r>
            <a:endParaRPr lang="en-US" dirty="0"/>
          </a:p>
        </p:txBody>
      </p:sp>
      <p:sp>
        <p:nvSpPr>
          <p:cNvPr id="4" name="Slide Number Placeholder 3">
            <a:extLst>
              <a:ext uri="{FF2B5EF4-FFF2-40B4-BE49-F238E27FC236}">
                <a16:creationId xmlns:a16="http://schemas.microsoft.com/office/drawing/2014/main" id="{4955E3C7-63E2-4E89-C297-0B8A85FF5715}"/>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2</a:t>
            </a:fld>
            <a:endParaRPr lang="en-US" dirty="0"/>
          </a:p>
        </p:txBody>
      </p:sp>
    </p:spTree>
    <p:extLst>
      <p:ext uri="{BB962C8B-B14F-4D97-AF65-F5344CB8AC3E}">
        <p14:creationId xmlns:p14="http://schemas.microsoft.com/office/powerpoint/2010/main" val="5346800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08A7D-20AE-FA7F-79A8-137EC8417D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7D8B8D-13EB-9DEC-58DC-0A91EC5A0420}"/>
              </a:ext>
            </a:extLst>
          </p:cNvPr>
          <p:cNvSpPr>
            <a:spLocks noGrp="1"/>
          </p:cNvSpPr>
          <p:nvPr>
            <p:ph type="title"/>
          </p:nvPr>
        </p:nvSpPr>
        <p:spPr>
          <a:xfrm>
            <a:off x="1261872" y="365760"/>
            <a:ext cx="9692640" cy="658707"/>
          </a:xfrm>
        </p:spPr>
        <p:txBody>
          <a:bodyPr>
            <a:normAutofit fontScale="90000"/>
          </a:bodyPr>
          <a:lstStyle/>
          <a:p>
            <a:r>
              <a:rPr lang="en-US" dirty="0"/>
              <a:t>Background</a:t>
            </a:r>
          </a:p>
        </p:txBody>
      </p:sp>
      <p:sp>
        <p:nvSpPr>
          <p:cNvPr id="3" name="Content Placeholder 2">
            <a:extLst>
              <a:ext uri="{FF2B5EF4-FFF2-40B4-BE49-F238E27FC236}">
                <a16:creationId xmlns:a16="http://schemas.microsoft.com/office/drawing/2014/main" id="{63FB0C02-80CC-753C-8B98-8A235EE4A898}"/>
              </a:ext>
            </a:extLst>
          </p:cNvPr>
          <p:cNvSpPr>
            <a:spLocks noGrp="1"/>
          </p:cNvSpPr>
          <p:nvPr>
            <p:ph idx="4294967295"/>
          </p:nvPr>
        </p:nvSpPr>
        <p:spPr>
          <a:xfrm>
            <a:off x="1261872" y="1261872"/>
            <a:ext cx="10360152" cy="5504053"/>
          </a:xfrm>
        </p:spPr>
        <p:txBody>
          <a:bodyPr>
            <a:normAutofit/>
          </a:bodyPr>
          <a:lstStyle/>
          <a:p>
            <a:pPr>
              <a:spcBef>
                <a:spcPts val="0"/>
              </a:spcBef>
            </a:pPr>
            <a:r>
              <a:rPr lang="en-US" dirty="0"/>
              <a:t>Hungarian is an </a:t>
            </a:r>
            <a:r>
              <a:rPr lang="en-US" b="1" dirty="0"/>
              <a:t>agglutinative</a:t>
            </a:r>
            <a:r>
              <a:rPr lang="en-US" dirty="0"/>
              <a:t> language with a relatively </a:t>
            </a:r>
            <a:r>
              <a:rPr lang="en-US" b="1" dirty="0"/>
              <a:t>free</a:t>
            </a:r>
            <a:r>
              <a:rPr lang="en-US" dirty="0"/>
              <a:t> word order</a:t>
            </a:r>
          </a:p>
          <a:p>
            <a:pPr>
              <a:spcBef>
                <a:spcPts val="0"/>
              </a:spcBef>
            </a:pPr>
            <a:r>
              <a:rPr lang="en-US" dirty="0"/>
              <a:t>There is one important place in a sentence: </a:t>
            </a:r>
            <a:r>
              <a:rPr lang="en-US" b="1" dirty="0"/>
              <a:t>the focus position</a:t>
            </a:r>
          </a:p>
          <a:p>
            <a:pPr>
              <a:spcBef>
                <a:spcPts val="0"/>
              </a:spcBef>
            </a:pPr>
            <a:r>
              <a:rPr lang="en-US" dirty="0"/>
              <a:t>Focus comes before the verb; they are always together: </a:t>
            </a:r>
            <a:r>
              <a:rPr lang="en-US" b="1" dirty="0"/>
              <a:t>focus + verb</a:t>
            </a:r>
            <a:br>
              <a:rPr lang="en-US" dirty="0"/>
            </a:br>
            <a:endParaRPr lang="en-US" dirty="0"/>
          </a:p>
          <a:p>
            <a:pPr marL="0" indent="0">
              <a:spcBef>
                <a:spcPts val="0"/>
              </a:spcBef>
              <a:buNone/>
            </a:pPr>
            <a:r>
              <a:rPr lang="en-US" dirty="0"/>
              <a:t>	A </a:t>
            </a:r>
            <a:r>
              <a:rPr lang="hu-HU" dirty="0"/>
              <a:t>barátom kínaiul tanul Hongkongban.</a:t>
            </a:r>
          </a:p>
          <a:p>
            <a:pPr marL="0" indent="0">
              <a:spcBef>
                <a:spcPts val="0"/>
              </a:spcBef>
              <a:buNone/>
            </a:pPr>
            <a:r>
              <a:rPr lang="en-US" dirty="0"/>
              <a:t>	</a:t>
            </a:r>
            <a:r>
              <a:rPr lang="hu-HU" dirty="0"/>
              <a:t>A barátom Hongkongban tanul kínaiul.</a:t>
            </a:r>
          </a:p>
          <a:p>
            <a:pPr marL="0" indent="0">
              <a:spcBef>
                <a:spcPts val="0"/>
              </a:spcBef>
              <a:buNone/>
            </a:pPr>
            <a:r>
              <a:rPr lang="en-US" dirty="0"/>
              <a:t>	</a:t>
            </a:r>
            <a:r>
              <a:rPr lang="hu-HU" dirty="0"/>
              <a:t>A barátom tanul kínaiul Hongkongban</a:t>
            </a:r>
            <a:r>
              <a:rPr lang="en-US" dirty="0"/>
              <a:t>.</a:t>
            </a:r>
          </a:p>
        </p:txBody>
      </p:sp>
      <p:sp>
        <p:nvSpPr>
          <p:cNvPr id="4" name="Slide Number Placeholder 3">
            <a:extLst>
              <a:ext uri="{FF2B5EF4-FFF2-40B4-BE49-F238E27FC236}">
                <a16:creationId xmlns:a16="http://schemas.microsoft.com/office/drawing/2014/main" id="{F71971B4-A851-5B5D-1698-EB8818BF9DFF}"/>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3</a:t>
            </a:fld>
            <a:endParaRPr lang="en-US" dirty="0"/>
          </a:p>
        </p:txBody>
      </p:sp>
    </p:spTree>
    <p:extLst>
      <p:ext uri="{BB962C8B-B14F-4D97-AF65-F5344CB8AC3E}">
        <p14:creationId xmlns:p14="http://schemas.microsoft.com/office/powerpoint/2010/main" val="19055648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F5033-F581-5D6A-9D90-FE572A7BDB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1B87EE-DA53-5519-C64C-9D7FDED526F7}"/>
              </a:ext>
            </a:extLst>
          </p:cNvPr>
          <p:cNvSpPr>
            <a:spLocks noGrp="1"/>
          </p:cNvSpPr>
          <p:nvPr>
            <p:ph type="title"/>
          </p:nvPr>
        </p:nvSpPr>
        <p:spPr>
          <a:xfrm>
            <a:off x="1261872" y="365760"/>
            <a:ext cx="9692640" cy="658707"/>
          </a:xfrm>
        </p:spPr>
        <p:txBody>
          <a:bodyPr>
            <a:normAutofit fontScale="90000"/>
          </a:bodyPr>
          <a:lstStyle/>
          <a:p>
            <a:r>
              <a:rPr lang="en-US" dirty="0"/>
              <a:t>Background</a:t>
            </a:r>
          </a:p>
        </p:txBody>
      </p:sp>
      <p:sp>
        <p:nvSpPr>
          <p:cNvPr id="3" name="Content Placeholder 2">
            <a:extLst>
              <a:ext uri="{FF2B5EF4-FFF2-40B4-BE49-F238E27FC236}">
                <a16:creationId xmlns:a16="http://schemas.microsoft.com/office/drawing/2014/main" id="{A280B563-7B63-769D-B628-CE4AC0ABFA7D}"/>
              </a:ext>
            </a:extLst>
          </p:cNvPr>
          <p:cNvSpPr>
            <a:spLocks noGrp="1"/>
          </p:cNvSpPr>
          <p:nvPr>
            <p:ph idx="4294967295"/>
          </p:nvPr>
        </p:nvSpPr>
        <p:spPr>
          <a:xfrm>
            <a:off x="1261872" y="1261872"/>
            <a:ext cx="10360152" cy="5504053"/>
          </a:xfrm>
        </p:spPr>
        <p:txBody>
          <a:bodyPr>
            <a:normAutofit/>
          </a:bodyPr>
          <a:lstStyle/>
          <a:p>
            <a:pPr>
              <a:spcBef>
                <a:spcPts val="0"/>
              </a:spcBef>
            </a:pPr>
            <a:r>
              <a:rPr lang="en-US" dirty="0"/>
              <a:t>Hungarian is an </a:t>
            </a:r>
            <a:r>
              <a:rPr lang="en-US" b="1" dirty="0"/>
              <a:t>agglutinative</a:t>
            </a:r>
            <a:r>
              <a:rPr lang="en-US" dirty="0"/>
              <a:t> language with a relatively </a:t>
            </a:r>
            <a:r>
              <a:rPr lang="en-US" b="1" dirty="0"/>
              <a:t>free</a:t>
            </a:r>
            <a:r>
              <a:rPr lang="en-US" dirty="0"/>
              <a:t> word order</a:t>
            </a:r>
          </a:p>
          <a:p>
            <a:pPr>
              <a:spcBef>
                <a:spcPts val="0"/>
              </a:spcBef>
            </a:pPr>
            <a:r>
              <a:rPr lang="en-US" dirty="0"/>
              <a:t>There is one important place in a sentence: </a:t>
            </a:r>
            <a:r>
              <a:rPr lang="en-US" b="1" dirty="0"/>
              <a:t>the focus position</a:t>
            </a:r>
          </a:p>
          <a:p>
            <a:pPr>
              <a:spcBef>
                <a:spcPts val="0"/>
              </a:spcBef>
            </a:pPr>
            <a:r>
              <a:rPr lang="en-US" dirty="0"/>
              <a:t>Focus comes before the verb; they are always together: </a:t>
            </a:r>
            <a:r>
              <a:rPr lang="en-US" b="1" dirty="0"/>
              <a:t>focus + verb</a:t>
            </a:r>
            <a:br>
              <a:rPr lang="en-US" dirty="0"/>
            </a:br>
            <a:endParaRPr lang="en-US" dirty="0"/>
          </a:p>
          <a:p>
            <a:pPr marL="0" indent="0">
              <a:spcBef>
                <a:spcPts val="0"/>
              </a:spcBef>
              <a:buNone/>
            </a:pPr>
            <a:r>
              <a:rPr lang="en-US" dirty="0"/>
              <a:t>	A </a:t>
            </a:r>
            <a:r>
              <a:rPr lang="hu-HU" dirty="0"/>
              <a:t>barátom kínaiul tanul Hongkongban.</a:t>
            </a:r>
          </a:p>
          <a:p>
            <a:pPr marL="0" indent="0">
              <a:spcBef>
                <a:spcPts val="0"/>
              </a:spcBef>
              <a:buNone/>
            </a:pPr>
            <a:r>
              <a:rPr lang="en-US" dirty="0"/>
              <a:t>	</a:t>
            </a:r>
            <a:r>
              <a:rPr lang="hu-HU" dirty="0"/>
              <a:t>A barátom Hongkongban tanul kínaiul.</a:t>
            </a:r>
          </a:p>
          <a:p>
            <a:pPr marL="0" indent="0">
              <a:spcBef>
                <a:spcPts val="0"/>
              </a:spcBef>
              <a:buNone/>
            </a:pPr>
            <a:r>
              <a:rPr lang="en-US" dirty="0"/>
              <a:t>	</a:t>
            </a:r>
            <a:r>
              <a:rPr lang="hu-HU" dirty="0"/>
              <a:t>A barátom tanul kínaiul Hongkongban</a:t>
            </a:r>
            <a:r>
              <a:rPr lang="en-US" dirty="0"/>
              <a:t>.</a:t>
            </a:r>
          </a:p>
          <a:p>
            <a:pPr marL="0" indent="0" algn="ctr">
              <a:spcBef>
                <a:spcPts val="0"/>
              </a:spcBef>
              <a:buNone/>
            </a:pPr>
            <a:endParaRPr lang="en-US" dirty="0"/>
          </a:p>
          <a:p>
            <a:pPr marL="0" indent="0">
              <a:spcBef>
                <a:spcPts val="0"/>
              </a:spcBef>
              <a:buNone/>
            </a:pPr>
            <a:r>
              <a:rPr lang="en-US" sz="2400" dirty="0"/>
              <a:t>A </a:t>
            </a:r>
            <a:r>
              <a:rPr lang="hu-HU" sz="2400" dirty="0"/>
              <a:t>barátom	</a:t>
            </a:r>
            <a:r>
              <a:rPr lang="en-US" sz="2400" dirty="0"/>
              <a:t>	</a:t>
            </a:r>
            <a:r>
              <a:rPr lang="hu-HU" sz="2400" dirty="0"/>
              <a:t>kínaiul		</a:t>
            </a:r>
            <a:r>
              <a:rPr lang="en-US" sz="2400" dirty="0"/>
              <a:t>	</a:t>
            </a:r>
            <a:r>
              <a:rPr lang="hu-HU" sz="2400" dirty="0"/>
              <a:t>tanul	</a:t>
            </a:r>
            <a:r>
              <a:rPr lang="en-US" sz="2400" dirty="0"/>
              <a:t>	</a:t>
            </a:r>
            <a:r>
              <a:rPr lang="hu-HU" sz="2400" dirty="0"/>
              <a:t>Hongkongban.</a:t>
            </a:r>
          </a:p>
          <a:p>
            <a:pPr marL="0" indent="0">
              <a:spcBef>
                <a:spcPts val="0"/>
              </a:spcBef>
              <a:buNone/>
            </a:pPr>
            <a:r>
              <a:rPr lang="en-US" sz="2400" dirty="0"/>
              <a:t>the friend-1SG.POSS	Chinese-ESSIVE	studies		Hong Kong-INESS</a:t>
            </a:r>
          </a:p>
          <a:p>
            <a:pPr marL="0" indent="0">
              <a:spcBef>
                <a:spcPts val="0"/>
              </a:spcBef>
              <a:buNone/>
            </a:pPr>
            <a:r>
              <a:rPr lang="en-US" sz="2400" i="1" dirty="0"/>
              <a:t>My friend studies Chinese in Hong Kong.</a:t>
            </a:r>
            <a:endParaRPr lang="hu-HU" sz="2400" i="1" dirty="0"/>
          </a:p>
        </p:txBody>
      </p:sp>
      <p:sp>
        <p:nvSpPr>
          <p:cNvPr id="4" name="Slide Number Placeholder 3">
            <a:extLst>
              <a:ext uri="{FF2B5EF4-FFF2-40B4-BE49-F238E27FC236}">
                <a16:creationId xmlns:a16="http://schemas.microsoft.com/office/drawing/2014/main" id="{E607994A-BBB0-35B8-1CF5-1C8D2B98BA22}"/>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4</a:t>
            </a:fld>
            <a:endParaRPr lang="en-US" dirty="0"/>
          </a:p>
        </p:txBody>
      </p:sp>
    </p:spTree>
    <p:extLst>
      <p:ext uri="{BB962C8B-B14F-4D97-AF65-F5344CB8AC3E}">
        <p14:creationId xmlns:p14="http://schemas.microsoft.com/office/powerpoint/2010/main" val="243242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5AC7A-2FD1-A525-0A5C-840CBBCEDF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8F55B7-6D03-683D-D3AB-CD5DBAF1BBEA}"/>
              </a:ext>
            </a:extLst>
          </p:cNvPr>
          <p:cNvSpPr>
            <a:spLocks noGrp="1"/>
          </p:cNvSpPr>
          <p:nvPr>
            <p:ph type="title"/>
          </p:nvPr>
        </p:nvSpPr>
        <p:spPr>
          <a:xfrm>
            <a:off x="1261872" y="365760"/>
            <a:ext cx="9692640" cy="658707"/>
          </a:xfrm>
        </p:spPr>
        <p:txBody>
          <a:bodyPr>
            <a:normAutofit fontScale="90000"/>
          </a:bodyPr>
          <a:lstStyle/>
          <a:p>
            <a:r>
              <a:rPr lang="en-US" dirty="0"/>
              <a:t>Background</a:t>
            </a:r>
          </a:p>
        </p:txBody>
      </p:sp>
      <p:sp>
        <p:nvSpPr>
          <p:cNvPr id="3" name="Content Placeholder 2">
            <a:extLst>
              <a:ext uri="{FF2B5EF4-FFF2-40B4-BE49-F238E27FC236}">
                <a16:creationId xmlns:a16="http://schemas.microsoft.com/office/drawing/2014/main" id="{32163E5D-691C-86BB-8D93-3E54AC7168B2}"/>
              </a:ext>
            </a:extLst>
          </p:cNvPr>
          <p:cNvSpPr>
            <a:spLocks noGrp="1"/>
          </p:cNvSpPr>
          <p:nvPr>
            <p:ph idx="4294967295"/>
          </p:nvPr>
        </p:nvSpPr>
        <p:spPr>
          <a:xfrm>
            <a:off x="1261872" y="1261872"/>
            <a:ext cx="10360152" cy="5504053"/>
          </a:xfrm>
        </p:spPr>
        <p:txBody>
          <a:bodyPr>
            <a:normAutofit/>
          </a:bodyPr>
          <a:lstStyle/>
          <a:p>
            <a:pPr>
              <a:spcBef>
                <a:spcPts val="0"/>
              </a:spcBef>
            </a:pPr>
            <a:r>
              <a:rPr lang="en-US" dirty="0"/>
              <a:t>Hungarian is an </a:t>
            </a:r>
            <a:r>
              <a:rPr lang="en-US" b="1" dirty="0"/>
              <a:t>agglutinative</a:t>
            </a:r>
            <a:r>
              <a:rPr lang="en-US" dirty="0"/>
              <a:t> language with a relatively </a:t>
            </a:r>
            <a:r>
              <a:rPr lang="en-US" b="1" dirty="0"/>
              <a:t>free</a:t>
            </a:r>
            <a:r>
              <a:rPr lang="en-US" dirty="0"/>
              <a:t> word order</a:t>
            </a:r>
          </a:p>
          <a:p>
            <a:pPr>
              <a:spcBef>
                <a:spcPts val="0"/>
              </a:spcBef>
            </a:pPr>
            <a:r>
              <a:rPr lang="en-US" dirty="0"/>
              <a:t>There is one important place in a sentence: </a:t>
            </a:r>
            <a:r>
              <a:rPr lang="en-US" b="1" dirty="0"/>
              <a:t>the focus position</a:t>
            </a:r>
          </a:p>
          <a:p>
            <a:pPr>
              <a:spcBef>
                <a:spcPts val="0"/>
              </a:spcBef>
            </a:pPr>
            <a:r>
              <a:rPr lang="en-US" dirty="0"/>
              <a:t>Focus comes before the verb; they are always together: </a:t>
            </a:r>
            <a:r>
              <a:rPr lang="en-US" b="1" dirty="0"/>
              <a:t>focus + </a:t>
            </a:r>
            <a:r>
              <a:rPr lang="en-US" b="1" dirty="0">
                <a:solidFill>
                  <a:schemeClr val="accent4"/>
                </a:solidFill>
              </a:rPr>
              <a:t>verb</a:t>
            </a:r>
            <a:br>
              <a:rPr lang="en-US" dirty="0"/>
            </a:br>
            <a:endParaRPr lang="en-US" dirty="0"/>
          </a:p>
          <a:p>
            <a:pPr marL="0" indent="0">
              <a:spcBef>
                <a:spcPts val="0"/>
              </a:spcBef>
              <a:buNone/>
            </a:pPr>
            <a:r>
              <a:rPr lang="en-US" dirty="0"/>
              <a:t>	A </a:t>
            </a:r>
            <a:r>
              <a:rPr lang="hu-HU" dirty="0"/>
              <a:t>barátom kínaiul </a:t>
            </a:r>
            <a:r>
              <a:rPr lang="hu-HU" dirty="0">
                <a:solidFill>
                  <a:schemeClr val="accent4"/>
                </a:solidFill>
              </a:rPr>
              <a:t>tanul</a:t>
            </a:r>
            <a:r>
              <a:rPr lang="hu-HU" dirty="0"/>
              <a:t> Hongkongban.</a:t>
            </a:r>
          </a:p>
          <a:p>
            <a:pPr marL="0" indent="0">
              <a:spcBef>
                <a:spcPts val="0"/>
              </a:spcBef>
              <a:buNone/>
            </a:pPr>
            <a:r>
              <a:rPr lang="en-US" dirty="0"/>
              <a:t>	</a:t>
            </a:r>
            <a:r>
              <a:rPr lang="hu-HU" dirty="0"/>
              <a:t>A barátom Hongkongban </a:t>
            </a:r>
            <a:r>
              <a:rPr lang="hu-HU" dirty="0">
                <a:solidFill>
                  <a:schemeClr val="accent4"/>
                </a:solidFill>
              </a:rPr>
              <a:t>tanul</a:t>
            </a:r>
            <a:r>
              <a:rPr lang="hu-HU" dirty="0"/>
              <a:t> kínaiul.</a:t>
            </a:r>
          </a:p>
          <a:p>
            <a:pPr marL="0" indent="0">
              <a:spcBef>
                <a:spcPts val="0"/>
              </a:spcBef>
              <a:buNone/>
            </a:pPr>
            <a:r>
              <a:rPr lang="en-US" dirty="0"/>
              <a:t>	</a:t>
            </a:r>
            <a:r>
              <a:rPr lang="hu-HU" dirty="0"/>
              <a:t>A barátom </a:t>
            </a:r>
            <a:r>
              <a:rPr lang="hu-HU" dirty="0">
                <a:solidFill>
                  <a:schemeClr val="accent4"/>
                </a:solidFill>
              </a:rPr>
              <a:t>tanul</a:t>
            </a:r>
            <a:r>
              <a:rPr lang="hu-HU" dirty="0"/>
              <a:t> kínaiul Hongkongban</a:t>
            </a:r>
            <a:r>
              <a:rPr lang="en-US" dirty="0"/>
              <a:t>.</a:t>
            </a:r>
          </a:p>
          <a:p>
            <a:pPr marL="0" indent="0" algn="ctr">
              <a:spcBef>
                <a:spcPts val="0"/>
              </a:spcBef>
              <a:buNone/>
            </a:pPr>
            <a:endParaRPr lang="en-US" dirty="0"/>
          </a:p>
          <a:p>
            <a:pPr marL="0" indent="0">
              <a:spcBef>
                <a:spcPts val="0"/>
              </a:spcBef>
              <a:buNone/>
            </a:pPr>
            <a:r>
              <a:rPr lang="en-US" sz="2400" dirty="0"/>
              <a:t>A </a:t>
            </a:r>
            <a:r>
              <a:rPr lang="hu-HU" sz="2400" dirty="0"/>
              <a:t>barátom	</a:t>
            </a:r>
            <a:r>
              <a:rPr lang="en-US" sz="2400" dirty="0"/>
              <a:t>	</a:t>
            </a:r>
            <a:r>
              <a:rPr lang="hu-HU" sz="2400" dirty="0"/>
              <a:t>kínaiul		</a:t>
            </a:r>
            <a:r>
              <a:rPr lang="en-US" sz="2400" dirty="0"/>
              <a:t>	</a:t>
            </a:r>
            <a:r>
              <a:rPr lang="hu-HU" sz="2400" dirty="0">
                <a:solidFill>
                  <a:schemeClr val="accent4"/>
                </a:solidFill>
              </a:rPr>
              <a:t>tanul</a:t>
            </a:r>
            <a:r>
              <a:rPr lang="hu-HU" sz="2400" dirty="0"/>
              <a:t>	</a:t>
            </a:r>
            <a:r>
              <a:rPr lang="en-US" sz="2400" dirty="0"/>
              <a:t>	</a:t>
            </a:r>
            <a:r>
              <a:rPr lang="hu-HU" sz="2400" dirty="0"/>
              <a:t>Hongkongban.</a:t>
            </a:r>
          </a:p>
          <a:p>
            <a:pPr marL="0" indent="0">
              <a:spcBef>
                <a:spcPts val="0"/>
              </a:spcBef>
              <a:buNone/>
            </a:pPr>
            <a:r>
              <a:rPr lang="en-US" sz="2400" dirty="0"/>
              <a:t>the friend-1SG.POSS	Chinese-ESSIVE	studies		Hong Kong-INESS</a:t>
            </a:r>
          </a:p>
          <a:p>
            <a:pPr marL="0" indent="0">
              <a:spcBef>
                <a:spcPts val="0"/>
              </a:spcBef>
              <a:buNone/>
            </a:pPr>
            <a:r>
              <a:rPr lang="en-US" sz="2400" i="1" dirty="0"/>
              <a:t>My friend studies Chinese in Hong Kong.</a:t>
            </a:r>
            <a:endParaRPr lang="hu-HU" sz="2400" i="1" dirty="0"/>
          </a:p>
        </p:txBody>
      </p:sp>
      <p:sp>
        <p:nvSpPr>
          <p:cNvPr id="4" name="Slide Number Placeholder 3">
            <a:extLst>
              <a:ext uri="{FF2B5EF4-FFF2-40B4-BE49-F238E27FC236}">
                <a16:creationId xmlns:a16="http://schemas.microsoft.com/office/drawing/2014/main" id="{C3EB5931-1F65-4E33-7BF2-732334B3D9C9}"/>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5</a:t>
            </a:fld>
            <a:endParaRPr lang="en-US" dirty="0"/>
          </a:p>
        </p:txBody>
      </p:sp>
    </p:spTree>
    <p:extLst>
      <p:ext uri="{BB962C8B-B14F-4D97-AF65-F5344CB8AC3E}">
        <p14:creationId xmlns:p14="http://schemas.microsoft.com/office/powerpoint/2010/main" val="4284684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0B162-8C25-C766-6D50-9372E2228F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4EF49D-0FFA-049A-4D04-9CD6F4EE2821}"/>
              </a:ext>
            </a:extLst>
          </p:cNvPr>
          <p:cNvSpPr>
            <a:spLocks noGrp="1"/>
          </p:cNvSpPr>
          <p:nvPr>
            <p:ph type="title"/>
          </p:nvPr>
        </p:nvSpPr>
        <p:spPr>
          <a:xfrm>
            <a:off x="1261872" y="365760"/>
            <a:ext cx="9692640" cy="658707"/>
          </a:xfrm>
        </p:spPr>
        <p:txBody>
          <a:bodyPr>
            <a:normAutofit fontScale="90000"/>
          </a:bodyPr>
          <a:lstStyle/>
          <a:p>
            <a:r>
              <a:rPr lang="en-US" dirty="0"/>
              <a:t>Background</a:t>
            </a:r>
          </a:p>
        </p:txBody>
      </p:sp>
      <p:sp>
        <p:nvSpPr>
          <p:cNvPr id="3" name="Content Placeholder 2">
            <a:extLst>
              <a:ext uri="{FF2B5EF4-FFF2-40B4-BE49-F238E27FC236}">
                <a16:creationId xmlns:a16="http://schemas.microsoft.com/office/drawing/2014/main" id="{BFB50B9F-4E39-E6B5-019D-A04D318C41BD}"/>
              </a:ext>
            </a:extLst>
          </p:cNvPr>
          <p:cNvSpPr>
            <a:spLocks noGrp="1"/>
          </p:cNvSpPr>
          <p:nvPr>
            <p:ph idx="4294967295"/>
          </p:nvPr>
        </p:nvSpPr>
        <p:spPr>
          <a:xfrm>
            <a:off x="1261872" y="1261872"/>
            <a:ext cx="10360152" cy="5504053"/>
          </a:xfrm>
        </p:spPr>
        <p:txBody>
          <a:bodyPr>
            <a:normAutofit/>
          </a:bodyPr>
          <a:lstStyle/>
          <a:p>
            <a:pPr>
              <a:spcBef>
                <a:spcPts val="0"/>
              </a:spcBef>
            </a:pPr>
            <a:r>
              <a:rPr lang="en-US" dirty="0"/>
              <a:t>Hungarian is an </a:t>
            </a:r>
            <a:r>
              <a:rPr lang="en-US" b="1" dirty="0"/>
              <a:t>agglutinative</a:t>
            </a:r>
            <a:r>
              <a:rPr lang="en-US" dirty="0"/>
              <a:t> language with a relatively </a:t>
            </a:r>
            <a:r>
              <a:rPr lang="en-US" b="1" dirty="0"/>
              <a:t>free</a:t>
            </a:r>
            <a:r>
              <a:rPr lang="en-US" dirty="0"/>
              <a:t> word order</a:t>
            </a:r>
          </a:p>
          <a:p>
            <a:pPr>
              <a:spcBef>
                <a:spcPts val="0"/>
              </a:spcBef>
            </a:pPr>
            <a:r>
              <a:rPr lang="en-US" dirty="0"/>
              <a:t>There is one important place in a sentence: </a:t>
            </a:r>
            <a:r>
              <a:rPr lang="en-US" b="1" dirty="0"/>
              <a:t>the focus position</a:t>
            </a:r>
          </a:p>
          <a:p>
            <a:pPr>
              <a:spcBef>
                <a:spcPts val="0"/>
              </a:spcBef>
            </a:pPr>
            <a:r>
              <a:rPr lang="en-US" dirty="0"/>
              <a:t>Focus comes before the verb; they are always together: </a:t>
            </a:r>
            <a:r>
              <a:rPr lang="en-US" b="1" dirty="0">
                <a:solidFill>
                  <a:schemeClr val="accent2"/>
                </a:solidFill>
              </a:rPr>
              <a:t>focus</a:t>
            </a:r>
            <a:r>
              <a:rPr lang="en-US" b="1" dirty="0"/>
              <a:t> + </a:t>
            </a:r>
            <a:r>
              <a:rPr lang="en-US" b="1" dirty="0">
                <a:solidFill>
                  <a:schemeClr val="accent4"/>
                </a:solidFill>
              </a:rPr>
              <a:t>verb</a:t>
            </a:r>
            <a:br>
              <a:rPr lang="en-US" dirty="0"/>
            </a:br>
            <a:endParaRPr lang="en-US" dirty="0"/>
          </a:p>
          <a:p>
            <a:pPr marL="0" indent="0">
              <a:spcBef>
                <a:spcPts val="0"/>
              </a:spcBef>
              <a:buNone/>
            </a:pPr>
            <a:r>
              <a:rPr lang="en-US" dirty="0"/>
              <a:t>	A </a:t>
            </a:r>
            <a:r>
              <a:rPr lang="hu-HU" dirty="0"/>
              <a:t>barátom </a:t>
            </a:r>
            <a:r>
              <a:rPr lang="hu-HU" dirty="0">
                <a:solidFill>
                  <a:schemeClr val="accent2"/>
                </a:solidFill>
              </a:rPr>
              <a:t>kínaiul</a:t>
            </a:r>
            <a:r>
              <a:rPr lang="hu-HU" dirty="0"/>
              <a:t> </a:t>
            </a:r>
            <a:r>
              <a:rPr lang="hu-HU" dirty="0">
                <a:solidFill>
                  <a:schemeClr val="accent4"/>
                </a:solidFill>
              </a:rPr>
              <a:t>tanul</a:t>
            </a:r>
            <a:r>
              <a:rPr lang="hu-HU" dirty="0"/>
              <a:t> Hongkongban.</a:t>
            </a:r>
          </a:p>
          <a:p>
            <a:pPr marL="0" indent="0">
              <a:spcBef>
                <a:spcPts val="0"/>
              </a:spcBef>
              <a:buNone/>
            </a:pPr>
            <a:r>
              <a:rPr lang="en-US" dirty="0"/>
              <a:t>	</a:t>
            </a:r>
            <a:r>
              <a:rPr lang="hu-HU" dirty="0"/>
              <a:t>A barátom </a:t>
            </a:r>
            <a:r>
              <a:rPr lang="hu-HU" dirty="0">
                <a:solidFill>
                  <a:schemeClr val="accent2"/>
                </a:solidFill>
              </a:rPr>
              <a:t>Hongkongban</a:t>
            </a:r>
            <a:r>
              <a:rPr lang="hu-HU" dirty="0"/>
              <a:t> </a:t>
            </a:r>
            <a:r>
              <a:rPr lang="hu-HU" dirty="0">
                <a:solidFill>
                  <a:schemeClr val="accent4"/>
                </a:solidFill>
              </a:rPr>
              <a:t>tanul</a:t>
            </a:r>
            <a:r>
              <a:rPr lang="hu-HU" dirty="0"/>
              <a:t> kínaiul.</a:t>
            </a:r>
          </a:p>
          <a:p>
            <a:pPr marL="0" indent="0">
              <a:spcBef>
                <a:spcPts val="0"/>
              </a:spcBef>
              <a:buNone/>
            </a:pPr>
            <a:r>
              <a:rPr lang="en-US" dirty="0"/>
              <a:t>	</a:t>
            </a:r>
            <a:r>
              <a:rPr lang="hu-HU" dirty="0"/>
              <a:t>A </a:t>
            </a:r>
            <a:r>
              <a:rPr lang="hu-HU" dirty="0">
                <a:solidFill>
                  <a:schemeClr val="accent2"/>
                </a:solidFill>
              </a:rPr>
              <a:t>barátom</a:t>
            </a:r>
            <a:r>
              <a:rPr lang="hu-HU" dirty="0"/>
              <a:t> </a:t>
            </a:r>
            <a:r>
              <a:rPr lang="hu-HU" dirty="0">
                <a:solidFill>
                  <a:schemeClr val="accent4"/>
                </a:solidFill>
              </a:rPr>
              <a:t>tanul</a:t>
            </a:r>
            <a:r>
              <a:rPr lang="hu-HU" dirty="0"/>
              <a:t> kínaiul Hongkongban</a:t>
            </a:r>
            <a:r>
              <a:rPr lang="en-US" dirty="0"/>
              <a:t>.</a:t>
            </a:r>
          </a:p>
          <a:p>
            <a:pPr marL="0" indent="0" algn="ctr">
              <a:spcBef>
                <a:spcPts val="0"/>
              </a:spcBef>
              <a:buNone/>
            </a:pPr>
            <a:endParaRPr lang="en-US" dirty="0"/>
          </a:p>
          <a:p>
            <a:pPr marL="0" indent="0">
              <a:spcBef>
                <a:spcPts val="0"/>
              </a:spcBef>
              <a:buNone/>
            </a:pPr>
            <a:r>
              <a:rPr lang="en-US" sz="2400" dirty="0"/>
              <a:t>A </a:t>
            </a:r>
            <a:r>
              <a:rPr lang="hu-HU" sz="2400" dirty="0">
                <a:solidFill>
                  <a:schemeClr val="accent2"/>
                </a:solidFill>
              </a:rPr>
              <a:t>barátom</a:t>
            </a:r>
            <a:r>
              <a:rPr lang="hu-HU" sz="2400" dirty="0"/>
              <a:t>	</a:t>
            </a:r>
            <a:r>
              <a:rPr lang="en-US" sz="2400" dirty="0"/>
              <a:t>	</a:t>
            </a:r>
            <a:r>
              <a:rPr lang="hu-HU" sz="2400" dirty="0">
                <a:solidFill>
                  <a:schemeClr val="accent2"/>
                </a:solidFill>
              </a:rPr>
              <a:t>kínaiul</a:t>
            </a:r>
            <a:r>
              <a:rPr lang="hu-HU" sz="2400" dirty="0"/>
              <a:t>		</a:t>
            </a:r>
            <a:r>
              <a:rPr lang="en-US" sz="2400" dirty="0"/>
              <a:t>	</a:t>
            </a:r>
            <a:r>
              <a:rPr lang="hu-HU" sz="2400" dirty="0">
                <a:solidFill>
                  <a:schemeClr val="accent4"/>
                </a:solidFill>
              </a:rPr>
              <a:t>tanul</a:t>
            </a:r>
            <a:r>
              <a:rPr lang="hu-HU" sz="2400" dirty="0"/>
              <a:t>	</a:t>
            </a:r>
            <a:r>
              <a:rPr lang="en-US" sz="2400" dirty="0"/>
              <a:t>	</a:t>
            </a:r>
            <a:r>
              <a:rPr lang="hu-HU" sz="2400" dirty="0">
                <a:solidFill>
                  <a:schemeClr val="accent2"/>
                </a:solidFill>
              </a:rPr>
              <a:t>Hongkongban</a:t>
            </a:r>
            <a:r>
              <a:rPr lang="hu-HU" sz="2400" dirty="0"/>
              <a:t>.</a:t>
            </a:r>
          </a:p>
          <a:p>
            <a:pPr marL="0" indent="0">
              <a:spcBef>
                <a:spcPts val="0"/>
              </a:spcBef>
              <a:buNone/>
            </a:pPr>
            <a:r>
              <a:rPr lang="en-US" sz="2400" dirty="0"/>
              <a:t>the friend-1SG.POSS	Chinese-ESSIVE	studies		Hong Kong-INESS</a:t>
            </a:r>
          </a:p>
          <a:p>
            <a:pPr marL="0" indent="0">
              <a:spcBef>
                <a:spcPts val="0"/>
              </a:spcBef>
              <a:buNone/>
            </a:pPr>
            <a:r>
              <a:rPr lang="en-US" sz="2400" i="1" dirty="0"/>
              <a:t>My friend studies Chinese in Hong Kong.</a:t>
            </a:r>
            <a:endParaRPr lang="hu-HU" sz="2400" i="1" dirty="0"/>
          </a:p>
        </p:txBody>
      </p:sp>
      <p:sp>
        <p:nvSpPr>
          <p:cNvPr id="4" name="Slide Number Placeholder 3">
            <a:extLst>
              <a:ext uri="{FF2B5EF4-FFF2-40B4-BE49-F238E27FC236}">
                <a16:creationId xmlns:a16="http://schemas.microsoft.com/office/drawing/2014/main" id="{B1553114-45A2-75EE-3625-391B4C73FCF9}"/>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6</a:t>
            </a:fld>
            <a:endParaRPr lang="en-US" dirty="0"/>
          </a:p>
        </p:txBody>
      </p:sp>
    </p:spTree>
    <p:extLst>
      <p:ext uri="{BB962C8B-B14F-4D97-AF65-F5344CB8AC3E}">
        <p14:creationId xmlns:p14="http://schemas.microsoft.com/office/powerpoint/2010/main" val="12527126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8451C-198F-432F-A928-0E8F87039A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2C1CC7-15FA-6404-80AF-4B05621C77DB}"/>
              </a:ext>
            </a:extLst>
          </p:cNvPr>
          <p:cNvSpPr>
            <a:spLocks noGrp="1"/>
          </p:cNvSpPr>
          <p:nvPr>
            <p:ph type="title"/>
          </p:nvPr>
        </p:nvSpPr>
        <p:spPr>
          <a:xfrm>
            <a:off x="1261872" y="365760"/>
            <a:ext cx="9692640" cy="658707"/>
          </a:xfrm>
        </p:spPr>
        <p:txBody>
          <a:bodyPr>
            <a:normAutofit fontScale="90000"/>
          </a:bodyPr>
          <a:lstStyle/>
          <a:p>
            <a:r>
              <a:rPr lang="en-US" dirty="0"/>
              <a:t>Background</a:t>
            </a:r>
          </a:p>
        </p:txBody>
      </p:sp>
      <p:sp>
        <p:nvSpPr>
          <p:cNvPr id="3" name="Content Placeholder 2">
            <a:extLst>
              <a:ext uri="{FF2B5EF4-FFF2-40B4-BE49-F238E27FC236}">
                <a16:creationId xmlns:a16="http://schemas.microsoft.com/office/drawing/2014/main" id="{AE7D2816-6E15-84F1-6A4B-AACAAB1E4B2F}"/>
              </a:ext>
            </a:extLst>
          </p:cNvPr>
          <p:cNvSpPr>
            <a:spLocks noGrp="1"/>
          </p:cNvSpPr>
          <p:nvPr>
            <p:ph idx="4294967295"/>
          </p:nvPr>
        </p:nvSpPr>
        <p:spPr>
          <a:xfrm>
            <a:off x="1261872" y="1261872"/>
            <a:ext cx="10360152" cy="5504053"/>
          </a:xfrm>
        </p:spPr>
        <p:txBody>
          <a:bodyPr>
            <a:normAutofit/>
          </a:bodyPr>
          <a:lstStyle/>
          <a:p>
            <a:pPr>
              <a:spcBef>
                <a:spcPts val="0"/>
              </a:spcBef>
            </a:pPr>
            <a:r>
              <a:rPr lang="en-US" dirty="0"/>
              <a:t>Hungarian is an </a:t>
            </a:r>
            <a:r>
              <a:rPr lang="en-US" b="1" dirty="0"/>
              <a:t>agglutinative</a:t>
            </a:r>
            <a:r>
              <a:rPr lang="en-US" dirty="0"/>
              <a:t> language with a relatively </a:t>
            </a:r>
            <a:r>
              <a:rPr lang="en-US" b="1" dirty="0"/>
              <a:t>free</a:t>
            </a:r>
            <a:r>
              <a:rPr lang="en-US" dirty="0"/>
              <a:t> word order</a:t>
            </a:r>
          </a:p>
          <a:p>
            <a:pPr>
              <a:spcBef>
                <a:spcPts val="0"/>
              </a:spcBef>
            </a:pPr>
            <a:r>
              <a:rPr lang="en-US" dirty="0"/>
              <a:t>There is one important place in a sentence: </a:t>
            </a:r>
            <a:r>
              <a:rPr lang="en-US" b="1" dirty="0"/>
              <a:t>the focus position</a:t>
            </a:r>
          </a:p>
          <a:p>
            <a:pPr>
              <a:spcBef>
                <a:spcPts val="0"/>
              </a:spcBef>
            </a:pPr>
            <a:r>
              <a:rPr lang="en-US" dirty="0"/>
              <a:t>Focus comes before the verb; they are always together: </a:t>
            </a:r>
            <a:r>
              <a:rPr lang="en-US" b="1" dirty="0">
                <a:solidFill>
                  <a:schemeClr val="accent2"/>
                </a:solidFill>
              </a:rPr>
              <a:t>focus</a:t>
            </a:r>
            <a:r>
              <a:rPr lang="en-US" b="1" dirty="0"/>
              <a:t> + </a:t>
            </a:r>
            <a:r>
              <a:rPr lang="en-US" b="1" dirty="0">
                <a:solidFill>
                  <a:schemeClr val="accent4"/>
                </a:solidFill>
              </a:rPr>
              <a:t>verb</a:t>
            </a:r>
            <a:br>
              <a:rPr lang="en-US" dirty="0"/>
            </a:br>
            <a:endParaRPr lang="en-US" dirty="0"/>
          </a:p>
          <a:p>
            <a:pPr marL="0" indent="0">
              <a:spcBef>
                <a:spcPts val="0"/>
              </a:spcBef>
              <a:buNone/>
            </a:pPr>
            <a:r>
              <a:rPr lang="en-US" dirty="0"/>
              <a:t>	A </a:t>
            </a:r>
            <a:r>
              <a:rPr lang="hu-HU" dirty="0"/>
              <a:t>barátom </a:t>
            </a:r>
            <a:r>
              <a:rPr lang="hu-HU" dirty="0">
                <a:solidFill>
                  <a:schemeClr val="accent2"/>
                </a:solidFill>
              </a:rPr>
              <a:t>kínaiul</a:t>
            </a:r>
            <a:r>
              <a:rPr lang="hu-HU" dirty="0"/>
              <a:t> </a:t>
            </a:r>
            <a:r>
              <a:rPr lang="hu-HU" dirty="0">
                <a:solidFill>
                  <a:schemeClr val="accent4"/>
                </a:solidFill>
              </a:rPr>
              <a:t>tanul</a:t>
            </a:r>
            <a:r>
              <a:rPr lang="hu-HU" dirty="0"/>
              <a:t> Hongkongban.</a:t>
            </a:r>
            <a:r>
              <a:rPr lang="en-US" dirty="0"/>
              <a:t> 	(Not Hungarian)</a:t>
            </a:r>
            <a:endParaRPr lang="hu-HU" dirty="0"/>
          </a:p>
          <a:p>
            <a:pPr marL="0" indent="0">
              <a:spcBef>
                <a:spcPts val="0"/>
              </a:spcBef>
              <a:buNone/>
            </a:pPr>
            <a:r>
              <a:rPr lang="en-US" dirty="0"/>
              <a:t>	</a:t>
            </a:r>
            <a:r>
              <a:rPr lang="hu-HU" dirty="0"/>
              <a:t>A barátom </a:t>
            </a:r>
            <a:r>
              <a:rPr lang="hu-HU" dirty="0">
                <a:solidFill>
                  <a:schemeClr val="accent2"/>
                </a:solidFill>
              </a:rPr>
              <a:t>Hongkongban</a:t>
            </a:r>
            <a:r>
              <a:rPr lang="hu-HU" dirty="0"/>
              <a:t> </a:t>
            </a:r>
            <a:r>
              <a:rPr lang="hu-HU" dirty="0">
                <a:solidFill>
                  <a:schemeClr val="accent4"/>
                </a:solidFill>
              </a:rPr>
              <a:t>tanul</a:t>
            </a:r>
            <a:r>
              <a:rPr lang="hu-HU" dirty="0"/>
              <a:t> kínaiul.</a:t>
            </a:r>
            <a:r>
              <a:rPr lang="en-US" dirty="0"/>
              <a:t> 	(Not in Budapest)</a:t>
            </a:r>
            <a:endParaRPr lang="hu-HU" dirty="0"/>
          </a:p>
          <a:p>
            <a:pPr marL="0" indent="0">
              <a:spcBef>
                <a:spcPts val="0"/>
              </a:spcBef>
              <a:buNone/>
            </a:pPr>
            <a:r>
              <a:rPr lang="en-US" dirty="0"/>
              <a:t>	</a:t>
            </a:r>
            <a:r>
              <a:rPr lang="hu-HU" dirty="0"/>
              <a:t>A </a:t>
            </a:r>
            <a:r>
              <a:rPr lang="hu-HU" dirty="0">
                <a:solidFill>
                  <a:schemeClr val="accent2"/>
                </a:solidFill>
              </a:rPr>
              <a:t>barátom</a:t>
            </a:r>
            <a:r>
              <a:rPr lang="hu-HU" dirty="0"/>
              <a:t> </a:t>
            </a:r>
            <a:r>
              <a:rPr lang="hu-HU" dirty="0">
                <a:solidFill>
                  <a:schemeClr val="accent4"/>
                </a:solidFill>
              </a:rPr>
              <a:t>tanul</a:t>
            </a:r>
            <a:r>
              <a:rPr lang="hu-HU" dirty="0"/>
              <a:t> kínaiul Hongkongban</a:t>
            </a:r>
            <a:r>
              <a:rPr lang="en-US" dirty="0"/>
              <a:t>. 	(Not me.)</a:t>
            </a:r>
          </a:p>
          <a:p>
            <a:pPr marL="0" indent="0" algn="ctr">
              <a:spcBef>
                <a:spcPts val="0"/>
              </a:spcBef>
              <a:buNone/>
            </a:pPr>
            <a:endParaRPr lang="en-US" dirty="0"/>
          </a:p>
          <a:p>
            <a:pPr marL="0" indent="0">
              <a:spcBef>
                <a:spcPts val="0"/>
              </a:spcBef>
              <a:buNone/>
            </a:pPr>
            <a:r>
              <a:rPr lang="en-US" sz="2400" dirty="0"/>
              <a:t>A </a:t>
            </a:r>
            <a:r>
              <a:rPr lang="hu-HU" sz="2400" dirty="0">
                <a:solidFill>
                  <a:schemeClr val="accent2"/>
                </a:solidFill>
              </a:rPr>
              <a:t>barátom</a:t>
            </a:r>
            <a:r>
              <a:rPr lang="hu-HU" sz="2400" dirty="0"/>
              <a:t>	</a:t>
            </a:r>
            <a:r>
              <a:rPr lang="en-US" sz="2400" dirty="0"/>
              <a:t>	</a:t>
            </a:r>
            <a:r>
              <a:rPr lang="hu-HU" sz="2400" dirty="0">
                <a:solidFill>
                  <a:schemeClr val="accent2"/>
                </a:solidFill>
              </a:rPr>
              <a:t>kínaiul</a:t>
            </a:r>
            <a:r>
              <a:rPr lang="hu-HU" sz="2400" dirty="0"/>
              <a:t>		</a:t>
            </a:r>
            <a:r>
              <a:rPr lang="en-US" sz="2400" dirty="0"/>
              <a:t>	</a:t>
            </a:r>
            <a:r>
              <a:rPr lang="hu-HU" sz="2400" dirty="0">
                <a:solidFill>
                  <a:schemeClr val="accent4"/>
                </a:solidFill>
              </a:rPr>
              <a:t>tanul</a:t>
            </a:r>
            <a:r>
              <a:rPr lang="hu-HU" sz="2400" dirty="0"/>
              <a:t>	</a:t>
            </a:r>
            <a:r>
              <a:rPr lang="en-US" sz="2400" dirty="0"/>
              <a:t>	</a:t>
            </a:r>
            <a:r>
              <a:rPr lang="hu-HU" sz="2400" dirty="0">
                <a:solidFill>
                  <a:schemeClr val="accent2"/>
                </a:solidFill>
              </a:rPr>
              <a:t>Hongkongban</a:t>
            </a:r>
            <a:r>
              <a:rPr lang="hu-HU" sz="2400" dirty="0"/>
              <a:t>.</a:t>
            </a:r>
          </a:p>
          <a:p>
            <a:pPr marL="0" indent="0">
              <a:spcBef>
                <a:spcPts val="0"/>
              </a:spcBef>
              <a:buNone/>
            </a:pPr>
            <a:r>
              <a:rPr lang="en-US" sz="2400" dirty="0"/>
              <a:t>the friend-1SG.POSS	Chinese-ESSIVE	studies		Hong Kong-INESS</a:t>
            </a:r>
          </a:p>
          <a:p>
            <a:pPr marL="0" indent="0">
              <a:spcBef>
                <a:spcPts val="0"/>
              </a:spcBef>
              <a:buNone/>
            </a:pPr>
            <a:r>
              <a:rPr lang="en-US" sz="2400" i="1" dirty="0"/>
              <a:t>My friend studies Chinese in Hong Kong.</a:t>
            </a:r>
            <a:endParaRPr lang="hu-HU" sz="2400" i="1" dirty="0"/>
          </a:p>
        </p:txBody>
      </p:sp>
      <p:sp>
        <p:nvSpPr>
          <p:cNvPr id="4" name="Slide Number Placeholder 3">
            <a:extLst>
              <a:ext uri="{FF2B5EF4-FFF2-40B4-BE49-F238E27FC236}">
                <a16:creationId xmlns:a16="http://schemas.microsoft.com/office/drawing/2014/main" id="{CDFD2D81-7627-6EB0-504A-3F7259C40BB9}"/>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7</a:t>
            </a:fld>
            <a:endParaRPr lang="en-US" dirty="0"/>
          </a:p>
        </p:txBody>
      </p:sp>
    </p:spTree>
    <p:extLst>
      <p:ext uri="{BB962C8B-B14F-4D97-AF65-F5344CB8AC3E}">
        <p14:creationId xmlns:p14="http://schemas.microsoft.com/office/powerpoint/2010/main" val="10937455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8FE638D-AF8D-BD00-2BFC-4D7C0C0D2284}"/>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8</a:t>
            </a:fld>
            <a:endParaRPr lang="en-US" dirty="0"/>
          </a:p>
        </p:txBody>
      </p:sp>
      <p:sp>
        <p:nvSpPr>
          <p:cNvPr id="3" name="Title 2">
            <a:extLst>
              <a:ext uri="{FF2B5EF4-FFF2-40B4-BE49-F238E27FC236}">
                <a16:creationId xmlns:a16="http://schemas.microsoft.com/office/drawing/2014/main" id="{4B42CE95-82DF-C192-D918-34B4B37BA860}"/>
              </a:ext>
            </a:extLst>
          </p:cNvPr>
          <p:cNvSpPr>
            <a:spLocks noGrp="1"/>
          </p:cNvSpPr>
          <p:nvPr>
            <p:ph type="title"/>
          </p:nvPr>
        </p:nvSpPr>
        <p:spPr/>
        <p:txBody>
          <a:bodyPr>
            <a:normAutofit fontScale="90000"/>
          </a:bodyPr>
          <a:lstStyle/>
          <a:p>
            <a:r>
              <a:rPr lang="en-US" dirty="0"/>
              <a:t>Focus construction &amp; its characteristics</a:t>
            </a:r>
          </a:p>
        </p:txBody>
      </p:sp>
      <p:sp>
        <p:nvSpPr>
          <p:cNvPr id="4" name="Content Placeholder 3">
            <a:extLst>
              <a:ext uri="{FF2B5EF4-FFF2-40B4-BE49-F238E27FC236}">
                <a16:creationId xmlns:a16="http://schemas.microsoft.com/office/drawing/2014/main" id="{045D0446-9C79-8BD8-F039-F3CE9DC062EB}"/>
              </a:ext>
            </a:extLst>
          </p:cNvPr>
          <p:cNvSpPr>
            <a:spLocks noGrp="1"/>
          </p:cNvSpPr>
          <p:nvPr>
            <p:ph idx="1"/>
          </p:nvPr>
        </p:nvSpPr>
        <p:spPr>
          <a:xfrm>
            <a:off x="1261871" y="1473200"/>
            <a:ext cx="10232137" cy="5019040"/>
          </a:xfrm>
        </p:spPr>
        <p:txBody>
          <a:bodyPr/>
          <a:lstStyle/>
          <a:p>
            <a:r>
              <a:rPr lang="en-US" dirty="0"/>
              <a:t>Focus is about </a:t>
            </a:r>
            <a:r>
              <a:rPr lang="en-US" b="1" dirty="0"/>
              <a:t>emphasis, </a:t>
            </a:r>
            <a:r>
              <a:rPr lang="en-US" dirty="0"/>
              <a:t>or identification</a:t>
            </a:r>
          </a:p>
          <a:p>
            <a:r>
              <a:rPr lang="en-US" dirty="0"/>
              <a:t>Besides </a:t>
            </a:r>
            <a:r>
              <a:rPr lang="en-US" b="1" dirty="0"/>
              <a:t>movement</a:t>
            </a:r>
            <a:r>
              <a:rPr lang="en-US" dirty="0"/>
              <a:t> there is also </a:t>
            </a:r>
            <a:r>
              <a:rPr lang="en-US" b="1" dirty="0"/>
              <a:t>intonation</a:t>
            </a:r>
            <a:r>
              <a:rPr lang="en-US" dirty="0"/>
              <a:t> (secondary)</a:t>
            </a:r>
          </a:p>
          <a:p>
            <a:r>
              <a:rPr lang="en-US" b="1" dirty="0"/>
              <a:t>Question Words </a:t>
            </a:r>
            <a:r>
              <a:rPr lang="en-US" dirty="0"/>
              <a:t>– certain parts-of-speech are always in focus</a:t>
            </a:r>
          </a:p>
          <a:p>
            <a:r>
              <a:rPr lang="en-US" b="1" dirty="0"/>
              <a:t>Answers</a:t>
            </a:r>
            <a:r>
              <a:rPr lang="en-US" dirty="0"/>
              <a:t> – the information in answering questions is in automatic focus</a:t>
            </a:r>
          </a:p>
          <a:p>
            <a:r>
              <a:rPr lang="en-US" b="1" dirty="0"/>
              <a:t>Negation</a:t>
            </a:r>
            <a:r>
              <a:rPr lang="en-US" dirty="0"/>
              <a:t> – </a:t>
            </a:r>
            <a:r>
              <a:rPr lang="en-US" i="1" dirty="0" err="1"/>
              <a:t>nem</a:t>
            </a:r>
            <a:r>
              <a:rPr lang="en-US" dirty="0"/>
              <a:t> ‘no’ is automatically in focus</a:t>
            </a:r>
          </a:p>
        </p:txBody>
      </p:sp>
    </p:spTree>
    <p:extLst>
      <p:ext uri="{BB962C8B-B14F-4D97-AF65-F5344CB8AC3E}">
        <p14:creationId xmlns:p14="http://schemas.microsoft.com/office/powerpoint/2010/main" val="2995432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BF772F8-25E3-BBD4-868E-75B257E5B7D9}"/>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9</a:t>
            </a:fld>
            <a:endParaRPr lang="en-US" dirty="0"/>
          </a:p>
        </p:txBody>
      </p:sp>
      <p:sp>
        <p:nvSpPr>
          <p:cNvPr id="3" name="Title 2">
            <a:extLst>
              <a:ext uri="{FF2B5EF4-FFF2-40B4-BE49-F238E27FC236}">
                <a16:creationId xmlns:a16="http://schemas.microsoft.com/office/drawing/2014/main" id="{5E645C30-E246-C436-7649-6050947B34E9}"/>
              </a:ext>
            </a:extLst>
          </p:cNvPr>
          <p:cNvSpPr>
            <a:spLocks noGrp="1"/>
          </p:cNvSpPr>
          <p:nvPr>
            <p:ph type="title"/>
          </p:nvPr>
        </p:nvSpPr>
        <p:spPr/>
        <p:txBody>
          <a:bodyPr>
            <a:normAutofit fontScale="90000"/>
          </a:bodyPr>
          <a:lstStyle/>
          <a:p>
            <a:r>
              <a:rPr lang="en-US" dirty="0"/>
              <a:t>Exhaustivity/Exclusivity</a:t>
            </a:r>
          </a:p>
        </p:txBody>
      </p:sp>
      <p:sp>
        <p:nvSpPr>
          <p:cNvPr id="4" name="Content Placeholder 3">
            <a:extLst>
              <a:ext uri="{FF2B5EF4-FFF2-40B4-BE49-F238E27FC236}">
                <a16:creationId xmlns:a16="http://schemas.microsoft.com/office/drawing/2014/main" id="{C80480D6-A8A8-28D9-4C70-F828FBA14479}"/>
              </a:ext>
            </a:extLst>
          </p:cNvPr>
          <p:cNvSpPr>
            <a:spLocks noGrp="1"/>
          </p:cNvSpPr>
          <p:nvPr>
            <p:ph idx="1"/>
          </p:nvPr>
        </p:nvSpPr>
        <p:spPr/>
        <p:txBody>
          <a:bodyPr>
            <a:normAutofit/>
          </a:bodyPr>
          <a:lstStyle/>
          <a:p>
            <a:r>
              <a:rPr lang="en-US" dirty="0"/>
              <a:t>In the past 40 years, research mostly associated this pre-verbal focus position with </a:t>
            </a:r>
            <a:r>
              <a:rPr lang="en-US" b="1" dirty="0"/>
              <a:t>exhaustivity. </a:t>
            </a:r>
          </a:p>
          <a:p>
            <a:pPr lvl="1"/>
            <a:r>
              <a:rPr lang="en-US" b="1" dirty="0"/>
              <a:t>Exhaustive</a:t>
            </a:r>
            <a:r>
              <a:rPr lang="en-US" dirty="0"/>
              <a:t>: predicate is ONLY true for the focused constituent</a:t>
            </a:r>
          </a:p>
          <a:p>
            <a:endParaRPr lang="en-US" dirty="0">
              <a:solidFill>
                <a:schemeClr val="accent6">
                  <a:lumMod val="60000"/>
                  <a:lumOff val="40000"/>
                </a:schemeClr>
              </a:solidFill>
            </a:endParaRPr>
          </a:p>
          <a:p>
            <a:endParaRPr lang="en-US" dirty="0">
              <a:solidFill>
                <a:schemeClr val="accent6">
                  <a:lumMod val="60000"/>
                  <a:lumOff val="40000"/>
                </a:schemeClr>
              </a:solidFill>
            </a:endParaRPr>
          </a:p>
        </p:txBody>
      </p:sp>
    </p:spTree>
    <p:extLst>
      <p:ext uri="{BB962C8B-B14F-4D97-AF65-F5344CB8AC3E}">
        <p14:creationId xmlns:p14="http://schemas.microsoft.com/office/powerpoint/2010/main" val="4288537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C25FC-9C0C-C79C-9F0F-0EB88B33C69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AF456A6-05D0-D89F-5F39-0412AB4DB4EF}"/>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10</a:t>
            </a:fld>
            <a:endParaRPr lang="en-US" dirty="0"/>
          </a:p>
        </p:txBody>
      </p:sp>
      <p:sp>
        <p:nvSpPr>
          <p:cNvPr id="3" name="Title 2">
            <a:extLst>
              <a:ext uri="{FF2B5EF4-FFF2-40B4-BE49-F238E27FC236}">
                <a16:creationId xmlns:a16="http://schemas.microsoft.com/office/drawing/2014/main" id="{29CB1561-BA5A-3922-717B-841DF686BB19}"/>
              </a:ext>
            </a:extLst>
          </p:cNvPr>
          <p:cNvSpPr>
            <a:spLocks noGrp="1"/>
          </p:cNvSpPr>
          <p:nvPr>
            <p:ph type="title"/>
          </p:nvPr>
        </p:nvSpPr>
        <p:spPr/>
        <p:txBody>
          <a:bodyPr>
            <a:normAutofit fontScale="90000"/>
          </a:bodyPr>
          <a:lstStyle/>
          <a:p>
            <a:r>
              <a:rPr lang="en-US" dirty="0"/>
              <a:t>Exhaustivity/Exclusivity</a:t>
            </a:r>
          </a:p>
        </p:txBody>
      </p:sp>
      <p:sp>
        <p:nvSpPr>
          <p:cNvPr id="4" name="Content Placeholder 3">
            <a:extLst>
              <a:ext uri="{FF2B5EF4-FFF2-40B4-BE49-F238E27FC236}">
                <a16:creationId xmlns:a16="http://schemas.microsoft.com/office/drawing/2014/main" id="{EDCC0ED2-8356-6321-1F5F-0D30198B0CF1}"/>
              </a:ext>
            </a:extLst>
          </p:cNvPr>
          <p:cNvSpPr>
            <a:spLocks noGrp="1"/>
          </p:cNvSpPr>
          <p:nvPr>
            <p:ph idx="1"/>
          </p:nvPr>
        </p:nvSpPr>
        <p:spPr/>
        <p:txBody>
          <a:bodyPr>
            <a:normAutofit/>
          </a:bodyPr>
          <a:lstStyle/>
          <a:p>
            <a:r>
              <a:rPr lang="en-US" dirty="0"/>
              <a:t>In the past 40 years, research mostly associated this pre-verbal focus position with </a:t>
            </a:r>
            <a:r>
              <a:rPr lang="en-US" b="1" dirty="0"/>
              <a:t>exhaustivity. </a:t>
            </a:r>
          </a:p>
          <a:p>
            <a:pPr lvl="1"/>
            <a:r>
              <a:rPr lang="en-US" b="1" dirty="0"/>
              <a:t>Exhaustive</a:t>
            </a:r>
            <a:r>
              <a:rPr lang="en-US" dirty="0"/>
              <a:t>: predicate is ONLY true for the focused constituent</a:t>
            </a:r>
          </a:p>
          <a:p>
            <a:r>
              <a:rPr lang="en-US" dirty="0"/>
              <a:t>2010s – not everyone agrees on this; not much experimental evidence</a:t>
            </a:r>
            <a:r>
              <a:rPr lang="hu-HU" dirty="0"/>
              <a:t> </a:t>
            </a:r>
            <a:r>
              <a:rPr lang="hu-HU" dirty="0">
                <a:solidFill>
                  <a:schemeClr val="accent6">
                    <a:lumMod val="60000"/>
                    <a:lumOff val="40000"/>
                  </a:schemeClr>
                </a:solidFill>
              </a:rPr>
              <a:t>(</a:t>
            </a:r>
            <a:r>
              <a:rPr lang="hu-HU" dirty="0" err="1">
                <a:solidFill>
                  <a:schemeClr val="accent6">
                    <a:lumMod val="60000"/>
                    <a:lumOff val="40000"/>
                  </a:schemeClr>
                </a:solidFill>
              </a:rPr>
              <a:t>cf</a:t>
            </a:r>
            <a:r>
              <a:rPr lang="hu-HU" dirty="0">
                <a:solidFill>
                  <a:schemeClr val="accent6">
                    <a:lumMod val="60000"/>
                    <a:lumOff val="40000"/>
                  </a:schemeClr>
                </a:solidFill>
              </a:rPr>
              <a:t>.</a:t>
            </a:r>
            <a:r>
              <a:rPr lang="en-US" dirty="0">
                <a:solidFill>
                  <a:schemeClr val="accent6">
                    <a:lumMod val="60000"/>
                    <a:lumOff val="40000"/>
                  </a:schemeClr>
                </a:solidFill>
              </a:rPr>
              <a:t> </a:t>
            </a:r>
            <a:r>
              <a:rPr lang="hu-HU" dirty="0">
                <a:solidFill>
                  <a:schemeClr val="accent6">
                    <a:lumMod val="60000"/>
                    <a:lumOff val="40000"/>
                  </a:schemeClr>
                </a:solidFill>
              </a:rPr>
              <a:t>Szabolcsi 1981</a:t>
            </a:r>
            <a:r>
              <a:rPr lang="en-US" dirty="0">
                <a:solidFill>
                  <a:schemeClr val="accent6">
                    <a:lumMod val="60000"/>
                    <a:lumOff val="40000"/>
                  </a:schemeClr>
                </a:solidFill>
              </a:rPr>
              <a:t>;</a:t>
            </a:r>
            <a:r>
              <a:rPr lang="hu-HU" dirty="0">
                <a:solidFill>
                  <a:schemeClr val="accent6">
                    <a:lumMod val="60000"/>
                    <a:lumOff val="40000"/>
                  </a:schemeClr>
                </a:solidFill>
              </a:rPr>
              <a:t> </a:t>
            </a:r>
            <a:r>
              <a:rPr lang="hu-HU" dirty="0" err="1">
                <a:solidFill>
                  <a:schemeClr val="accent6">
                    <a:lumMod val="60000"/>
                    <a:lumOff val="40000"/>
                  </a:schemeClr>
                </a:solidFill>
              </a:rPr>
              <a:t>Onea</a:t>
            </a:r>
            <a:r>
              <a:rPr lang="hu-HU" dirty="0">
                <a:solidFill>
                  <a:schemeClr val="accent6">
                    <a:lumMod val="60000"/>
                    <a:lumOff val="40000"/>
                  </a:schemeClr>
                </a:solidFill>
              </a:rPr>
              <a:t> &amp; </a:t>
            </a:r>
            <a:r>
              <a:rPr lang="hu-HU" dirty="0" err="1">
                <a:solidFill>
                  <a:schemeClr val="accent6">
                    <a:lumMod val="60000"/>
                    <a:lumOff val="40000"/>
                  </a:schemeClr>
                </a:solidFill>
              </a:rPr>
              <a:t>Beaver</a:t>
            </a:r>
            <a:r>
              <a:rPr lang="hu-HU" dirty="0">
                <a:solidFill>
                  <a:schemeClr val="accent6">
                    <a:lumMod val="60000"/>
                    <a:lumOff val="40000"/>
                  </a:schemeClr>
                </a:solidFill>
              </a:rPr>
              <a:t>, 2009</a:t>
            </a:r>
            <a:r>
              <a:rPr lang="en-US" dirty="0">
                <a:solidFill>
                  <a:schemeClr val="accent6">
                    <a:lumMod val="60000"/>
                    <a:lumOff val="40000"/>
                  </a:schemeClr>
                </a:solidFill>
              </a:rPr>
              <a:t>; Balogh 2013</a:t>
            </a:r>
            <a:r>
              <a:rPr lang="hu-HU" dirty="0">
                <a:solidFill>
                  <a:schemeClr val="accent6">
                    <a:lumMod val="60000"/>
                    <a:lumOff val="40000"/>
                  </a:schemeClr>
                </a:solidFill>
              </a:rPr>
              <a:t>).</a:t>
            </a:r>
            <a:endParaRPr lang="en-US" dirty="0"/>
          </a:p>
          <a:p>
            <a:endParaRPr lang="en-US" dirty="0">
              <a:solidFill>
                <a:schemeClr val="accent6">
                  <a:lumMod val="60000"/>
                  <a:lumOff val="40000"/>
                </a:schemeClr>
              </a:solidFill>
            </a:endParaRPr>
          </a:p>
          <a:p>
            <a:endParaRPr lang="en-US" dirty="0">
              <a:solidFill>
                <a:schemeClr val="accent6">
                  <a:lumMod val="60000"/>
                  <a:lumOff val="40000"/>
                </a:schemeClr>
              </a:solidFill>
            </a:endParaRPr>
          </a:p>
        </p:txBody>
      </p:sp>
    </p:spTree>
    <p:extLst>
      <p:ext uri="{BB962C8B-B14F-4D97-AF65-F5344CB8AC3E}">
        <p14:creationId xmlns:p14="http://schemas.microsoft.com/office/powerpoint/2010/main" val="15407274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FB328-28EE-3198-B5A6-F485F110CA9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41F7E59-F95C-2B27-4053-58B23BCE02C9}"/>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11</a:t>
            </a:fld>
            <a:endParaRPr lang="en-US" dirty="0"/>
          </a:p>
        </p:txBody>
      </p:sp>
      <p:sp>
        <p:nvSpPr>
          <p:cNvPr id="3" name="Title 2">
            <a:extLst>
              <a:ext uri="{FF2B5EF4-FFF2-40B4-BE49-F238E27FC236}">
                <a16:creationId xmlns:a16="http://schemas.microsoft.com/office/drawing/2014/main" id="{B74B4573-9FA0-DF1A-04A1-03D339ECEDA6}"/>
              </a:ext>
            </a:extLst>
          </p:cNvPr>
          <p:cNvSpPr>
            <a:spLocks noGrp="1"/>
          </p:cNvSpPr>
          <p:nvPr>
            <p:ph type="title"/>
          </p:nvPr>
        </p:nvSpPr>
        <p:spPr/>
        <p:txBody>
          <a:bodyPr>
            <a:normAutofit fontScale="90000"/>
          </a:bodyPr>
          <a:lstStyle/>
          <a:p>
            <a:r>
              <a:rPr lang="en-US" dirty="0"/>
              <a:t>Exhaustivity/Exclusivity</a:t>
            </a:r>
          </a:p>
        </p:txBody>
      </p:sp>
      <p:sp>
        <p:nvSpPr>
          <p:cNvPr id="4" name="Content Placeholder 3">
            <a:extLst>
              <a:ext uri="{FF2B5EF4-FFF2-40B4-BE49-F238E27FC236}">
                <a16:creationId xmlns:a16="http://schemas.microsoft.com/office/drawing/2014/main" id="{9602444B-6EBA-8506-D78B-358F6ABDCE29}"/>
              </a:ext>
            </a:extLst>
          </p:cNvPr>
          <p:cNvSpPr>
            <a:spLocks noGrp="1"/>
          </p:cNvSpPr>
          <p:nvPr>
            <p:ph idx="1"/>
          </p:nvPr>
        </p:nvSpPr>
        <p:spPr/>
        <p:txBody>
          <a:bodyPr>
            <a:normAutofit/>
          </a:bodyPr>
          <a:lstStyle/>
          <a:p>
            <a:r>
              <a:rPr lang="en-US" dirty="0"/>
              <a:t>In the past 40 years, research mostly associated this pre-verbal focus position with </a:t>
            </a:r>
            <a:r>
              <a:rPr lang="en-US" b="1" dirty="0"/>
              <a:t>exhaustivity. </a:t>
            </a:r>
          </a:p>
          <a:p>
            <a:pPr lvl="1"/>
            <a:r>
              <a:rPr lang="en-US" b="1" dirty="0"/>
              <a:t>Exhaustive</a:t>
            </a:r>
            <a:r>
              <a:rPr lang="en-US" dirty="0"/>
              <a:t>: predicate is ONLY true for the focused constituent</a:t>
            </a:r>
          </a:p>
          <a:p>
            <a:r>
              <a:rPr lang="en-US" dirty="0"/>
              <a:t>2010s – not everyone agrees on this; not much experimental evidence</a:t>
            </a:r>
            <a:r>
              <a:rPr lang="hu-HU" dirty="0"/>
              <a:t> </a:t>
            </a:r>
            <a:r>
              <a:rPr lang="hu-HU" dirty="0">
                <a:solidFill>
                  <a:schemeClr val="accent6">
                    <a:lumMod val="60000"/>
                    <a:lumOff val="40000"/>
                  </a:schemeClr>
                </a:solidFill>
              </a:rPr>
              <a:t>(</a:t>
            </a:r>
            <a:r>
              <a:rPr lang="hu-HU" dirty="0" err="1">
                <a:solidFill>
                  <a:schemeClr val="accent6">
                    <a:lumMod val="60000"/>
                    <a:lumOff val="40000"/>
                  </a:schemeClr>
                </a:solidFill>
              </a:rPr>
              <a:t>cf</a:t>
            </a:r>
            <a:r>
              <a:rPr lang="hu-HU" dirty="0">
                <a:solidFill>
                  <a:schemeClr val="accent6">
                    <a:lumMod val="60000"/>
                    <a:lumOff val="40000"/>
                  </a:schemeClr>
                </a:solidFill>
              </a:rPr>
              <a:t>.</a:t>
            </a:r>
            <a:r>
              <a:rPr lang="en-US" dirty="0">
                <a:solidFill>
                  <a:schemeClr val="accent6">
                    <a:lumMod val="60000"/>
                    <a:lumOff val="40000"/>
                  </a:schemeClr>
                </a:solidFill>
              </a:rPr>
              <a:t> </a:t>
            </a:r>
            <a:r>
              <a:rPr lang="hu-HU" dirty="0">
                <a:solidFill>
                  <a:schemeClr val="accent6">
                    <a:lumMod val="60000"/>
                    <a:lumOff val="40000"/>
                  </a:schemeClr>
                </a:solidFill>
              </a:rPr>
              <a:t>Szabolcsi 1981</a:t>
            </a:r>
            <a:r>
              <a:rPr lang="en-US" dirty="0">
                <a:solidFill>
                  <a:schemeClr val="accent6">
                    <a:lumMod val="60000"/>
                    <a:lumOff val="40000"/>
                  </a:schemeClr>
                </a:solidFill>
              </a:rPr>
              <a:t>;</a:t>
            </a:r>
            <a:r>
              <a:rPr lang="hu-HU" dirty="0">
                <a:solidFill>
                  <a:schemeClr val="accent6">
                    <a:lumMod val="60000"/>
                    <a:lumOff val="40000"/>
                  </a:schemeClr>
                </a:solidFill>
              </a:rPr>
              <a:t> </a:t>
            </a:r>
            <a:r>
              <a:rPr lang="hu-HU" dirty="0" err="1">
                <a:solidFill>
                  <a:schemeClr val="accent6">
                    <a:lumMod val="60000"/>
                    <a:lumOff val="40000"/>
                  </a:schemeClr>
                </a:solidFill>
              </a:rPr>
              <a:t>Onea</a:t>
            </a:r>
            <a:r>
              <a:rPr lang="hu-HU" dirty="0">
                <a:solidFill>
                  <a:schemeClr val="accent6">
                    <a:lumMod val="60000"/>
                    <a:lumOff val="40000"/>
                  </a:schemeClr>
                </a:solidFill>
              </a:rPr>
              <a:t> &amp; </a:t>
            </a:r>
            <a:r>
              <a:rPr lang="hu-HU" dirty="0" err="1">
                <a:solidFill>
                  <a:schemeClr val="accent6">
                    <a:lumMod val="60000"/>
                    <a:lumOff val="40000"/>
                  </a:schemeClr>
                </a:solidFill>
              </a:rPr>
              <a:t>Beaver</a:t>
            </a:r>
            <a:r>
              <a:rPr lang="hu-HU" dirty="0">
                <a:solidFill>
                  <a:schemeClr val="accent6">
                    <a:lumMod val="60000"/>
                    <a:lumOff val="40000"/>
                  </a:schemeClr>
                </a:solidFill>
              </a:rPr>
              <a:t>, 2009</a:t>
            </a:r>
            <a:r>
              <a:rPr lang="en-US" dirty="0">
                <a:solidFill>
                  <a:schemeClr val="accent6">
                    <a:lumMod val="60000"/>
                    <a:lumOff val="40000"/>
                  </a:schemeClr>
                </a:solidFill>
              </a:rPr>
              <a:t>; Balogh 2013</a:t>
            </a:r>
            <a:r>
              <a:rPr lang="hu-HU" dirty="0">
                <a:solidFill>
                  <a:schemeClr val="accent6">
                    <a:lumMod val="60000"/>
                    <a:lumOff val="40000"/>
                  </a:schemeClr>
                </a:solidFill>
              </a:rPr>
              <a:t>).</a:t>
            </a:r>
            <a:endParaRPr lang="en-US" dirty="0">
              <a:solidFill>
                <a:schemeClr val="accent6">
                  <a:lumMod val="60000"/>
                  <a:lumOff val="40000"/>
                </a:schemeClr>
              </a:solidFill>
            </a:endParaRPr>
          </a:p>
          <a:p>
            <a:r>
              <a:rPr lang="en-US" dirty="0"/>
              <a:t>Our experiment: </a:t>
            </a:r>
            <a:r>
              <a:rPr lang="en-US" b="1" dirty="0"/>
              <a:t>exclusivity </a:t>
            </a:r>
            <a:r>
              <a:rPr lang="en-US" dirty="0"/>
              <a:t>vs.</a:t>
            </a:r>
            <a:r>
              <a:rPr lang="en-US" b="1" dirty="0"/>
              <a:t> </a:t>
            </a:r>
            <a:r>
              <a:rPr lang="en-US" b="1" dirty="0" err="1"/>
              <a:t>contrastivity</a:t>
            </a:r>
            <a:endParaRPr lang="en-US" b="1" dirty="0"/>
          </a:p>
          <a:p>
            <a:pPr lvl="1"/>
            <a:r>
              <a:rPr lang="en-US" dirty="0"/>
              <a:t>Testing if Hungarian focus is exhaustive by default, or if it can be contrastive</a:t>
            </a:r>
          </a:p>
          <a:p>
            <a:pPr lvl="1"/>
            <a:r>
              <a:rPr lang="en-US" b="1" dirty="0"/>
              <a:t>Contrastive</a:t>
            </a:r>
            <a:r>
              <a:rPr lang="en-US" dirty="0"/>
              <a:t>: Predicate can be true for other elements.</a:t>
            </a:r>
          </a:p>
          <a:p>
            <a:pPr lvl="2"/>
            <a:endParaRPr lang="en-US" dirty="0"/>
          </a:p>
          <a:p>
            <a:endParaRPr lang="en-US" dirty="0">
              <a:solidFill>
                <a:schemeClr val="accent6">
                  <a:lumMod val="60000"/>
                  <a:lumOff val="40000"/>
                </a:schemeClr>
              </a:solidFill>
            </a:endParaRPr>
          </a:p>
          <a:p>
            <a:endParaRPr lang="en-US" dirty="0">
              <a:solidFill>
                <a:schemeClr val="accent6">
                  <a:lumMod val="60000"/>
                  <a:lumOff val="40000"/>
                </a:schemeClr>
              </a:solidFill>
            </a:endParaRPr>
          </a:p>
        </p:txBody>
      </p:sp>
    </p:spTree>
    <p:extLst>
      <p:ext uri="{BB962C8B-B14F-4D97-AF65-F5344CB8AC3E}">
        <p14:creationId xmlns:p14="http://schemas.microsoft.com/office/powerpoint/2010/main" val="11020948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DD6BA-E25D-1FD2-FEA7-523BFAC269D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14D92E7-323E-6867-D1D6-2D408BDA7B8A}"/>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12</a:t>
            </a:fld>
            <a:endParaRPr lang="en-US" dirty="0"/>
          </a:p>
        </p:txBody>
      </p:sp>
      <p:sp>
        <p:nvSpPr>
          <p:cNvPr id="3" name="Title 2">
            <a:extLst>
              <a:ext uri="{FF2B5EF4-FFF2-40B4-BE49-F238E27FC236}">
                <a16:creationId xmlns:a16="http://schemas.microsoft.com/office/drawing/2014/main" id="{38B10670-0A1B-2C62-8209-5DDD69D48B1A}"/>
              </a:ext>
            </a:extLst>
          </p:cNvPr>
          <p:cNvSpPr>
            <a:spLocks noGrp="1"/>
          </p:cNvSpPr>
          <p:nvPr>
            <p:ph type="title"/>
          </p:nvPr>
        </p:nvSpPr>
        <p:spPr/>
        <p:txBody>
          <a:bodyPr>
            <a:normAutofit fontScale="90000"/>
          </a:bodyPr>
          <a:lstStyle/>
          <a:p>
            <a:r>
              <a:rPr lang="en-US" dirty="0"/>
              <a:t>Contrastive vs. Exhaustive?</a:t>
            </a:r>
          </a:p>
        </p:txBody>
      </p:sp>
      <p:sp>
        <p:nvSpPr>
          <p:cNvPr id="4" name="Content Placeholder 3">
            <a:extLst>
              <a:ext uri="{FF2B5EF4-FFF2-40B4-BE49-F238E27FC236}">
                <a16:creationId xmlns:a16="http://schemas.microsoft.com/office/drawing/2014/main" id="{74EBE464-7209-9D9B-0CED-31FFD63CD61D}"/>
              </a:ext>
            </a:extLst>
          </p:cNvPr>
          <p:cNvSpPr>
            <a:spLocks noGrp="1"/>
          </p:cNvSpPr>
          <p:nvPr>
            <p:ph idx="1"/>
          </p:nvPr>
        </p:nvSpPr>
        <p:spPr/>
        <p:txBody>
          <a:bodyPr/>
          <a:lstStyle/>
          <a:p>
            <a:pPr marL="0" indent="0">
              <a:spcBef>
                <a:spcPts val="0"/>
              </a:spcBef>
              <a:buNone/>
            </a:pPr>
            <a:r>
              <a:rPr lang="en-US" dirty="0"/>
              <a:t>A </a:t>
            </a:r>
            <a:r>
              <a:rPr lang="hu-HU" dirty="0"/>
              <a:t>barátom </a:t>
            </a:r>
            <a:r>
              <a:rPr lang="hu-HU" dirty="0">
                <a:solidFill>
                  <a:schemeClr val="accent2"/>
                </a:solidFill>
              </a:rPr>
              <a:t>kínaiul</a:t>
            </a:r>
            <a:r>
              <a:rPr lang="hu-HU" dirty="0"/>
              <a:t> </a:t>
            </a:r>
            <a:r>
              <a:rPr lang="hu-HU" dirty="0">
                <a:solidFill>
                  <a:schemeClr val="accent4"/>
                </a:solidFill>
              </a:rPr>
              <a:t>tanul</a:t>
            </a:r>
            <a:r>
              <a:rPr lang="hu-HU" dirty="0"/>
              <a:t> Hongkongban.</a:t>
            </a:r>
            <a:r>
              <a:rPr lang="en-US" dirty="0"/>
              <a:t> 	</a:t>
            </a:r>
          </a:p>
          <a:p>
            <a:pPr marL="0" indent="0">
              <a:spcBef>
                <a:spcPts val="0"/>
              </a:spcBef>
              <a:buNone/>
            </a:pPr>
            <a:r>
              <a:rPr lang="en-US" i="1" dirty="0"/>
              <a:t>My friend studies Chinese in Hong Kong. </a:t>
            </a:r>
            <a:r>
              <a:rPr lang="en-US" dirty="0"/>
              <a:t>(Not Hungarian)</a:t>
            </a:r>
          </a:p>
          <a:p>
            <a:pPr marL="0" indent="0">
              <a:spcBef>
                <a:spcPts val="0"/>
              </a:spcBef>
              <a:buNone/>
            </a:pPr>
            <a:endParaRPr lang="hu-HU" i="1" dirty="0"/>
          </a:p>
          <a:p>
            <a:pPr marL="0" indent="0">
              <a:spcBef>
                <a:spcPts val="0"/>
              </a:spcBef>
              <a:buNone/>
            </a:pPr>
            <a:r>
              <a:rPr lang="hu-HU" dirty="0"/>
              <a:t>A barátom </a:t>
            </a:r>
            <a:r>
              <a:rPr lang="hu-HU" dirty="0">
                <a:solidFill>
                  <a:schemeClr val="accent2"/>
                </a:solidFill>
              </a:rPr>
              <a:t>Hongkongban</a:t>
            </a:r>
            <a:r>
              <a:rPr lang="hu-HU" dirty="0"/>
              <a:t> </a:t>
            </a:r>
            <a:r>
              <a:rPr lang="hu-HU" dirty="0">
                <a:solidFill>
                  <a:schemeClr val="accent4"/>
                </a:solidFill>
              </a:rPr>
              <a:t>tanul</a:t>
            </a:r>
            <a:r>
              <a:rPr lang="hu-HU" dirty="0"/>
              <a:t> kínaiul.</a:t>
            </a:r>
            <a:r>
              <a:rPr lang="en-US" dirty="0"/>
              <a:t> </a:t>
            </a:r>
          </a:p>
          <a:p>
            <a:pPr marL="0" indent="0">
              <a:spcBef>
                <a:spcPts val="0"/>
              </a:spcBef>
              <a:buNone/>
            </a:pPr>
            <a:r>
              <a:rPr lang="en-US" i="1" dirty="0"/>
              <a:t>It is in HK that my friend studies Chinese.</a:t>
            </a:r>
            <a:r>
              <a:rPr lang="en-US" dirty="0"/>
              <a:t> (Not in Budapest)</a:t>
            </a:r>
          </a:p>
          <a:p>
            <a:pPr marL="0" indent="0">
              <a:spcBef>
                <a:spcPts val="0"/>
              </a:spcBef>
              <a:buNone/>
            </a:pPr>
            <a:endParaRPr lang="hu-HU" dirty="0"/>
          </a:p>
          <a:p>
            <a:pPr marL="0" indent="0">
              <a:spcBef>
                <a:spcPts val="0"/>
              </a:spcBef>
              <a:buNone/>
            </a:pPr>
            <a:r>
              <a:rPr lang="hu-HU" dirty="0"/>
              <a:t>A </a:t>
            </a:r>
            <a:r>
              <a:rPr lang="hu-HU" dirty="0">
                <a:solidFill>
                  <a:schemeClr val="accent2"/>
                </a:solidFill>
              </a:rPr>
              <a:t>barátom</a:t>
            </a:r>
            <a:r>
              <a:rPr lang="hu-HU" dirty="0"/>
              <a:t> </a:t>
            </a:r>
            <a:r>
              <a:rPr lang="hu-HU" dirty="0">
                <a:solidFill>
                  <a:schemeClr val="accent4"/>
                </a:solidFill>
              </a:rPr>
              <a:t>tanul</a:t>
            </a:r>
            <a:r>
              <a:rPr lang="hu-HU" dirty="0"/>
              <a:t> kínaiul Hongkongban</a:t>
            </a:r>
            <a:r>
              <a:rPr lang="en-US" dirty="0"/>
              <a:t>.</a:t>
            </a:r>
          </a:p>
          <a:p>
            <a:pPr marL="0" indent="0">
              <a:spcBef>
                <a:spcPts val="0"/>
              </a:spcBef>
              <a:buNone/>
            </a:pPr>
            <a:r>
              <a:rPr lang="en-US" i="1" dirty="0"/>
              <a:t>It is my friend who studies Chinese in Hong Kong.</a:t>
            </a:r>
            <a:r>
              <a:rPr lang="en-US" dirty="0"/>
              <a:t> (Not me.)</a:t>
            </a:r>
          </a:p>
          <a:p>
            <a:endParaRPr lang="en-US" dirty="0"/>
          </a:p>
        </p:txBody>
      </p:sp>
    </p:spTree>
    <p:extLst>
      <p:ext uri="{BB962C8B-B14F-4D97-AF65-F5344CB8AC3E}">
        <p14:creationId xmlns:p14="http://schemas.microsoft.com/office/powerpoint/2010/main" val="3846165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777F6C-109D-9532-8A44-215A20841575}"/>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13</a:t>
            </a:fld>
            <a:endParaRPr lang="en-US" dirty="0"/>
          </a:p>
        </p:txBody>
      </p:sp>
      <p:sp>
        <p:nvSpPr>
          <p:cNvPr id="3" name="Title 2">
            <a:extLst>
              <a:ext uri="{FF2B5EF4-FFF2-40B4-BE49-F238E27FC236}">
                <a16:creationId xmlns:a16="http://schemas.microsoft.com/office/drawing/2014/main" id="{F91BE9D1-8E31-DBC9-DC0A-32CECA1E8B82}"/>
              </a:ext>
            </a:extLst>
          </p:cNvPr>
          <p:cNvSpPr>
            <a:spLocks noGrp="1"/>
          </p:cNvSpPr>
          <p:nvPr>
            <p:ph type="title"/>
          </p:nvPr>
        </p:nvSpPr>
        <p:spPr/>
        <p:txBody>
          <a:bodyPr>
            <a:normAutofit fontScale="90000"/>
          </a:bodyPr>
          <a:lstStyle/>
          <a:p>
            <a:r>
              <a:rPr lang="en-US" dirty="0">
                <a:solidFill>
                  <a:schemeClr val="accent3"/>
                </a:solidFill>
              </a:rPr>
              <a:t>Contrastive</a:t>
            </a:r>
            <a:r>
              <a:rPr lang="en-US" dirty="0"/>
              <a:t> vs. Exhaustive?</a:t>
            </a:r>
          </a:p>
        </p:txBody>
      </p:sp>
      <p:sp>
        <p:nvSpPr>
          <p:cNvPr id="4" name="Content Placeholder 3">
            <a:extLst>
              <a:ext uri="{FF2B5EF4-FFF2-40B4-BE49-F238E27FC236}">
                <a16:creationId xmlns:a16="http://schemas.microsoft.com/office/drawing/2014/main" id="{3F8EF6E3-A1FA-8342-0D19-289C75F76A43}"/>
              </a:ext>
            </a:extLst>
          </p:cNvPr>
          <p:cNvSpPr>
            <a:spLocks noGrp="1"/>
          </p:cNvSpPr>
          <p:nvPr>
            <p:ph idx="1"/>
          </p:nvPr>
        </p:nvSpPr>
        <p:spPr/>
        <p:txBody>
          <a:bodyPr/>
          <a:lstStyle/>
          <a:p>
            <a:pPr marL="0" indent="0">
              <a:spcBef>
                <a:spcPts val="0"/>
              </a:spcBef>
              <a:buNone/>
            </a:pPr>
            <a:r>
              <a:rPr lang="en-US" dirty="0"/>
              <a:t>A </a:t>
            </a:r>
            <a:r>
              <a:rPr lang="hu-HU" dirty="0"/>
              <a:t>barátom </a:t>
            </a:r>
            <a:r>
              <a:rPr lang="hu-HU" dirty="0">
                <a:solidFill>
                  <a:schemeClr val="accent2"/>
                </a:solidFill>
              </a:rPr>
              <a:t>kínaiul</a:t>
            </a:r>
            <a:r>
              <a:rPr lang="hu-HU" dirty="0"/>
              <a:t> </a:t>
            </a:r>
            <a:r>
              <a:rPr lang="hu-HU" dirty="0">
                <a:solidFill>
                  <a:schemeClr val="accent4"/>
                </a:solidFill>
              </a:rPr>
              <a:t>tanul</a:t>
            </a:r>
            <a:r>
              <a:rPr lang="hu-HU" dirty="0"/>
              <a:t> Hongkongban.</a:t>
            </a:r>
            <a:r>
              <a:rPr lang="en-US" dirty="0"/>
              <a:t> 	</a:t>
            </a:r>
          </a:p>
          <a:p>
            <a:pPr marL="0" indent="0">
              <a:spcBef>
                <a:spcPts val="0"/>
              </a:spcBef>
              <a:buNone/>
            </a:pPr>
            <a:r>
              <a:rPr lang="en-US" i="1" dirty="0"/>
              <a:t>My friend studies Chinese in Hong Kong. </a:t>
            </a:r>
            <a:r>
              <a:rPr lang="en-US" dirty="0"/>
              <a:t>(</a:t>
            </a:r>
            <a:r>
              <a:rPr lang="en-US" dirty="0">
                <a:solidFill>
                  <a:schemeClr val="accent3"/>
                </a:solidFill>
              </a:rPr>
              <a:t>Not</a:t>
            </a:r>
            <a:r>
              <a:rPr lang="en-US" dirty="0">
                <a:solidFill>
                  <a:schemeClr val="accent1"/>
                </a:solidFill>
              </a:rPr>
              <a:t> </a:t>
            </a:r>
            <a:r>
              <a:rPr lang="en-US" dirty="0">
                <a:solidFill>
                  <a:schemeClr val="accent3"/>
                </a:solidFill>
              </a:rPr>
              <a:t>Hungarian</a:t>
            </a:r>
            <a:r>
              <a:rPr lang="en-US" dirty="0"/>
              <a:t>)</a:t>
            </a:r>
          </a:p>
          <a:p>
            <a:pPr marL="0" indent="0">
              <a:spcBef>
                <a:spcPts val="0"/>
              </a:spcBef>
              <a:buNone/>
            </a:pPr>
            <a:endParaRPr lang="hu-HU" i="1" dirty="0"/>
          </a:p>
          <a:p>
            <a:pPr marL="0" indent="0">
              <a:spcBef>
                <a:spcPts val="0"/>
              </a:spcBef>
              <a:buNone/>
            </a:pPr>
            <a:r>
              <a:rPr lang="hu-HU" dirty="0"/>
              <a:t>A barátom </a:t>
            </a:r>
            <a:r>
              <a:rPr lang="hu-HU" dirty="0">
                <a:solidFill>
                  <a:schemeClr val="accent2"/>
                </a:solidFill>
              </a:rPr>
              <a:t>Hongkongban</a:t>
            </a:r>
            <a:r>
              <a:rPr lang="hu-HU" dirty="0"/>
              <a:t> </a:t>
            </a:r>
            <a:r>
              <a:rPr lang="hu-HU" dirty="0">
                <a:solidFill>
                  <a:schemeClr val="accent4"/>
                </a:solidFill>
              </a:rPr>
              <a:t>tanul</a:t>
            </a:r>
            <a:r>
              <a:rPr lang="hu-HU" dirty="0"/>
              <a:t> kínaiul.</a:t>
            </a:r>
            <a:r>
              <a:rPr lang="en-US" dirty="0"/>
              <a:t> </a:t>
            </a:r>
          </a:p>
          <a:p>
            <a:pPr marL="0" indent="0">
              <a:spcBef>
                <a:spcPts val="0"/>
              </a:spcBef>
              <a:buNone/>
            </a:pPr>
            <a:r>
              <a:rPr lang="en-US" i="1" dirty="0"/>
              <a:t>It is in HK that my friend studies Chinese.</a:t>
            </a:r>
            <a:r>
              <a:rPr lang="en-US" dirty="0"/>
              <a:t> (</a:t>
            </a:r>
            <a:r>
              <a:rPr lang="en-US" dirty="0">
                <a:solidFill>
                  <a:schemeClr val="accent3"/>
                </a:solidFill>
              </a:rPr>
              <a:t>Not</a:t>
            </a:r>
            <a:r>
              <a:rPr lang="en-US" dirty="0">
                <a:solidFill>
                  <a:schemeClr val="accent1"/>
                </a:solidFill>
              </a:rPr>
              <a:t> </a:t>
            </a:r>
            <a:r>
              <a:rPr lang="en-US" dirty="0">
                <a:solidFill>
                  <a:schemeClr val="accent3"/>
                </a:solidFill>
              </a:rPr>
              <a:t>in</a:t>
            </a:r>
            <a:r>
              <a:rPr lang="en-US" dirty="0">
                <a:solidFill>
                  <a:schemeClr val="accent1"/>
                </a:solidFill>
              </a:rPr>
              <a:t> </a:t>
            </a:r>
            <a:r>
              <a:rPr lang="en-US" dirty="0">
                <a:solidFill>
                  <a:schemeClr val="accent3"/>
                </a:solidFill>
              </a:rPr>
              <a:t>Budapest</a:t>
            </a:r>
            <a:r>
              <a:rPr lang="en-US" dirty="0"/>
              <a:t>)</a:t>
            </a:r>
          </a:p>
          <a:p>
            <a:pPr marL="0" indent="0">
              <a:spcBef>
                <a:spcPts val="0"/>
              </a:spcBef>
              <a:buNone/>
            </a:pPr>
            <a:endParaRPr lang="hu-HU" dirty="0"/>
          </a:p>
          <a:p>
            <a:pPr marL="0" indent="0">
              <a:spcBef>
                <a:spcPts val="0"/>
              </a:spcBef>
              <a:buNone/>
            </a:pPr>
            <a:r>
              <a:rPr lang="hu-HU" dirty="0"/>
              <a:t>A </a:t>
            </a:r>
            <a:r>
              <a:rPr lang="hu-HU" dirty="0">
                <a:solidFill>
                  <a:schemeClr val="accent2"/>
                </a:solidFill>
              </a:rPr>
              <a:t>barátom</a:t>
            </a:r>
            <a:r>
              <a:rPr lang="hu-HU" dirty="0"/>
              <a:t> </a:t>
            </a:r>
            <a:r>
              <a:rPr lang="hu-HU" dirty="0">
                <a:solidFill>
                  <a:schemeClr val="accent4"/>
                </a:solidFill>
              </a:rPr>
              <a:t>tanul</a:t>
            </a:r>
            <a:r>
              <a:rPr lang="hu-HU" dirty="0"/>
              <a:t> kínaiul Hongkongban</a:t>
            </a:r>
            <a:r>
              <a:rPr lang="en-US" dirty="0"/>
              <a:t>.</a:t>
            </a:r>
          </a:p>
          <a:p>
            <a:pPr marL="0" indent="0">
              <a:spcBef>
                <a:spcPts val="0"/>
              </a:spcBef>
              <a:buNone/>
            </a:pPr>
            <a:r>
              <a:rPr lang="en-US" i="1" dirty="0"/>
              <a:t>It is my friend who studies Chinese in Hong Kong.</a:t>
            </a:r>
            <a:r>
              <a:rPr lang="en-US" dirty="0"/>
              <a:t> (</a:t>
            </a:r>
            <a:r>
              <a:rPr lang="en-US" dirty="0">
                <a:solidFill>
                  <a:schemeClr val="accent3"/>
                </a:solidFill>
              </a:rPr>
              <a:t>Not</a:t>
            </a:r>
            <a:r>
              <a:rPr lang="en-US" dirty="0">
                <a:solidFill>
                  <a:schemeClr val="accent1"/>
                </a:solidFill>
              </a:rPr>
              <a:t> </a:t>
            </a:r>
            <a:r>
              <a:rPr lang="en-US" dirty="0">
                <a:solidFill>
                  <a:schemeClr val="accent3"/>
                </a:solidFill>
              </a:rPr>
              <a:t>me.</a:t>
            </a:r>
            <a:r>
              <a:rPr lang="en-US" dirty="0"/>
              <a:t>)</a:t>
            </a:r>
          </a:p>
          <a:p>
            <a:endParaRPr lang="en-US" dirty="0"/>
          </a:p>
        </p:txBody>
      </p:sp>
    </p:spTree>
    <p:extLst>
      <p:ext uri="{BB962C8B-B14F-4D97-AF65-F5344CB8AC3E}">
        <p14:creationId xmlns:p14="http://schemas.microsoft.com/office/powerpoint/2010/main" val="20772478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B15A7-9880-390D-3E97-7723D54FB85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C56187-612D-5286-E442-8CDE1A0A39A1}"/>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14</a:t>
            </a:fld>
            <a:endParaRPr lang="en-US" dirty="0"/>
          </a:p>
        </p:txBody>
      </p:sp>
      <p:sp>
        <p:nvSpPr>
          <p:cNvPr id="3" name="Title 2">
            <a:extLst>
              <a:ext uri="{FF2B5EF4-FFF2-40B4-BE49-F238E27FC236}">
                <a16:creationId xmlns:a16="http://schemas.microsoft.com/office/drawing/2014/main" id="{8F7ADDAF-596C-5C58-AC54-4852C1EEF969}"/>
              </a:ext>
            </a:extLst>
          </p:cNvPr>
          <p:cNvSpPr>
            <a:spLocks noGrp="1"/>
          </p:cNvSpPr>
          <p:nvPr>
            <p:ph type="title"/>
          </p:nvPr>
        </p:nvSpPr>
        <p:spPr/>
        <p:txBody>
          <a:bodyPr>
            <a:normAutofit fontScale="90000"/>
          </a:bodyPr>
          <a:lstStyle/>
          <a:p>
            <a:r>
              <a:rPr lang="en-US" dirty="0">
                <a:solidFill>
                  <a:schemeClr val="accent3"/>
                </a:solidFill>
              </a:rPr>
              <a:t>Contrastive</a:t>
            </a:r>
            <a:r>
              <a:rPr lang="en-US" dirty="0"/>
              <a:t> vs. </a:t>
            </a:r>
            <a:r>
              <a:rPr lang="en-US" dirty="0">
                <a:solidFill>
                  <a:schemeClr val="accent6"/>
                </a:solidFill>
              </a:rPr>
              <a:t>Exhaustive</a:t>
            </a:r>
            <a:r>
              <a:rPr lang="en-US" dirty="0"/>
              <a:t>?</a:t>
            </a:r>
          </a:p>
        </p:txBody>
      </p:sp>
      <p:sp>
        <p:nvSpPr>
          <p:cNvPr id="4" name="Content Placeholder 3">
            <a:extLst>
              <a:ext uri="{FF2B5EF4-FFF2-40B4-BE49-F238E27FC236}">
                <a16:creationId xmlns:a16="http://schemas.microsoft.com/office/drawing/2014/main" id="{72B36A24-8501-0CC3-1762-E2A23E5FEC4E}"/>
              </a:ext>
            </a:extLst>
          </p:cNvPr>
          <p:cNvSpPr>
            <a:spLocks noGrp="1"/>
          </p:cNvSpPr>
          <p:nvPr>
            <p:ph idx="1"/>
          </p:nvPr>
        </p:nvSpPr>
        <p:spPr>
          <a:xfrm>
            <a:off x="1261871" y="1473200"/>
            <a:ext cx="10789921" cy="5019040"/>
          </a:xfrm>
        </p:spPr>
        <p:txBody>
          <a:bodyPr/>
          <a:lstStyle/>
          <a:p>
            <a:pPr marL="0" indent="0">
              <a:spcBef>
                <a:spcPts val="0"/>
              </a:spcBef>
              <a:buNone/>
            </a:pPr>
            <a:r>
              <a:rPr lang="en-US" dirty="0"/>
              <a:t>A </a:t>
            </a:r>
            <a:r>
              <a:rPr lang="hu-HU" dirty="0"/>
              <a:t>barátom </a:t>
            </a:r>
            <a:r>
              <a:rPr lang="hu-HU" dirty="0">
                <a:solidFill>
                  <a:schemeClr val="accent2"/>
                </a:solidFill>
              </a:rPr>
              <a:t>kínaiul</a:t>
            </a:r>
            <a:r>
              <a:rPr lang="hu-HU" dirty="0"/>
              <a:t> </a:t>
            </a:r>
            <a:r>
              <a:rPr lang="hu-HU" dirty="0">
                <a:solidFill>
                  <a:schemeClr val="accent4"/>
                </a:solidFill>
              </a:rPr>
              <a:t>tanul</a:t>
            </a:r>
            <a:r>
              <a:rPr lang="hu-HU" dirty="0"/>
              <a:t> Hongkongban.</a:t>
            </a:r>
            <a:r>
              <a:rPr lang="en-US" dirty="0"/>
              <a:t> 	</a:t>
            </a:r>
          </a:p>
          <a:p>
            <a:pPr marL="0" indent="0">
              <a:spcBef>
                <a:spcPts val="0"/>
              </a:spcBef>
              <a:buNone/>
            </a:pPr>
            <a:r>
              <a:rPr lang="en-US" i="1" dirty="0"/>
              <a:t>My friend studies Chinese in Hong Kong. </a:t>
            </a:r>
            <a:r>
              <a:rPr lang="en-US" dirty="0"/>
              <a:t>(</a:t>
            </a:r>
            <a:r>
              <a:rPr lang="en-US" dirty="0">
                <a:solidFill>
                  <a:schemeClr val="accent3"/>
                </a:solidFill>
              </a:rPr>
              <a:t>Not</a:t>
            </a:r>
            <a:r>
              <a:rPr lang="en-US" dirty="0">
                <a:solidFill>
                  <a:schemeClr val="accent1"/>
                </a:solidFill>
              </a:rPr>
              <a:t> </a:t>
            </a:r>
            <a:r>
              <a:rPr lang="en-US" dirty="0">
                <a:solidFill>
                  <a:schemeClr val="accent3"/>
                </a:solidFill>
              </a:rPr>
              <a:t>Hungarian</a:t>
            </a:r>
            <a:r>
              <a:rPr lang="en-US" dirty="0"/>
              <a:t> vs. </a:t>
            </a:r>
            <a:r>
              <a:rPr lang="en-US" dirty="0">
                <a:solidFill>
                  <a:schemeClr val="accent6"/>
                </a:solidFill>
              </a:rPr>
              <a:t>No other lang.</a:t>
            </a:r>
            <a:r>
              <a:rPr lang="en-US" dirty="0"/>
              <a:t>)</a:t>
            </a:r>
          </a:p>
          <a:p>
            <a:pPr marL="0" indent="0">
              <a:spcBef>
                <a:spcPts val="0"/>
              </a:spcBef>
              <a:buNone/>
            </a:pPr>
            <a:endParaRPr lang="hu-HU" i="1" dirty="0"/>
          </a:p>
          <a:p>
            <a:pPr marL="0" indent="0">
              <a:spcBef>
                <a:spcPts val="0"/>
              </a:spcBef>
              <a:buNone/>
            </a:pPr>
            <a:r>
              <a:rPr lang="hu-HU" dirty="0"/>
              <a:t>A barátom </a:t>
            </a:r>
            <a:r>
              <a:rPr lang="hu-HU" dirty="0">
                <a:solidFill>
                  <a:schemeClr val="accent2"/>
                </a:solidFill>
              </a:rPr>
              <a:t>Hongkongban</a:t>
            </a:r>
            <a:r>
              <a:rPr lang="hu-HU" dirty="0"/>
              <a:t> </a:t>
            </a:r>
            <a:r>
              <a:rPr lang="hu-HU" dirty="0">
                <a:solidFill>
                  <a:schemeClr val="accent4"/>
                </a:solidFill>
              </a:rPr>
              <a:t>tanul</a:t>
            </a:r>
            <a:r>
              <a:rPr lang="hu-HU" dirty="0"/>
              <a:t> kínaiul.</a:t>
            </a:r>
            <a:r>
              <a:rPr lang="en-US" dirty="0"/>
              <a:t> </a:t>
            </a:r>
          </a:p>
          <a:p>
            <a:pPr marL="0" indent="0">
              <a:spcBef>
                <a:spcPts val="0"/>
              </a:spcBef>
              <a:buNone/>
            </a:pPr>
            <a:r>
              <a:rPr lang="en-US" i="1" dirty="0"/>
              <a:t>It is in HK that my friend studies Chinese.</a:t>
            </a:r>
            <a:r>
              <a:rPr lang="en-US" dirty="0"/>
              <a:t> (</a:t>
            </a:r>
            <a:r>
              <a:rPr lang="en-US" dirty="0">
                <a:solidFill>
                  <a:schemeClr val="accent3"/>
                </a:solidFill>
              </a:rPr>
              <a:t>Not</a:t>
            </a:r>
            <a:r>
              <a:rPr lang="en-US" dirty="0">
                <a:solidFill>
                  <a:schemeClr val="accent1"/>
                </a:solidFill>
              </a:rPr>
              <a:t> </a:t>
            </a:r>
            <a:r>
              <a:rPr lang="en-US" dirty="0">
                <a:solidFill>
                  <a:schemeClr val="accent3"/>
                </a:solidFill>
              </a:rPr>
              <a:t>in</a:t>
            </a:r>
            <a:r>
              <a:rPr lang="en-US" dirty="0">
                <a:solidFill>
                  <a:schemeClr val="accent1"/>
                </a:solidFill>
              </a:rPr>
              <a:t> </a:t>
            </a:r>
            <a:r>
              <a:rPr lang="en-US" dirty="0">
                <a:solidFill>
                  <a:schemeClr val="accent3"/>
                </a:solidFill>
              </a:rPr>
              <a:t>Budapest</a:t>
            </a:r>
            <a:r>
              <a:rPr lang="en-US" dirty="0">
                <a:solidFill>
                  <a:schemeClr val="accent1"/>
                </a:solidFill>
              </a:rPr>
              <a:t> </a:t>
            </a:r>
            <a:r>
              <a:rPr lang="en-US" dirty="0"/>
              <a:t>vs. </a:t>
            </a:r>
            <a:r>
              <a:rPr lang="en-US" dirty="0">
                <a:solidFill>
                  <a:schemeClr val="accent6"/>
                </a:solidFill>
              </a:rPr>
              <a:t>Not anywhere</a:t>
            </a:r>
            <a:r>
              <a:rPr lang="en-US" dirty="0"/>
              <a:t>)</a:t>
            </a:r>
          </a:p>
          <a:p>
            <a:pPr marL="0" indent="0">
              <a:spcBef>
                <a:spcPts val="0"/>
              </a:spcBef>
              <a:buNone/>
            </a:pPr>
            <a:endParaRPr lang="hu-HU" dirty="0"/>
          </a:p>
          <a:p>
            <a:pPr marL="0" indent="0">
              <a:spcBef>
                <a:spcPts val="0"/>
              </a:spcBef>
              <a:buNone/>
            </a:pPr>
            <a:r>
              <a:rPr lang="hu-HU" dirty="0"/>
              <a:t>A </a:t>
            </a:r>
            <a:r>
              <a:rPr lang="hu-HU" dirty="0">
                <a:solidFill>
                  <a:schemeClr val="accent2"/>
                </a:solidFill>
              </a:rPr>
              <a:t>barátom</a:t>
            </a:r>
            <a:r>
              <a:rPr lang="hu-HU" dirty="0"/>
              <a:t> </a:t>
            </a:r>
            <a:r>
              <a:rPr lang="hu-HU" dirty="0">
                <a:solidFill>
                  <a:schemeClr val="accent4"/>
                </a:solidFill>
              </a:rPr>
              <a:t>tanul</a:t>
            </a:r>
            <a:r>
              <a:rPr lang="hu-HU" dirty="0"/>
              <a:t> kínaiul Hongkongban</a:t>
            </a:r>
            <a:r>
              <a:rPr lang="en-US" dirty="0"/>
              <a:t>.</a:t>
            </a:r>
          </a:p>
          <a:p>
            <a:pPr marL="0" indent="0">
              <a:spcBef>
                <a:spcPts val="0"/>
              </a:spcBef>
              <a:buNone/>
            </a:pPr>
            <a:r>
              <a:rPr lang="en-US" i="1" dirty="0"/>
              <a:t>It is my friend who studies Chinese in Hong Kong.</a:t>
            </a:r>
            <a:r>
              <a:rPr lang="en-US" dirty="0"/>
              <a:t> (</a:t>
            </a:r>
            <a:r>
              <a:rPr lang="en-US" dirty="0">
                <a:solidFill>
                  <a:schemeClr val="accent3"/>
                </a:solidFill>
              </a:rPr>
              <a:t>Not</a:t>
            </a:r>
            <a:r>
              <a:rPr lang="en-US" dirty="0">
                <a:solidFill>
                  <a:schemeClr val="accent1"/>
                </a:solidFill>
              </a:rPr>
              <a:t> </a:t>
            </a:r>
            <a:r>
              <a:rPr lang="en-US" dirty="0">
                <a:solidFill>
                  <a:schemeClr val="accent3"/>
                </a:solidFill>
              </a:rPr>
              <a:t>me</a:t>
            </a:r>
            <a:r>
              <a:rPr lang="en-US" dirty="0">
                <a:solidFill>
                  <a:schemeClr val="accent1"/>
                </a:solidFill>
              </a:rPr>
              <a:t> </a:t>
            </a:r>
            <a:r>
              <a:rPr lang="en-US" dirty="0"/>
              <a:t>vs.</a:t>
            </a:r>
            <a:r>
              <a:rPr lang="en-US" dirty="0">
                <a:solidFill>
                  <a:schemeClr val="accent6"/>
                </a:solidFill>
              </a:rPr>
              <a:t> Noone else</a:t>
            </a:r>
            <a:r>
              <a:rPr lang="en-US" dirty="0"/>
              <a:t>)</a:t>
            </a:r>
          </a:p>
          <a:p>
            <a:endParaRPr lang="en-US" dirty="0"/>
          </a:p>
        </p:txBody>
      </p:sp>
    </p:spTree>
    <p:extLst>
      <p:ext uri="{BB962C8B-B14F-4D97-AF65-F5344CB8AC3E}">
        <p14:creationId xmlns:p14="http://schemas.microsoft.com/office/powerpoint/2010/main" val="6874262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23B3692-C830-41E1-A29C-ABDAD04ACC14}"/>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15</a:t>
            </a:fld>
            <a:endParaRPr lang="en-US" dirty="0"/>
          </a:p>
        </p:txBody>
      </p:sp>
      <p:sp>
        <p:nvSpPr>
          <p:cNvPr id="3" name="Title 2">
            <a:extLst>
              <a:ext uri="{FF2B5EF4-FFF2-40B4-BE49-F238E27FC236}">
                <a16:creationId xmlns:a16="http://schemas.microsoft.com/office/drawing/2014/main" id="{E8CF2C69-C1B6-2D7B-AE99-7F6150E3316E}"/>
              </a:ext>
            </a:extLst>
          </p:cNvPr>
          <p:cNvSpPr>
            <a:spLocks noGrp="1"/>
          </p:cNvSpPr>
          <p:nvPr>
            <p:ph type="title"/>
          </p:nvPr>
        </p:nvSpPr>
        <p:spPr/>
        <p:txBody>
          <a:bodyPr>
            <a:normAutofit fontScale="90000"/>
          </a:bodyPr>
          <a:lstStyle/>
          <a:p>
            <a:r>
              <a:rPr lang="en-US" dirty="0"/>
              <a:t>Experiment design</a:t>
            </a:r>
          </a:p>
        </p:txBody>
      </p:sp>
      <p:sp>
        <p:nvSpPr>
          <p:cNvPr id="4" name="Content Placeholder 3">
            <a:extLst>
              <a:ext uri="{FF2B5EF4-FFF2-40B4-BE49-F238E27FC236}">
                <a16:creationId xmlns:a16="http://schemas.microsoft.com/office/drawing/2014/main" id="{1DCAE51D-A235-D515-6F37-0EAA9B0D81FF}"/>
              </a:ext>
            </a:extLst>
          </p:cNvPr>
          <p:cNvSpPr>
            <a:spLocks noGrp="1"/>
          </p:cNvSpPr>
          <p:nvPr>
            <p:ph idx="1"/>
          </p:nvPr>
        </p:nvSpPr>
        <p:spPr/>
        <p:txBody>
          <a:bodyPr/>
          <a:lstStyle/>
          <a:p>
            <a:pPr marL="0" indent="0">
              <a:buNone/>
            </a:pPr>
            <a:r>
              <a:rPr lang="en-US" u="sng" dirty="0"/>
              <a:t>3 conditions</a:t>
            </a:r>
            <a:r>
              <a:rPr lang="en-US" dirty="0"/>
              <a:t> – sentences</a:t>
            </a:r>
            <a:endParaRPr lang="en-US" u="sng" dirty="0"/>
          </a:p>
          <a:p>
            <a:pPr marL="457200" indent="-457200"/>
            <a:r>
              <a:rPr lang="en-US" dirty="0"/>
              <a:t>Exhaustive – forced with </a:t>
            </a:r>
            <a:r>
              <a:rPr lang="en-US" i="1" dirty="0" err="1"/>
              <a:t>csak</a:t>
            </a:r>
            <a:r>
              <a:rPr lang="en-US" dirty="0"/>
              <a:t> ‘only’</a:t>
            </a:r>
          </a:p>
          <a:p>
            <a:pPr marL="457200" indent="-457200"/>
            <a:r>
              <a:rPr lang="en-US" dirty="0"/>
              <a:t>Focus – typical focus construction</a:t>
            </a:r>
          </a:p>
          <a:p>
            <a:pPr marL="457200" indent="-457200"/>
            <a:r>
              <a:rPr lang="en-US" dirty="0"/>
              <a:t>Contrastive – implied with </a:t>
            </a:r>
            <a:r>
              <a:rPr lang="hu-HU" i="1" dirty="0"/>
              <a:t>többek között</a:t>
            </a:r>
            <a:r>
              <a:rPr lang="hu-HU" dirty="0"/>
              <a:t> </a:t>
            </a:r>
            <a:r>
              <a:rPr lang="en-US" dirty="0"/>
              <a:t>‘amongst others’</a:t>
            </a:r>
          </a:p>
        </p:txBody>
      </p:sp>
    </p:spTree>
    <p:extLst>
      <p:ext uri="{BB962C8B-B14F-4D97-AF65-F5344CB8AC3E}">
        <p14:creationId xmlns:p14="http://schemas.microsoft.com/office/powerpoint/2010/main" val="24997970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C0AB3-76ED-A648-7FAD-94EA6289DFF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59F8E59-B77D-3DAF-4C38-FFCB68EC75F8}"/>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16</a:t>
            </a:fld>
            <a:endParaRPr lang="en-US" dirty="0"/>
          </a:p>
        </p:txBody>
      </p:sp>
      <p:sp>
        <p:nvSpPr>
          <p:cNvPr id="3" name="Title 2">
            <a:extLst>
              <a:ext uri="{FF2B5EF4-FFF2-40B4-BE49-F238E27FC236}">
                <a16:creationId xmlns:a16="http://schemas.microsoft.com/office/drawing/2014/main" id="{BF62CE60-FC08-8A50-FDFA-73328C21BE78}"/>
              </a:ext>
            </a:extLst>
          </p:cNvPr>
          <p:cNvSpPr>
            <a:spLocks noGrp="1"/>
          </p:cNvSpPr>
          <p:nvPr>
            <p:ph type="title"/>
          </p:nvPr>
        </p:nvSpPr>
        <p:spPr/>
        <p:txBody>
          <a:bodyPr>
            <a:normAutofit fontScale="90000"/>
          </a:bodyPr>
          <a:lstStyle/>
          <a:p>
            <a:r>
              <a:rPr lang="en-US" dirty="0"/>
              <a:t>Experiment design</a:t>
            </a:r>
          </a:p>
        </p:txBody>
      </p:sp>
      <p:sp>
        <p:nvSpPr>
          <p:cNvPr id="4" name="Content Placeholder 3">
            <a:extLst>
              <a:ext uri="{FF2B5EF4-FFF2-40B4-BE49-F238E27FC236}">
                <a16:creationId xmlns:a16="http://schemas.microsoft.com/office/drawing/2014/main" id="{D4F984ED-5652-66D7-A9D6-D2C5742DD3FE}"/>
              </a:ext>
            </a:extLst>
          </p:cNvPr>
          <p:cNvSpPr>
            <a:spLocks noGrp="1"/>
          </p:cNvSpPr>
          <p:nvPr>
            <p:ph idx="1"/>
          </p:nvPr>
        </p:nvSpPr>
        <p:spPr/>
        <p:txBody>
          <a:bodyPr/>
          <a:lstStyle/>
          <a:p>
            <a:pPr marL="0" indent="0">
              <a:buNone/>
            </a:pPr>
            <a:r>
              <a:rPr lang="en-US" u="sng" dirty="0"/>
              <a:t>3 conditions</a:t>
            </a:r>
            <a:r>
              <a:rPr lang="en-US" dirty="0"/>
              <a:t> – sentences</a:t>
            </a:r>
            <a:endParaRPr lang="en-US" u="sng" dirty="0"/>
          </a:p>
          <a:p>
            <a:pPr marL="457200" indent="-457200"/>
            <a:r>
              <a:rPr lang="en-US" dirty="0">
                <a:solidFill>
                  <a:schemeClr val="accent6"/>
                </a:solidFill>
              </a:rPr>
              <a:t>Exhaustive</a:t>
            </a:r>
            <a:r>
              <a:rPr lang="en-US" dirty="0"/>
              <a:t> – forced with </a:t>
            </a:r>
            <a:r>
              <a:rPr lang="en-US" i="1" dirty="0" err="1"/>
              <a:t>csak</a:t>
            </a:r>
            <a:r>
              <a:rPr lang="en-US" dirty="0"/>
              <a:t> ‘only’</a:t>
            </a:r>
          </a:p>
          <a:p>
            <a:pPr marL="457200" indent="-457200"/>
            <a:r>
              <a:rPr lang="en-US" dirty="0"/>
              <a:t>Focus – typical focus construction</a:t>
            </a:r>
          </a:p>
          <a:p>
            <a:pPr marL="457200" indent="-457200"/>
            <a:r>
              <a:rPr lang="en-US" dirty="0">
                <a:solidFill>
                  <a:schemeClr val="accent3"/>
                </a:solidFill>
              </a:rPr>
              <a:t>Contrastive</a:t>
            </a:r>
            <a:r>
              <a:rPr lang="en-US" dirty="0"/>
              <a:t> – implied with </a:t>
            </a:r>
            <a:r>
              <a:rPr lang="hu-HU" i="1" dirty="0"/>
              <a:t>többek között</a:t>
            </a:r>
            <a:r>
              <a:rPr lang="hu-HU" dirty="0"/>
              <a:t> </a:t>
            </a:r>
            <a:r>
              <a:rPr lang="en-US" dirty="0"/>
              <a:t>‘amongst others’</a:t>
            </a:r>
          </a:p>
        </p:txBody>
      </p:sp>
    </p:spTree>
    <p:extLst>
      <p:ext uri="{BB962C8B-B14F-4D97-AF65-F5344CB8AC3E}">
        <p14:creationId xmlns:p14="http://schemas.microsoft.com/office/powerpoint/2010/main" val="41994804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F4DFC-0F27-80D6-873D-12AEE6AC713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3A3DAB-522B-00A4-A833-BC25726A8669}"/>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17</a:t>
            </a:fld>
            <a:endParaRPr lang="en-US" dirty="0"/>
          </a:p>
        </p:txBody>
      </p:sp>
      <p:sp>
        <p:nvSpPr>
          <p:cNvPr id="3" name="Title 2">
            <a:extLst>
              <a:ext uri="{FF2B5EF4-FFF2-40B4-BE49-F238E27FC236}">
                <a16:creationId xmlns:a16="http://schemas.microsoft.com/office/drawing/2014/main" id="{FED3D4EC-19EA-CCA4-185E-5EE435D400E4}"/>
              </a:ext>
            </a:extLst>
          </p:cNvPr>
          <p:cNvSpPr>
            <a:spLocks noGrp="1"/>
          </p:cNvSpPr>
          <p:nvPr>
            <p:ph type="title"/>
          </p:nvPr>
        </p:nvSpPr>
        <p:spPr/>
        <p:txBody>
          <a:bodyPr>
            <a:normAutofit fontScale="90000"/>
          </a:bodyPr>
          <a:lstStyle/>
          <a:p>
            <a:r>
              <a:rPr lang="en-US" dirty="0"/>
              <a:t>Experiment design</a:t>
            </a:r>
          </a:p>
        </p:txBody>
      </p:sp>
      <p:sp>
        <p:nvSpPr>
          <p:cNvPr id="4" name="Content Placeholder 3">
            <a:extLst>
              <a:ext uri="{FF2B5EF4-FFF2-40B4-BE49-F238E27FC236}">
                <a16:creationId xmlns:a16="http://schemas.microsoft.com/office/drawing/2014/main" id="{5AC4E7EC-DC7E-3BA2-98E9-45B8B9EC6EDD}"/>
              </a:ext>
            </a:extLst>
          </p:cNvPr>
          <p:cNvSpPr>
            <a:spLocks noGrp="1"/>
          </p:cNvSpPr>
          <p:nvPr>
            <p:ph idx="1"/>
          </p:nvPr>
        </p:nvSpPr>
        <p:spPr>
          <a:ln>
            <a:noFill/>
          </a:ln>
        </p:spPr>
        <p:txBody>
          <a:bodyPr/>
          <a:lstStyle/>
          <a:p>
            <a:pPr marL="0" indent="0">
              <a:buNone/>
            </a:pPr>
            <a:r>
              <a:rPr lang="en-US" u="sng" dirty="0"/>
              <a:t>3 conditions</a:t>
            </a:r>
            <a:r>
              <a:rPr lang="en-US" dirty="0"/>
              <a:t> – sentences</a:t>
            </a:r>
            <a:endParaRPr lang="en-US" u="sng" dirty="0"/>
          </a:p>
          <a:p>
            <a:pPr marL="457200" indent="-457200"/>
            <a:r>
              <a:rPr lang="en-US" dirty="0">
                <a:solidFill>
                  <a:schemeClr val="accent6"/>
                </a:solidFill>
              </a:rPr>
              <a:t>Exhaustive</a:t>
            </a:r>
            <a:r>
              <a:rPr lang="en-US" dirty="0"/>
              <a:t> – forced with </a:t>
            </a:r>
            <a:r>
              <a:rPr lang="en-US" i="1" dirty="0" err="1"/>
              <a:t>csak</a:t>
            </a:r>
            <a:r>
              <a:rPr lang="en-US" dirty="0"/>
              <a:t> ‘only’</a:t>
            </a:r>
          </a:p>
          <a:p>
            <a:pPr marL="457200" indent="-457200"/>
            <a:r>
              <a:rPr lang="en-US" dirty="0"/>
              <a:t>Focus – typical focus construction</a:t>
            </a:r>
          </a:p>
          <a:p>
            <a:pPr marL="457200" indent="-457200"/>
            <a:r>
              <a:rPr lang="en-US" dirty="0">
                <a:solidFill>
                  <a:schemeClr val="accent3"/>
                </a:solidFill>
              </a:rPr>
              <a:t>Contrastive</a:t>
            </a:r>
            <a:r>
              <a:rPr lang="en-US" dirty="0"/>
              <a:t> – implied with </a:t>
            </a:r>
            <a:r>
              <a:rPr lang="hu-HU" i="1" dirty="0"/>
              <a:t>többek között</a:t>
            </a:r>
            <a:r>
              <a:rPr lang="hu-HU" dirty="0"/>
              <a:t> </a:t>
            </a:r>
            <a:r>
              <a:rPr lang="en-US" dirty="0"/>
              <a:t>‘amongst others’</a:t>
            </a:r>
          </a:p>
        </p:txBody>
      </p:sp>
      <p:sp>
        <p:nvSpPr>
          <p:cNvPr id="5" name="Rectangle: Rounded Corners 4">
            <a:extLst>
              <a:ext uri="{FF2B5EF4-FFF2-40B4-BE49-F238E27FC236}">
                <a16:creationId xmlns:a16="http://schemas.microsoft.com/office/drawing/2014/main" id="{3E324E1E-235E-698E-E217-DE6A9691ED82}"/>
              </a:ext>
            </a:extLst>
          </p:cNvPr>
          <p:cNvSpPr/>
          <p:nvPr/>
        </p:nvSpPr>
        <p:spPr>
          <a:xfrm>
            <a:off x="1655064" y="2788920"/>
            <a:ext cx="5404104" cy="640080"/>
          </a:xfrm>
          <a:prstGeom prst="roundRect">
            <a:avLst/>
          </a:prstGeom>
          <a:noFill/>
          <a:ln w="571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US">
              <a:solidFill>
                <a:schemeClr val="accent1"/>
              </a:solidFill>
            </a:endParaRPr>
          </a:p>
        </p:txBody>
      </p:sp>
      <p:sp>
        <p:nvSpPr>
          <p:cNvPr id="6" name="TextBox 5">
            <a:extLst>
              <a:ext uri="{FF2B5EF4-FFF2-40B4-BE49-F238E27FC236}">
                <a16:creationId xmlns:a16="http://schemas.microsoft.com/office/drawing/2014/main" id="{DAB17A93-004B-8CA9-0870-B84D3CA6A356}"/>
              </a:ext>
            </a:extLst>
          </p:cNvPr>
          <p:cNvSpPr txBox="1"/>
          <p:nvPr/>
        </p:nvSpPr>
        <p:spPr>
          <a:xfrm>
            <a:off x="10382039" y="2554962"/>
            <a:ext cx="1144942" cy="1107996"/>
          </a:xfrm>
          <a:prstGeom prst="rect">
            <a:avLst/>
          </a:prstGeom>
          <a:noFill/>
        </p:spPr>
        <p:txBody>
          <a:bodyPr wrap="square" rtlCol="0">
            <a:spAutoFit/>
          </a:bodyPr>
          <a:lstStyle/>
          <a:p>
            <a:r>
              <a:rPr lang="en-US" sz="6600" dirty="0">
                <a:solidFill>
                  <a:schemeClr val="accent1"/>
                </a:solidFill>
              </a:rPr>
              <a:t>?</a:t>
            </a:r>
          </a:p>
        </p:txBody>
      </p:sp>
    </p:spTree>
    <p:extLst>
      <p:ext uri="{BB962C8B-B14F-4D97-AF65-F5344CB8AC3E}">
        <p14:creationId xmlns:p14="http://schemas.microsoft.com/office/powerpoint/2010/main" val="29371776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3AA2F-821F-CC36-1B2C-68289BAE169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050410B-903A-A0AE-D3FB-B854C1DF513E}"/>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18</a:t>
            </a:fld>
            <a:endParaRPr lang="en-US" dirty="0"/>
          </a:p>
        </p:txBody>
      </p:sp>
      <p:sp>
        <p:nvSpPr>
          <p:cNvPr id="3" name="Title 2">
            <a:extLst>
              <a:ext uri="{FF2B5EF4-FFF2-40B4-BE49-F238E27FC236}">
                <a16:creationId xmlns:a16="http://schemas.microsoft.com/office/drawing/2014/main" id="{AB570F49-8BEF-2597-01AC-C589EB8F7DCE}"/>
              </a:ext>
            </a:extLst>
          </p:cNvPr>
          <p:cNvSpPr>
            <a:spLocks noGrp="1"/>
          </p:cNvSpPr>
          <p:nvPr>
            <p:ph type="title"/>
          </p:nvPr>
        </p:nvSpPr>
        <p:spPr/>
        <p:txBody>
          <a:bodyPr>
            <a:normAutofit fontScale="90000"/>
          </a:bodyPr>
          <a:lstStyle/>
          <a:p>
            <a:r>
              <a:rPr lang="en-US" dirty="0"/>
              <a:t>Experiment design</a:t>
            </a:r>
          </a:p>
        </p:txBody>
      </p:sp>
      <p:sp>
        <p:nvSpPr>
          <p:cNvPr id="4" name="Content Placeholder 3">
            <a:extLst>
              <a:ext uri="{FF2B5EF4-FFF2-40B4-BE49-F238E27FC236}">
                <a16:creationId xmlns:a16="http://schemas.microsoft.com/office/drawing/2014/main" id="{2F512AE7-A361-2707-C100-78DB839DA5DE}"/>
              </a:ext>
            </a:extLst>
          </p:cNvPr>
          <p:cNvSpPr>
            <a:spLocks noGrp="1"/>
          </p:cNvSpPr>
          <p:nvPr>
            <p:ph idx="1"/>
          </p:nvPr>
        </p:nvSpPr>
        <p:spPr>
          <a:ln>
            <a:noFill/>
          </a:ln>
        </p:spPr>
        <p:txBody>
          <a:bodyPr/>
          <a:lstStyle/>
          <a:p>
            <a:pPr marL="0" indent="0">
              <a:buNone/>
            </a:pPr>
            <a:r>
              <a:rPr lang="en-US" u="sng" dirty="0"/>
              <a:t>3 conditions</a:t>
            </a:r>
            <a:r>
              <a:rPr lang="en-US" dirty="0"/>
              <a:t> – sentences</a:t>
            </a:r>
            <a:endParaRPr lang="en-US" u="sng" dirty="0"/>
          </a:p>
          <a:p>
            <a:pPr marL="457200" indent="-457200"/>
            <a:r>
              <a:rPr lang="en-US" dirty="0">
                <a:solidFill>
                  <a:schemeClr val="accent6"/>
                </a:solidFill>
              </a:rPr>
              <a:t>Exhaustive</a:t>
            </a:r>
            <a:r>
              <a:rPr lang="en-US" dirty="0"/>
              <a:t> – forced with </a:t>
            </a:r>
            <a:r>
              <a:rPr lang="en-US" i="1" dirty="0" err="1"/>
              <a:t>csak</a:t>
            </a:r>
            <a:r>
              <a:rPr lang="en-US" dirty="0"/>
              <a:t> ‘only’</a:t>
            </a:r>
          </a:p>
          <a:p>
            <a:pPr marL="457200" indent="-457200"/>
            <a:r>
              <a:rPr lang="en-US" dirty="0"/>
              <a:t>Focus – typical focus construction</a:t>
            </a:r>
          </a:p>
          <a:p>
            <a:pPr marL="457200" indent="-457200"/>
            <a:r>
              <a:rPr lang="en-US" dirty="0">
                <a:solidFill>
                  <a:schemeClr val="accent3"/>
                </a:solidFill>
              </a:rPr>
              <a:t>Contrastive</a:t>
            </a:r>
            <a:r>
              <a:rPr lang="en-US" dirty="0"/>
              <a:t> – implied with </a:t>
            </a:r>
            <a:r>
              <a:rPr lang="hu-HU" i="1" dirty="0"/>
              <a:t>többek között</a:t>
            </a:r>
            <a:r>
              <a:rPr lang="hu-HU" dirty="0"/>
              <a:t> </a:t>
            </a:r>
            <a:r>
              <a:rPr lang="en-US" dirty="0"/>
              <a:t>‘amongst others’</a:t>
            </a:r>
          </a:p>
          <a:p>
            <a:pPr marL="0" indent="0">
              <a:buNone/>
            </a:pPr>
            <a:r>
              <a:rPr lang="en-US" u="sng" dirty="0"/>
              <a:t>2 choices</a:t>
            </a:r>
            <a:r>
              <a:rPr lang="en-US" dirty="0"/>
              <a:t> – images </a:t>
            </a:r>
            <a:endParaRPr lang="en-US" u="sng" dirty="0"/>
          </a:p>
          <a:p>
            <a:pPr marL="457200" indent="-457200"/>
            <a:r>
              <a:rPr lang="en-US" dirty="0"/>
              <a:t>Exhaustive vs. Not Exhaustive</a:t>
            </a:r>
          </a:p>
          <a:p>
            <a:pPr marL="457200" indent="-457200"/>
            <a:endParaRPr lang="en-US" dirty="0"/>
          </a:p>
        </p:txBody>
      </p:sp>
      <p:sp>
        <p:nvSpPr>
          <p:cNvPr id="5" name="Rectangle: Rounded Corners 4">
            <a:extLst>
              <a:ext uri="{FF2B5EF4-FFF2-40B4-BE49-F238E27FC236}">
                <a16:creationId xmlns:a16="http://schemas.microsoft.com/office/drawing/2014/main" id="{51336C04-7FED-E9AD-B606-A63B547B683A}"/>
              </a:ext>
            </a:extLst>
          </p:cNvPr>
          <p:cNvSpPr/>
          <p:nvPr/>
        </p:nvSpPr>
        <p:spPr>
          <a:xfrm>
            <a:off x="1655064" y="2788920"/>
            <a:ext cx="5404104" cy="640080"/>
          </a:xfrm>
          <a:prstGeom prst="roundRect">
            <a:avLst/>
          </a:prstGeom>
          <a:noFill/>
          <a:ln w="5715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p>
            <a:pPr algn="ctr"/>
            <a:endParaRPr lang="en-US">
              <a:solidFill>
                <a:schemeClr val="accent1"/>
              </a:solidFill>
            </a:endParaRPr>
          </a:p>
        </p:txBody>
      </p:sp>
      <p:sp>
        <p:nvSpPr>
          <p:cNvPr id="6" name="TextBox 5">
            <a:extLst>
              <a:ext uri="{FF2B5EF4-FFF2-40B4-BE49-F238E27FC236}">
                <a16:creationId xmlns:a16="http://schemas.microsoft.com/office/drawing/2014/main" id="{225D9543-380F-2290-92E2-4964259A30D0}"/>
              </a:ext>
            </a:extLst>
          </p:cNvPr>
          <p:cNvSpPr txBox="1"/>
          <p:nvPr/>
        </p:nvSpPr>
        <p:spPr>
          <a:xfrm>
            <a:off x="10382039" y="2554962"/>
            <a:ext cx="1144942" cy="1107996"/>
          </a:xfrm>
          <a:prstGeom prst="rect">
            <a:avLst/>
          </a:prstGeom>
          <a:noFill/>
        </p:spPr>
        <p:txBody>
          <a:bodyPr wrap="square" rtlCol="0">
            <a:spAutoFit/>
          </a:bodyPr>
          <a:lstStyle/>
          <a:p>
            <a:r>
              <a:rPr lang="en-US" sz="6600" dirty="0">
                <a:solidFill>
                  <a:schemeClr val="accent1"/>
                </a:solidFill>
              </a:rPr>
              <a:t>?</a:t>
            </a:r>
          </a:p>
        </p:txBody>
      </p:sp>
    </p:spTree>
    <p:extLst>
      <p:ext uri="{BB962C8B-B14F-4D97-AF65-F5344CB8AC3E}">
        <p14:creationId xmlns:p14="http://schemas.microsoft.com/office/powerpoint/2010/main" val="30487596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B4F82-CAF9-6196-3292-ED7F901101E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295C878-4F16-F063-0CC6-9D38DF2DE820}"/>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19</a:t>
            </a:fld>
            <a:endParaRPr lang="en-US" dirty="0"/>
          </a:p>
        </p:txBody>
      </p:sp>
      <p:sp>
        <p:nvSpPr>
          <p:cNvPr id="5" name="TextBox 4">
            <a:extLst>
              <a:ext uri="{FF2B5EF4-FFF2-40B4-BE49-F238E27FC236}">
                <a16:creationId xmlns:a16="http://schemas.microsoft.com/office/drawing/2014/main" id="{6A57E076-1E5A-D715-22F0-10A24CD1307D}"/>
              </a:ext>
            </a:extLst>
          </p:cNvPr>
          <p:cNvSpPr txBox="1"/>
          <p:nvPr/>
        </p:nvSpPr>
        <p:spPr>
          <a:xfrm>
            <a:off x="1188720" y="310896"/>
            <a:ext cx="10760964" cy="4154984"/>
          </a:xfrm>
          <a:prstGeom prst="rect">
            <a:avLst/>
          </a:prstGeom>
          <a:noFill/>
        </p:spPr>
        <p:txBody>
          <a:bodyPr wrap="square">
            <a:spAutoFit/>
          </a:bodyPr>
          <a:lstStyle/>
          <a:p>
            <a:r>
              <a:rPr lang="hu-HU" sz="2400" b="1" dirty="0"/>
              <a:t>Ami	</a:t>
            </a:r>
            <a:r>
              <a:rPr lang="en-US" sz="2400" b="1" dirty="0"/>
              <a:t>		</a:t>
            </a:r>
            <a:r>
              <a:rPr lang="hu-HU" sz="2400" b="1" dirty="0"/>
              <a:t>a gyümölcsöket	illeti	</a:t>
            </a:r>
            <a:r>
              <a:rPr lang="en-US" sz="2400" b="1" dirty="0"/>
              <a:t>	</a:t>
            </a:r>
            <a:r>
              <a:rPr lang="hu-HU" sz="2400" b="1" dirty="0"/>
              <a:t>Anna	</a:t>
            </a:r>
            <a:r>
              <a:rPr lang="hu-HU" sz="2400" b="1" dirty="0">
                <a:solidFill>
                  <a:schemeClr val="accent4"/>
                </a:solidFill>
              </a:rPr>
              <a:t>csak</a:t>
            </a:r>
            <a:r>
              <a:rPr lang="hu-HU" sz="2400" b="1" dirty="0"/>
              <a:t>	</a:t>
            </a:r>
            <a:r>
              <a:rPr lang="en-US" sz="2400" b="1" dirty="0"/>
              <a:t>	</a:t>
            </a:r>
            <a:r>
              <a:rPr lang="hu-HU" sz="2400" b="1" dirty="0"/>
              <a:t>egy banánt	</a:t>
            </a:r>
            <a:r>
              <a:rPr lang="en-US" sz="2400" b="1" dirty="0"/>
              <a:t>	</a:t>
            </a:r>
            <a:r>
              <a:rPr lang="hu-HU" sz="2400" b="1" dirty="0"/>
              <a:t>evett.</a:t>
            </a:r>
          </a:p>
          <a:p>
            <a:r>
              <a:rPr lang="hu-HU" sz="2400" dirty="0" err="1"/>
              <a:t>which</a:t>
            </a:r>
            <a:r>
              <a:rPr lang="hu-HU" sz="2400" dirty="0"/>
              <a:t> (</a:t>
            </a:r>
            <a:r>
              <a:rPr lang="hu-HU" sz="2400" dirty="0" err="1"/>
              <a:t>rel</a:t>
            </a:r>
            <a:r>
              <a:rPr lang="en-US" sz="2400" dirty="0"/>
              <a:t>.</a:t>
            </a:r>
            <a:r>
              <a:rPr lang="hu-HU" sz="2400" dirty="0"/>
              <a:t>)	</a:t>
            </a:r>
            <a:r>
              <a:rPr lang="en-US" sz="2400" dirty="0"/>
              <a:t>	</a:t>
            </a:r>
            <a:r>
              <a:rPr lang="hu-HU" sz="2400" dirty="0" err="1"/>
              <a:t>the</a:t>
            </a:r>
            <a:r>
              <a:rPr lang="hu-HU" sz="2400" dirty="0"/>
              <a:t> </a:t>
            </a:r>
            <a:r>
              <a:rPr lang="hu-HU" sz="2400" dirty="0" err="1"/>
              <a:t>fruits</a:t>
            </a:r>
            <a:r>
              <a:rPr lang="hu-HU" sz="2400" dirty="0"/>
              <a:t>-ACC	</a:t>
            </a:r>
            <a:r>
              <a:rPr lang="en-US" sz="2400" dirty="0"/>
              <a:t>	</a:t>
            </a:r>
            <a:r>
              <a:rPr lang="hu-HU" sz="2400" dirty="0" err="1"/>
              <a:t>regards</a:t>
            </a:r>
            <a:r>
              <a:rPr lang="hu-HU" sz="2400" dirty="0"/>
              <a:t>	</a:t>
            </a:r>
            <a:r>
              <a:rPr lang="en-US" sz="2400" dirty="0"/>
              <a:t>	</a:t>
            </a:r>
            <a:r>
              <a:rPr lang="hu-HU" sz="2400" dirty="0"/>
              <a:t>Anna	</a:t>
            </a:r>
            <a:r>
              <a:rPr lang="hu-HU" sz="2400" dirty="0" err="1"/>
              <a:t>only</a:t>
            </a:r>
            <a:r>
              <a:rPr lang="hu-HU" sz="2400" dirty="0"/>
              <a:t>	</a:t>
            </a:r>
            <a:r>
              <a:rPr lang="en-US" sz="2400" dirty="0"/>
              <a:t>	</a:t>
            </a:r>
            <a:r>
              <a:rPr lang="hu-HU" sz="2400" dirty="0"/>
              <a:t>a </a:t>
            </a:r>
            <a:r>
              <a:rPr lang="hu-HU" sz="2400" dirty="0" err="1"/>
              <a:t>banana</a:t>
            </a:r>
            <a:r>
              <a:rPr lang="hu-HU" sz="2400" dirty="0"/>
              <a:t>-ACC	ate-3SG</a:t>
            </a:r>
          </a:p>
          <a:p>
            <a:r>
              <a:rPr lang="hu-HU" sz="2400" i="1" dirty="0" err="1"/>
              <a:t>Regarding</a:t>
            </a:r>
            <a:r>
              <a:rPr lang="hu-HU" sz="2400" i="1" dirty="0"/>
              <a:t> </a:t>
            </a:r>
            <a:r>
              <a:rPr lang="hu-HU" sz="2400" i="1" dirty="0" err="1"/>
              <a:t>fruits</a:t>
            </a:r>
            <a:r>
              <a:rPr lang="hu-HU" sz="2400" i="1" dirty="0"/>
              <a:t>, Anna </a:t>
            </a:r>
            <a:r>
              <a:rPr lang="hu-HU" sz="2400" i="1" dirty="0" err="1"/>
              <a:t>ate</a:t>
            </a:r>
            <a:r>
              <a:rPr lang="hu-HU" sz="2400" i="1" dirty="0"/>
              <a:t> </a:t>
            </a:r>
            <a:r>
              <a:rPr lang="hu-HU" sz="2400" i="1" dirty="0" err="1"/>
              <a:t>only</a:t>
            </a:r>
            <a:r>
              <a:rPr lang="hu-HU" sz="2400" i="1" dirty="0"/>
              <a:t> a </a:t>
            </a:r>
            <a:r>
              <a:rPr lang="hu-HU" sz="2400" i="1" dirty="0" err="1"/>
              <a:t>banana</a:t>
            </a:r>
            <a:r>
              <a:rPr lang="hu-HU" sz="2400" i="1" dirty="0"/>
              <a:t>.	</a:t>
            </a:r>
            <a:r>
              <a:rPr lang="hu-HU" sz="2400" dirty="0"/>
              <a:t>	</a:t>
            </a:r>
            <a:endParaRPr lang="en-US" sz="2400" dirty="0"/>
          </a:p>
          <a:p>
            <a:r>
              <a:rPr lang="hu-HU" sz="2400" dirty="0"/>
              <a:t>				</a:t>
            </a:r>
          </a:p>
          <a:p>
            <a:r>
              <a:rPr lang="hu-HU" sz="2400" b="1" dirty="0">
                <a:effectLst>
                  <a:outerShdw blurRad="38100" dist="38100" dir="2700000" algn="tl">
                    <a:srgbClr val="000000">
                      <a:alpha val="43137"/>
                    </a:srgbClr>
                  </a:outerShdw>
                </a:effectLst>
              </a:rPr>
              <a:t>Ami	</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a gyümölcsöket	illeti	</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Anna	tegnap</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egy banánt	</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evett.</a:t>
            </a:r>
          </a:p>
          <a:p>
            <a:r>
              <a:rPr lang="hu-HU" sz="2400" dirty="0" err="1">
                <a:effectLst>
                  <a:outerShdw blurRad="38100" dist="38100" dir="2700000" algn="tl">
                    <a:srgbClr val="000000">
                      <a:alpha val="43137"/>
                    </a:srgbClr>
                  </a:outerShdw>
                </a:effectLst>
              </a:rPr>
              <a:t>which</a:t>
            </a:r>
            <a:r>
              <a:rPr lang="hu-HU" sz="2400" dirty="0">
                <a:effectLst>
                  <a:outerShdw blurRad="38100" dist="38100" dir="2700000" algn="tl">
                    <a:srgbClr val="000000">
                      <a:alpha val="43137"/>
                    </a:srgbClr>
                  </a:outerShdw>
                </a:effectLst>
              </a:rPr>
              <a:t> (</a:t>
            </a:r>
            <a:r>
              <a:rPr lang="hu-HU" sz="2400" dirty="0" err="1">
                <a:effectLst>
                  <a:outerShdw blurRad="38100" dist="38100" dir="2700000" algn="tl">
                    <a:srgbClr val="000000">
                      <a:alpha val="43137"/>
                    </a:srgbClr>
                  </a:outerShdw>
                </a:effectLst>
              </a:rPr>
              <a:t>rel</a:t>
            </a:r>
            <a:r>
              <a:rPr lang="en-US" sz="2400" dirty="0">
                <a:effectLst>
                  <a:outerShdw blurRad="38100" dist="38100" dir="2700000" algn="tl">
                    <a:srgbClr val="000000">
                      <a:alpha val="43137"/>
                    </a:srgbClr>
                  </a:outerShdw>
                </a:effectLst>
              </a:rPr>
              <a:t>.</a:t>
            </a:r>
            <a:r>
              <a:rPr lang="hu-HU" sz="2400" dirty="0">
                <a:effectLst>
                  <a:outerShdw blurRad="38100" dist="38100" dir="2700000" algn="tl">
                    <a:srgbClr val="000000">
                      <a:alpha val="43137"/>
                    </a:srgbClr>
                  </a:outerShdw>
                </a:effectLst>
              </a:rPr>
              <a:t>)</a:t>
            </a:r>
            <a:r>
              <a:rPr lang="en-US" sz="2400" dirty="0">
                <a:effectLst>
                  <a:outerShdw blurRad="38100" dist="38100" dir="2700000" algn="tl">
                    <a:srgbClr val="000000">
                      <a:alpha val="43137"/>
                    </a:srgbClr>
                  </a:outerShdw>
                </a:effectLst>
              </a:rPr>
              <a:t>	</a:t>
            </a:r>
            <a:r>
              <a:rPr lang="hu-HU" sz="2400" dirty="0">
                <a:effectLst>
                  <a:outerShdw blurRad="38100" dist="38100" dir="2700000" algn="tl">
                    <a:srgbClr val="000000">
                      <a:alpha val="43137"/>
                    </a:srgbClr>
                  </a:outerShdw>
                </a:effectLst>
              </a:rPr>
              <a:t>	</a:t>
            </a:r>
            <a:r>
              <a:rPr lang="hu-HU" sz="2400" dirty="0" err="1">
                <a:effectLst>
                  <a:outerShdw blurRad="38100" dist="38100" dir="2700000" algn="tl">
                    <a:srgbClr val="000000">
                      <a:alpha val="43137"/>
                    </a:srgbClr>
                  </a:outerShdw>
                </a:effectLst>
              </a:rPr>
              <a:t>the</a:t>
            </a:r>
            <a:r>
              <a:rPr lang="hu-HU" sz="2400" dirty="0">
                <a:effectLst>
                  <a:outerShdw blurRad="38100" dist="38100" dir="2700000" algn="tl">
                    <a:srgbClr val="000000">
                      <a:alpha val="43137"/>
                    </a:srgbClr>
                  </a:outerShdw>
                </a:effectLst>
              </a:rPr>
              <a:t> </a:t>
            </a:r>
            <a:r>
              <a:rPr lang="hu-HU" sz="2400" dirty="0" err="1">
                <a:effectLst>
                  <a:outerShdw blurRad="38100" dist="38100" dir="2700000" algn="tl">
                    <a:srgbClr val="000000">
                      <a:alpha val="43137"/>
                    </a:srgbClr>
                  </a:outerShdw>
                </a:effectLst>
              </a:rPr>
              <a:t>fruits</a:t>
            </a:r>
            <a:r>
              <a:rPr lang="hu-HU" sz="2400" dirty="0">
                <a:effectLst>
                  <a:outerShdw blurRad="38100" dist="38100" dir="2700000" algn="tl">
                    <a:srgbClr val="000000">
                      <a:alpha val="43137"/>
                    </a:srgbClr>
                  </a:outerShdw>
                </a:effectLst>
              </a:rPr>
              <a:t>-ACC	</a:t>
            </a:r>
            <a:r>
              <a:rPr lang="en-US" sz="2400" dirty="0">
                <a:effectLst>
                  <a:outerShdw blurRad="38100" dist="38100" dir="2700000" algn="tl">
                    <a:srgbClr val="000000">
                      <a:alpha val="43137"/>
                    </a:srgbClr>
                  </a:outerShdw>
                </a:effectLst>
              </a:rPr>
              <a:t>	</a:t>
            </a:r>
            <a:r>
              <a:rPr lang="hu-HU" sz="2400" dirty="0" err="1">
                <a:effectLst>
                  <a:outerShdw blurRad="38100" dist="38100" dir="2700000" algn="tl">
                    <a:srgbClr val="000000">
                      <a:alpha val="43137"/>
                    </a:srgbClr>
                  </a:outerShdw>
                </a:effectLst>
              </a:rPr>
              <a:t>regards</a:t>
            </a:r>
            <a:r>
              <a:rPr lang="hu-HU" sz="2400" dirty="0">
                <a:effectLst>
                  <a:outerShdw blurRad="38100" dist="38100" dir="2700000" algn="tl">
                    <a:srgbClr val="000000">
                      <a:alpha val="43137"/>
                    </a:srgbClr>
                  </a:outerShdw>
                </a:effectLst>
              </a:rPr>
              <a:t>	</a:t>
            </a:r>
            <a:r>
              <a:rPr lang="en-US" sz="2400" dirty="0">
                <a:effectLst>
                  <a:outerShdw blurRad="38100" dist="38100" dir="2700000" algn="tl">
                    <a:srgbClr val="000000">
                      <a:alpha val="43137"/>
                    </a:srgbClr>
                  </a:outerShdw>
                </a:effectLst>
              </a:rPr>
              <a:t>	</a:t>
            </a:r>
            <a:r>
              <a:rPr lang="hu-HU" sz="2400" dirty="0">
                <a:effectLst>
                  <a:outerShdw blurRad="38100" dist="38100" dir="2700000" algn="tl">
                    <a:srgbClr val="000000">
                      <a:alpha val="43137"/>
                    </a:srgbClr>
                  </a:outerShdw>
                </a:effectLst>
              </a:rPr>
              <a:t>Anna	</a:t>
            </a:r>
            <a:r>
              <a:rPr lang="hu-HU" sz="2400" dirty="0" err="1">
                <a:effectLst>
                  <a:outerShdw blurRad="38100" dist="38100" dir="2700000" algn="tl">
                    <a:srgbClr val="000000">
                      <a:alpha val="43137"/>
                    </a:srgbClr>
                  </a:outerShdw>
                </a:effectLst>
              </a:rPr>
              <a:t>yesterday</a:t>
            </a:r>
            <a:r>
              <a:rPr lang="en-US" sz="2400" dirty="0">
                <a:effectLst>
                  <a:outerShdw blurRad="38100" dist="38100" dir="2700000" algn="tl">
                    <a:srgbClr val="000000">
                      <a:alpha val="43137"/>
                    </a:srgbClr>
                  </a:outerShdw>
                </a:effectLst>
              </a:rPr>
              <a:t>	</a:t>
            </a:r>
            <a:r>
              <a:rPr lang="hu-HU" sz="2400" dirty="0">
                <a:effectLst>
                  <a:outerShdw blurRad="38100" dist="38100" dir="2700000" algn="tl">
                    <a:srgbClr val="000000">
                      <a:alpha val="43137"/>
                    </a:srgbClr>
                  </a:outerShdw>
                </a:effectLst>
              </a:rPr>
              <a:t>a </a:t>
            </a:r>
            <a:r>
              <a:rPr lang="hu-HU" sz="2400" dirty="0" err="1">
                <a:effectLst>
                  <a:outerShdw blurRad="38100" dist="38100" dir="2700000" algn="tl">
                    <a:srgbClr val="000000">
                      <a:alpha val="43137"/>
                    </a:srgbClr>
                  </a:outerShdw>
                </a:effectLst>
              </a:rPr>
              <a:t>banana</a:t>
            </a:r>
            <a:r>
              <a:rPr lang="hu-HU" sz="2400" dirty="0">
                <a:effectLst>
                  <a:outerShdw blurRad="38100" dist="38100" dir="2700000" algn="tl">
                    <a:srgbClr val="000000">
                      <a:alpha val="43137"/>
                    </a:srgbClr>
                  </a:outerShdw>
                </a:effectLst>
              </a:rPr>
              <a:t>-ACC	ate-3SG</a:t>
            </a:r>
          </a:p>
          <a:p>
            <a:r>
              <a:rPr lang="hu-HU" sz="2400" i="1" dirty="0" err="1">
                <a:effectLst>
                  <a:outerShdw blurRad="38100" dist="38100" dir="2700000" algn="tl">
                    <a:srgbClr val="000000">
                      <a:alpha val="43137"/>
                    </a:srgbClr>
                  </a:outerShdw>
                </a:effectLst>
              </a:rPr>
              <a:t>Regarding</a:t>
            </a:r>
            <a:r>
              <a:rPr lang="hu-HU" sz="2400" i="1" dirty="0">
                <a:effectLst>
                  <a:outerShdw blurRad="38100" dist="38100" dir="2700000" algn="tl">
                    <a:srgbClr val="000000">
                      <a:alpha val="43137"/>
                    </a:srgbClr>
                  </a:outerShdw>
                </a:effectLst>
              </a:rPr>
              <a:t> </a:t>
            </a:r>
            <a:r>
              <a:rPr lang="hu-HU" sz="2400" i="1" dirty="0" err="1">
                <a:effectLst>
                  <a:outerShdw blurRad="38100" dist="38100" dir="2700000" algn="tl">
                    <a:srgbClr val="000000">
                      <a:alpha val="43137"/>
                    </a:srgbClr>
                  </a:outerShdw>
                </a:effectLst>
              </a:rPr>
              <a:t>fruits</a:t>
            </a:r>
            <a:r>
              <a:rPr lang="hu-HU" sz="2400" i="1" dirty="0">
                <a:effectLst>
                  <a:outerShdw blurRad="38100" dist="38100" dir="2700000" algn="tl">
                    <a:srgbClr val="000000">
                      <a:alpha val="43137"/>
                    </a:srgbClr>
                  </a:outerShdw>
                </a:effectLst>
              </a:rPr>
              <a:t>, Anna </a:t>
            </a:r>
            <a:r>
              <a:rPr lang="hu-HU" sz="2400" i="1" dirty="0" err="1">
                <a:effectLst>
                  <a:outerShdw blurRad="38100" dist="38100" dir="2700000" algn="tl">
                    <a:srgbClr val="000000">
                      <a:alpha val="43137"/>
                    </a:srgbClr>
                  </a:outerShdw>
                </a:effectLst>
              </a:rPr>
              <a:t>ate</a:t>
            </a:r>
            <a:r>
              <a:rPr lang="hu-HU" sz="2400" i="1" dirty="0">
                <a:effectLst>
                  <a:outerShdw blurRad="38100" dist="38100" dir="2700000" algn="tl">
                    <a:srgbClr val="000000">
                      <a:alpha val="43137"/>
                    </a:srgbClr>
                  </a:outerShdw>
                </a:effectLst>
              </a:rPr>
              <a:t> a </a:t>
            </a:r>
            <a:r>
              <a:rPr lang="hu-HU" sz="2400" i="1" dirty="0" err="1">
                <a:effectLst>
                  <a:outerShdw blurRad="38100" dist="38100" dir="2700000" algn="tl">
                    <a:srgbClr val="000000">
                      <a:alpha val="43137"/>
                    </a:srgbClr>
                  </a:outerShdw>
                </a:effectLst>
              </a:rPr>
              <a:t>banana</a:t>
            </a:r>
            <a:r>
              <a:rPr lang="hu-HU" sz="2400" i="1" dirty="0">
                <a:effectLst>
                  <a:outerShdw blurRad="38100" dist="38100" dir="2700000" algn="tl">
                    <a:srgbClr val="000000">
                      <a:alpha val="43137"/>
                    </a:srgbClr>
                  </a:outerShdw>
                </a:effectLst>
              </a:rPr>
              <a:t> </a:t>
            </a:r>
            <a:r>
              <a:rPr lang="hu-HU" sz="2400" i="1" dirty="0" err="1">
                <a:effectLst>
                  <a:outerShdw blurRad="38100" dist="38100" dir="2700000" algn="tl">
                    <a:srgbClr val="000000">
                      <a:alpha val="43137"/>
                    </a:srgbClr>
                  </a:outerShdw>
                </a:effectLst>
              </a:rPr>
              <a:t>yesterday</a:t>
            </a:r>
            <a:r>
              <a:rPr lang="hu-HU" sz="2400" i="1" dirty="0">
                <a:effectLst>
                  <a:outerShdw blurRad="38100" dist="38100" dir="2700000" algn="tl">
                    <a:srgbClr val="000000">
                      <a:alpha val="43137"/>
                    </a:srgbClr>
                  </a:outerShdw>
                </a:effectLst>
              </a:rPr>
              <a:t>.</a:t>
            </a:r>
            <a:r>
              <a:rPr lang="hu-HU" sz="2400" i="1" dirty="0"/>
              <a:t>	</a:t>
            </a:r>
            <a:r>
              <a:rPr lang="hu-HU" sz="2400" dirty="0"/>
              <a:t>			</a:t>
            </a:r>
            <a:endParaRPr lang="en-US" sz="2400" dirty="0"/>
          </a:p>
          <a:p>
            <a:r>
              <a:rPr lang="hu-HU" sz="2400" dirty="0"/>
              <a:t>		</a:t>
            </a:r>
          </a:p>
          <a:p>
            <a:r>
              <a:rPr lang="hu-HU" sz="2400" b="1" dirty="0"/>
              <a:t>Tegnap	</a:t>
            </a:r>
            <a:r>
              <a:rPr lang="en-US" sz="2400" b="1" dirty="0"/>
              <a:t>		</a:t>
            </a:r>
            <a:r>
              <a:rPr lang="hu-HU" sz="2400" b="1" dirty="0"/>
              <a:t>reggel	</a:t>
            </a:r>
            <a:r>
              <a:rPr lang="en-US" sz="2400" b="1" dirty="0"/>
              <a:t>		</a:t>
            </a:r>
            <a:r>
              <a:rPr lang="hu-HU" sz="2400" b="1" dirty="0"/>
              <a:t>Anna	</a:t>
            </a:r>
            <a:r>
              <a:rPr lang="en-US" sz="2400" b="1" dirty="0"/>
              <a:t>		</a:t>
            </a:r>
            <a:r>
              <a:rPr lang="hu-HU" sz="2400" b="1" dirty="0">
                <a:solidFill>
                  <a:schemeClr val="accent4"/>
                </a:solidFill>
              </a:rPr>
              <a:t>többek</a:t>
            </a:r>
            <a:r>
              <a:rPr lang="en-US" sz="2400" b="1" dirty="0">
                <a:solidFill>
                  <a:schemeClr val="accent4"/>
                </a:solidFill>
              </a:rPr>
              <a:t> </a:t>
            </a:r>
            <a:r>
              <a:rPr lang="hu-HU" sz="2400" b="1" dirty="0">
                <a:solidFill>
                  <a:schemeClr val="accent4"/>
                </a:solidFill>
              </a:rPr>
              <a:t>között</a:t>
            </a:r>
            <a:r>
              <a:rPr lang="hu-HU" sz="2400" b="1" dirty="0"/>
              <a:t>	</a:t>
            </a:r>
            <a:r>
              <a:rPr lang="en-US" sz="2400" b="1" dirty="0"/>
              <a:t>	</a:t>
            </a:r>
            <a:r>
              <a:rPr lang="hu-HU" sz="2400" b="1" dirty="0"/>
              <a:t>egy banánt	</a:t>
            </a:r>
            <a:r>
              <a:rPr lang="en-US" sz="2400" b="1" dirty="0"/>
              <a:t>	</a:t>
            </a:r>
            <a:r>
              <a:rPr lang="hu-HU" sz="2400" b="1" dirty="0"/>
              <a:t>evett.</a:t>
            </a:r>
          </a:p>
          <a:p>
            <a:r>
              <a:rPr lang="hu-HU" sz="2400" dirty="0" err="1"/>
              <a:t>yesterday</a:t>
            </a:r>
            <a:r>
              <a:rPr lang="hu-HU" sz="2400" dirty="0"/>
              <a:t>	</a:t>
            </a:r>
            <a:r>
              <a:rPr lang="en-US" sz="2400" dirty="0"/>
              <a:t>	</a:t>
            </a:r>
            <a:r>
              <a:rPr lang="hu-HU" sz="2400" dirty="0" err="1"/>
              <a:t>morning</a:t>
            </a:r>
            <a:r>
              <a:rPr lang="hu-HU" sz="2400" dirty="0"/>
              <a:t>	</a:t>
            </a:r>
            <a:r>
              <a:rPr lang="en-US" sz="2400" dirty="0"/>
              <a:t>	</a:t>
            </a:r>
            <a:r>
              <a:rPr lang="hu-HU" sz="2400" dirty="0"/>
              <a:t>Anna	</a:t>
            </a:r>
            <a:r>
              <a:rPr lang="en-US" sz="2400" dirty="0"/>
              <a:t>		</a:t>
            </a:r>
            <a:r>
              <a:rPr lang="hu-HU" sz="2400" dirty="0" err="1"/>
              <a:t>others</a:t>
            </a:r>
            <a:r>
              <a:rPr lang="hu-HU" sz="2400" dirty="0"/>
              <a:t>	</a:t>
            </a:r>
            <a:r>
              <a:rPr lang="hu-HU" sz="2400" dirty="0" err="1"/>
              <a:t>among</a:t>
            </a:r>
            <a:r>
              <a:rPr lang="hu-HU" sz="2400" dirty="0"/>
              <a:t>	</a:t>
            </a:r>
            <a:r>
              <a:rPr lang="en-US" sz="2400" dirty="0"/>
              <a:t>	</a:t>
            </a:r>
            <a:r>
              <a:rPr lang="hu-HU" sz="2400" dirty="0"/>
              <a:t>a </a:t>
            </a:r>
            <a:r>
              <a:rPr lang="hu-HU" sz="2400" dirty="0" err="1"/>
              <a:t>banana</a:t>
            </a:r>
            <a:r>
              <a:rPr lang="hu-HU" sz="2400" dirty="0"/>
              <a:t>-ACC	ate-3SG</a:t>
            </a:r>
          </a:p>
          <a:p>
            <a:r>
              <a:rPr lang="hu-HU" sz="2400" i="1" dirty="0" err="1"/>
              <a:t>Yesterday</a:t>
            </a:r>
            <a:r>
              <a:rPr lang="hu-HU" sz="2400" i="1" dirty="0"/>
              <a:t> </a:t>
            </a:r>
            <a:r>
              <a:rPr lang="hu-HU" sz="2400" i="1" dirty="0" err="1"/>
              <a:t>morning</a:t>
            </a:r>
            <a:r>
              <a:rPr lang="hu-HU" sz="2400" i="1" dirty="0"/>
              <a:t> Anna </a:t>
            </a:r>
            <a:r>
              <a:rPr lang="hu-HU" sz="2400" i="1" dirty="0" err="1"/>
              <a:t>ate</a:t>
            </a:r>
            <a:r>
              <a:rPr lang="hu-HU" sz="2400" i="1" dirty="0"/>
              <a:t>, </a:t>
            </a:r>
            <a:r>
              <a:rPr lang="hu-HU" sz="2400" i="1" dirty="0" err="1"/>
              <a:t>among</a:t>
            </a:r>
            <a:r>
              <a:rPr lang="hu-HU" sz="2400" i="1" dirty="0"/>
              <a:t> </a:t>
            </a:r>
            <a:r>
              <a:rPr lang="hu-HU" sz="2400" i="1" dirty="0" err="1"/>
              <a:t>other</a:t>
            </a:r>
            <a:r>
              <a:rPr lang="hu-HU" sz="2400" i="1" dirty="0"/>
              <a:t> </a:t>
            </a:r>
            <a:r>
              <a:rPr lang="hu-HU" sz="2400" i="1" dirty="0" err="1"/>
              <a:t>things</a:t>
            </a:r>
            <a:r>
              <a:rPr lang="hu-HU" sz="2400" i="1" dirty="0"/>
              <a:t>, a </a:t>
            </a:r>
            <a:r>
              <a:rPr lang="hu-HU" sz="2400" i="1" dirty="0" err="1"/>
              <a:t>banana</a:t>
            </a:r>
            <a:r>
              <a:rPr lang="hu-HU" sz="2400" i="1" dirty="0"/>
              <a:t>.		</a:t>
            </a:r>
            <a:r>
              <a:rPr lang="hu-HU" sz="2400" dirty="0"/>
              <a:t>				</a:t>
            </a:r>
          </a:p>
        </p:txBody>
      </p:sp>
      <p:sp>
        <p:nvSpPr>
          <p:cNvPr id="3" name="TextBox 2">
            <a:extLst>
              <a:ext uri="{FF2B5EF4-FFF2-40B4-BE49-F238E27FC236}">
                <a16:creationId xmlns:a16="http://schemas.microsoft.com/office/drawing/2014/main" id="{CC20A628-EF1A-0330-E2BF-C7B7959457F3}"/>
              </a:ext>
            </a:extLst>
          </p:cNvPr>
          <p:cNvSpPr txBox="1"/>
          <p:nvPr/>
        </p:nvSpPr>
        <p:spPr>
          <a:xfrm>
            <a:off x="476450" y="310896"/>
            <a:ext cx="712270" cy="3970318"/>
          </a:xfrm>
          <a:prstGeom prst="rect">
            <a:avLst/>
          </a:prstGeom>
          <a:noFill/>
        </p:spPr>
        <p:txBody>
          <a:bodyPr wrap="square" rtlCol="0">
            <a:spAutoFit/>
          </a:bodyPr>
          <a:lstStyle/>
          <a:p>
            <a:r>
              <a:rPr lang="en-US" sz="3600" b="1" dirty="0">
                <a:solidFill>
                  <a:schemeClr val="accent6"/>
                </a:solidFill>
              </a:rPr>
              <a:t>E</a:t>
            </a:r>
          </a:p>
          <a:p>
            <a:endParaRPr lang="en-US" sz="3600" b="1" dirty="0"/>
          </a:p>
          <a:p>
            <a:endParaRPr lang="en-US" sz="3600" b="1" dirty="0"/>
          </a:p>
          <a:p>
            <a:r>
              <a:rPr lang="en-US" sz="3600" b="1" dirty="0">
                <a:solidFill>
                  <a:schemeClr val="accent1"/>
                </a:solidFill>
              </a:rPr>
              <a:t>F</a:t>
            </a:r>
          </a:p>
          <a:p>
            <a:endParaRPr lang="en-US" sz="3600" b="1" dirty="0"/>
          </a:p>
          <a:p>
            <a:endParaRPr lang="en-US" sz="3600" b="1" dirty="0"/>
          </a:p>
          <a:p>
            <a:r>
              <a:rPr lang="en-US" sz="3600" b="1" dirty="0">
                <a:solidFill>
                  <a:schemeClr val="accent3"/>
                </a:solidFill>
              </a:rPr>
              <a:t>C</a:t>
            </a:r>
          </a:p>
        </p:txBody>
      </p:sp>
    </p:spTree>
    <p:extLst>
      <p:ext uri="{BB962C8B-B14F-4D97-AF65-F5344CB8AC3E}">
        <p14:creationId xmlns:p14="http://schemas.microsoft.com/office/powerpoint/2010/main" val="20935953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AC203-CED2-27F5-E207-FA4962E90C6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C4EA467-0432-A706-34D1-5B20D503016B}"/>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20</a:t>
            </a:fld>
            <a:endParaRPr lang="en-US" dirty="0"/>
          </a:p>
        </p:txBody>
      </p:sp>
      <p:sp>
        <p:nvSpPr>
          <p:cNvPr id="5" name="TextBox 4">
            <a:extLst>
              <a:ext uri="{FF2B5EF4-FFF2-40B4-BE49-F238E27FC236}">
                <a16:creationId xmlns:a16="http://schemas.microsoft.com/office/drawing/2014/main" id="{3411C28D-F3A7-A6FE-F681-7984D73ADAB4}"/>
              </a:ext>
            </a:extLst>
          </p:cNvPr>
          <p:cNvSpPr txBox="1"/>
          <p:nvPr/>
        </p:nvSpPr>
        <p:spPr>
          <a:xfrm>
            <a:off x="1188720" y="310896"/>
            <a:ext cx="10760964" cy="4154984"/>
          </a:xfrm>
          <a:prstGeom prst="rect">
            <a:avLst/>
          </a:prstGeom>
          <a:noFill/>
        </p:spPr>
        <p:txBody>
          <a:bodyPr wrap="square">
            <a:spAutoFit/>
          </a:bodyPr>
          <a:lstStyle/>
          <a:p>
            <a:r>
              <a:rPr lang="hu-HU" sz="2400" b="1" dirty="0"/>
              <a:t>Ami	</a:t>
            </a:r>
            <a:r>
              <a:rPr lang="en-US" sz="2400" b="1" dirty="0"/>
              <a:t>		</a:t>
            </a:r>
            <a:r>
              <a:rPr lang="hu-HU" sz="2400" b="1" dirty="0"/>
              <a:t>a gyümölcsöket	illeti	</a:t>
            </a:r>
            <a:r>
              <a:rPr lang="en-US" sz="2400" b="1" dirty="0"/>
              <a:t>	</a:t>
            </a:r>
            <a:r>
              <a:rPr lang="hu-HU" sz="2400" b="1" dirty="0"/>
              <a:t>Anna	</a:t>
            </a:r>
            <a:r>
              <a:rPr lang="hu-HU" sz="2400" b="1" dirty="0">
                <a:solidFill>
                  <a:schemeClr val="accent4"/>
                </a:solidFill>
              </a:rPr>
              <a:t>csak</a:t>
            </a:r>
            <a:r>
              <a:rPr lang="hu-HU" sz="2400" b="1" dirty="0"/>
              <a:t>	</a:t>
            </a:r>
            <a:r>
              <a:rPr lang="en-US" sz="2400" b="1" dirty="0"/>
              <a:t>	</a:t>
            </a:r>
            <a:r>
              <a:rPr lang="hu-HU" sz="2400" b="1" dirty="0">
                <a:solidFill>
                  <a:schemeClr val="accent2"/>
                </a:solidFill>
              </a:rPr>
              <a:t>egy banánt</a:t>
            </a:r>
            <a:r>
              <a:rPr lang="hu-HU" sz="2400" b="1" dirty="0"/>
              <a:t>	</a:t>
            </a:r>
            <a:r>
              <a:rPr lang="en-US" sz="2400" b="1" dirty="0"/>
              <a:t>	</a:t>
            </a:r>
            <a:r>
              <a:rPr lang="hu-HU" sz="2400" b="1" dirty="0"/>
              <a:t>evett.</a:t>
            </a:r>
          </a:p>
          <a:p>
            <a:r>
              <a:rPr lang="hu-HU" sz="2400" dirty="0" err="1"/>
              <a:t>which</a:t>
            </a:r>
            <a:r>
              <a:rPr lang="hu-HU" sz="2400" dirty="0"/>
              <a:t> (</a:t>
            </a:r>
            <a:r>
              <a:rPr lang="hu-HU" sz="2400" dirty="0" err="1"/>
              <a:t>rel</a:t>
            </a:r>
            <a:r>
              <a:rPr lang="en-US" sz="2400" dirty="0"/>
              <a:t>.</a:t>
            </a:r>
            <a:r>
              <a:rPr lang="hu-HU" sz="2400" dirty="0"/>
              <a:t>)	</a:t>
            </a:r>
            <a:r>
              <a:rPr lang="en-US" sz="2400" dirty="0"/>
              <a:t>	</a:t>
            </a:r>
            <a:r>
              <a:rPr lang="hu-HU" sz="2400" dirty="0" err="1"/>
              <a:t>the</a:t>
            </a:r>
            <a:r>
              <a:rPr lang="hu-HU" sz="2400" dirty="0"/>
              <a:t> </a:t>
            </a:r>
            <a:r>
              <a:rPr lang="hu-HU" sz="2400" dirty="0" err="1"/>
              <a:t>fruits</a:t>
            </a:r>
            <a:r>
              <a:rPr lang="hu-HU" sz="2400" dirty="0"/>
              <a:t>-ACC	</a:t>
            </a:r>
            <a:r>
              <a:rPr lang="en-US" sz="2400" dirty="0"/>
              <a:t>	</a:t>
            </a:r>
            <a:r>
              <a:rPr lang="hu-HU" sz="2400" dirty="0" err="1"/>
              <a:t>regards</a:t>
            </a:r>
            <a:r>
              <a:rPr lang="hu-HU" sz="2400" dirty="0"/>
              <a:t>	</a:t>
            </a:r>
            <a:r>
              <a:rPr lang="en-US" sz="2400" dirty="0"/>
              <a:t>	</a:t>
            </a:r>
            <a:r>
              <a:rPr lang="hu-HU" sz="2400" dirty="0"/>
              <a:t>Anna	</a:t>
            </a:r>
            <a:r>
              <a:rPr lang="hu-HU" sz="2400" dirty="0" err="1"/>
              <a:t>only</a:t>
            </a:r>
            <a:r>
              <a:rPr lang="hu-HU" sz="2400" dirty="0"/>
              <a:t>	</a:t>
            </a:r>
            <a:r>
              <a:rPr lang="en-US" sz="2400" dirty="0"/>
              <a:t>	</a:t>
            </a:r>
            <a:r>
              <a:rPr lang="hu-HU" sz="2400" dirty="0"/>
              <a:t>a </a:t>
            </a:r>
            <a:r>
              <a:rPr lang="hu-HU" sz="2400" dirty="0" err="1"/>
              <a:t>banana</a:t>
            </a:r>
            <a:r>
              <a:rPr lang="hu-HU" sz="2400" dirty="0"/>
              <a:t>-ACC	ate-3SG</a:t>
            </a:r>
          </a:p>
          <a:p>
            <a:r>
              <a:rPr lang="hu-HU" sz="2400" i="1" dirty="0" err="1"/>
              <a:t>Regarding</a:t>
            </a:r>
            <a:r>
              <a:rPr lang="hu-HU" sz="2400" i="1" dirty="0"/>
              <a:t> </a:t>
            </a:r>
            <a:r>
              <a:rPr lang="hu-HU" sz="2400" i="1" dirty="0" err="1"/>
              <a:t>fruits</a:t>
            </a:r>
            <a:r>
              <a:rPr lang="hu-HU" sz="2400" i="1" dirty="0"/>
              <a:t>, Anna </a:t>
            </a:r>
            <a:r>
              <a:rPr lang="hu-HU" sz="2400" i="1" dirty="0" err="1"/>
              <a:t>ate</a:t>
            </a:r>
            <a:r>
              <a:rPr lang="hu-HU" sz="2400" i="1" dirty="0"/>
              <a:t> </a:t>
            </a:r>
            <a:r>
              <a:rPr lang="hu-HU" sz="2400" i="1" dirty="0" err="1"/>
              <a:t>only</a:t>
            </a:r>
            <a:r>
              <a:rPr lang="hu-HU" sz="2400" i="1" dirty="0"/>
              <a:t> a </a:t>
            </a:r>
            <a:r>
              <a:rPr lang="hu-HU" sz="2400" i="1" dirty="0" err="1"/>
              <a:t>banana</a:t>
            </a:r>
            <a:r>
              <a:rPr lang="hu-HU" sz="2400" i="1" dirty="0"/>
              <a:t>.	</a:t>
            </a:r>
            <a:r>
              <a:rPr lang="hu-HU" sz="2400" dirty="0"/>
              <a:t>	</a:t>
            </a:r>
            <a:endParaRPr lang="en-US" sz="2400" dirty="0"/>
          </a:p>
          <a:p>
            <a:r>
              <a:rPr lang="hu-HU" sz="2400" dirty="0"/>
              <a:t>				</a:t>
            </a:r>
          </a:p>
          <a:p>
            <a:r>
              <a:rPr lang="hu-HU" sz="2400" b="1" dirty="0">
                <a:effectLst>
                  <a:outerShdw blurRad="38100" dist="38100" dir="2700000" algn="tl">
                    <a:srgbClr val="000000">
                      <a:alpha val="43137"/>
                    </a:srgbClr>
                  </a:outerShdw>
                </a:effectLst>
              </a:rPr>
              <a:t>Ami	</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a gyümölcsöket	illeti	</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Anna	tegnap</a:t>
            </a:r>
            <a:r>
              <a:rPr lang="en-US" sz="2400" b="1" dirty="0">
                <a:effectLst>
                  <a:outerShdw blurRad="38100" dist="38100" dir="2700000" algn="tl">
                    <a:srgbClr val="000000">
                      <a:alpha val="43137"/>
                    </a:srgbClr>
                  </a:outerShdw>
                </a:effectLst>
              </a:rPr>
              <a:t>		</a:t>
            </a:r>
            <a:r>
              <a:rPr lang="hu-HU" sz="2400" b="1" dirty="0">
                <a:solidFill>
                  <a:schemeClr val="accent2"/>
                </a:solidFill>
                <a:effectLst>
                  <a:outerShdw blurRad="38100" dist="38100" dir="2700000" algn="tl">
                    <a:srgbClr val="000000">
                      <a:alpha val="43137"/>
                    </a:srgbClr>
                  </a:outerShdw>
                </a:effectLst>
              </a:rPr>
              <a:t>egy banánt	</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evett.</a:t>
            </a:r>
          </a:p>
          <a:p>
            <a:r>
              <a:rPr lang="hu-HU" sz="2400" dirty="0" err="1">
                <a:effectLst>
                  <a:outerShdw blurRad="38100" dist="38100" dir="2700000" algn="tl">
                    <a:srgbClr val="000000">
                      <a:alpha val="43137"/>
                    </a:srgbClr>
                  </a:outerShdw>
                </a:effectLst>
              </a:rPr>
              <a:t>which</a:t>
            </a:r>
            <a:r>
              <a:rPr lang="hu-HU" sz="2400" dirty="0">
                <a:effectLst>
                  <a:outerShdw blurRad="38100" dist="38100" dir="2700000" algn="tl">
                    <a:srgbClr val="000000">
                      <a:alpha val="43137"/>
                    </a:srgbClr>
                  </a:outerShdw>
                </a:effectLst>
              </a:rPr>
              <a:t> (</a:t>
            </a:r>
            <a:r>
              <a:rPr lang="hu-HU" sz="2400" dirty="0" err="1">
                <a:effectLst>
                  <a:outerShdw blurRad="38100" dist="38100" dir="2700000" algn="tl">
                    <a:srgbClr val="000000">
                      <a:alpha val="43137"/>
                    </a:srgbClr>
                  </a:outerShdw>
                </a:effectLst>
              </a:rPr>
              <a:t>rel</a:t>
            </a:r>
            <a:r>
              <a:rPr lang="en-US" sz="2400" dirty="0">
                <a:effectLst>
                  <a:outerShdw blurRad="38100" dist="38100" dir="2700000" algn="tl">
                    <a:srgbClr val="000000">
                      <a:alpha val="43137"/>
                    </a:srgbClr>
                  </a:outerShdw>
                </a:effectLst>
              </a:rPr>
              <a:t>.</a:t>
            </a:r>
            <a:r>
              <a:rPr lang="hu-HU" sz="2400" dirty="0">
                <a:effectLst>
                  <a:outerShdw blurRad="38100" dist="38100" dir="2700000" algn="tl">
                    <a:srgbClr val="000000">
                      <a:alpha val="43137"/>
                    </a:srgbClr>
                  </a:outerShdw>
                </a:effectLst>
              </a:rPr>
              <a:t>)</a:t>
            </a:r>
            <a:r>
              <a:rPr lang="en-US" sz="2400" dirty="0">
                <a:effectLst>
                  <a:outerShdw blurRad="38100" dist="38100" dir="2700000" algn="tl">
                    <a:srgbClr val="000000">
                      <a:alpha val="43137"/>
                    </a:srgbClr>
                  </a:outerShdw>
                </a:effectLst>
              </a:rPr>
              <a:t>	</a:t>
            </a:r>
            <a:r>
              <a:rPr lang="hu-HU" sz="2400" dirty="0">
                <a:effectLst>
                  <a:outerShdw blurRad="38100" dist="38100" dir="2700000" algn="tl">
                    <a:srgbClr val="000000">
                      <a:alpha val="43137"/>
                    </a:srgbClr>
                  </a:outerShdw>
                </a:effectLst>
              </a:rPr>
              <a:t>	</a:t>
            </a:r>
            <a:r>
              <a:rPr lang="hu-HU" sz="2400" dirty="0" err="1">
                <a:effectLst>
                  <a:outerShdw blurRad="38100" dist="38100" dir="2700000" algn="tl">
                    <a:srgbClr val="000000">
                      <a:alpha val="43137"/>
                    </a:srgbClr>
                  </a:outerShdw>
                </a:effectLst>
              </a:rPr>
              <a:t>the</a:t>
            </a:r>
            <a:r>
              <a:rPr lang="hu-HU" sz="2400" dirty="0">
                <a:effectLst>
                  <a:outerShdw blurRad="38100" dist="38100" dir="2700000" algn="tl">
                    <a:srgbClr val="000000">
                      <a:alpha val="43137"/>
                    </a:srgbClr>
                  </a:outerShdw>
                </a:effectLst>
              </a:rPr>
              <a:t> </a:t>
            </a:r>
            <a:r>
              <a:rPr lang="hu-HU" sz="2400" dirty="0" err="1">
                <a:effectLst>
                  <a:outerShdw blurRad="38100" dist="38100" dir="2700000" algn="tl">
                    <a:srgbClr val="000000">
                      <a:alpha val="43137"/>
                    </a:srgbClr>
                  </a:outerShdw>
                </a:effectLst>
              </a:rPr>
              <a:t>fruits</a:t>
            </a:r>
            <a:r>
              <a:rPr lang="hu-HU" sz="2400" dirty="0">
                <a:effectLst>
                  <a:outerShdw blurRad="38100" dist="38100" dir="2700000" algn="tl">
                    <a:srgbClr val="000000">
                      <a:alpha val="43137"/>
                    </a:srgbClr>
                  </a:outerShdw>
                </a:effectLst>
              </a:rPr>
              <a:t>-ACC	</a:t>
            </a:r>
            <a:r>
              <a:rPr lang="en-US" sz="2400" dirty="0">
                <a:effectLst>
                  <a:outerShdw blurRad="38100" dist="38100" dir="2700000" algn="tl">
                    <a:srgbClr val="000000">
                      <a:alpha val="43137"/>
                    </a:srgbClr>
                  </a:outerShdw>
                </a:effectLst>
              </a:rPr>
              <a:t>	</a:t>
            </a:r>
            <a:r>
              <a:rPr lang="hu-HU" sz="2400" dirty="0" err="1">
                <a:effectLst>
                  <a:outerShdw blurRad="38100" dist="38100" dir="2700000" algn="tl">
                    <a:srgbClr val="000000">
                      <a:alpha val="43137"/>
                    </a:srgbClr>
                  </a:outerShdw>
                </a:effectLst>
              </a:rPr>
              <a:t>regards</a:t>
            </a:r>
            <a:r>
              <a:rPr lang="hu-HU" sz="2400" dirty="0">
                <a:effectLst>
                  <a:outerShdw blurRad="38100" dist="38100" dir="2700000" algn="tl">
                    <a:srgbClr val="000000">
                      <a:alpha val="43137"/>
                    </a:srgbClr>
                  </a:outerShdw>
                </a:effectLst>
              </a:rPr>
              <a:t>	</a:t>
            </a:r>
            <a:r>
              <a:rPr lang="en-US" sz="2400" dirty="0">
                <a:effectLst>
                  <a:outerShdw blurRad="38100" dist="38100" dir="2700000" algn="tl">
                    <a:srgbClr val="000000">
                      <a:alpha val="43137"/>
                    </a:srgbClr>
                  </a:outerShdw>
                </a:effectLst>
              </a:rPr>
              <a:t>	</a:t>
            </a:r>
            <a:r>
              <a:rPr lang="hu-HU" sz="2400" dirty="0">
                <a:effectLst>
                  <a:outerShdw blurRad="38100" dist="38100" dir="2700000" algn="tl">
                    <a:srgbClr val="000000">
                      <a:alpha val="43137"/>
                    </a:srgbClr>
                  </a:outerShdw>
                </a:effectLst>
              </a:rPr>
              <a:t>Anna	</a:t>
            </a:r>
            <a:r>
              <a:rPr lang="hu-HU" sz="2400" dirty="0" err="1">
                <a:effectLst>
                  <a:outerShdw blurRad="38100" dist="38100" dir="2700000" algn="tl">
                    <a:srgbClr val="000000">
                      <a:alpha val="43137"/>
                    </a:srgbClr>
                  </a:outerShdw>
                </a:effectLst>
              </a:rPr>
              <a:t>yesterday</a:t>
            </a:r>
            <a:r>
              <a:rPr lang="en-US" sz="2400" dirty="0">
                <a:effectLst>
                  <a:outerShdw blurRad="38100" dist="38100" dir="2700000" algn="tl">
                    <a:srgbClr val="000000">
                      <a:alpha val="43137"/>
                    </a:srgbClr>
                  </a:outerShdw>
                </a:effectLst>
              </a:rPr>
              <a:t>	</a:t>
            </a:r>
            <a:r>
              <a:rPr lang="hu-HU" sz="2400" dirty="0">
                <a:effectLst>
                  <a:outerShdw blurRad="38100" dist="38100" dir="2700000" algn="tl">
                    <a:srgbClr val="000000">
                      <a:alpha val="43137"/>
                    </a:srgbClr>
                  </a:outerShdw>
                </a:effectLst>
              </a:rPr>
              <a:t>a </a:t>
            </a:r>
            <a:r>
              <a:rPr lang="hu-HU" sz="2400" dirty="0" err="1">
                <a:effectLst>
                  <a:outerShdw blurRad="38100" dist="38100" dir="2700000" algn="tl">
                    <a:srgbClr val="000000">
                      <a:alpha val="43137"/>
                    </a:srgbClr>
                  </a:outerShdw>
                </a:effectLst>
              </a:rPr>
              <a:t>banana</a:t>
            </a:r>
            <a:r>
              <a:rPr lang="hu-HU" sz="2400" dirty="0">
                <a:effectLst>
                  <a:outerShdw blurRad="38100" dist="38100" dir="2700000" algn="tl">
                    <a:srgbClr val="000000">
                      <a:alpha val="43137"/>
                    </a:srgbClr>
                  </a:outerShdw>
                </a:effectLst>
              </a:rPr>
              <a:t>-ACC	ate-3SG</a:t>
            </a:r>
          </a:p>
          <a:p>
            <a:r>
              <a:rPr lang="hu-HU" sz="2400" i="1" dirty="0" err="1">
                <a:effectLst>
                  <a:outerShdw blurRad="38100" dist="38100" dir="2700000" algn="tl">
                    <a:srgbClr val="000000">
                      <a:alpha val="43137"/>
                    </a:srgbClr>
                  </a:outerShdw>
                </a:effectLst>
              </a:rPr>
              <a:t>Regarding</a:t>
            </a:r>
            <a:r>
              <a:rPr lang="hu-HU" sz="2400" i="1" dirty="0">
                <a:effectLst>
                  <a:outerShdw blurRad="38100" dist="38100" dir="2700000" algn="tl">
                    <a:srgbClr val="000000">
                      <a:alpha val="43137"/>
                    </a:srgbClr>
                  </a:outerShdw>
                </a:effectLst>
              </a:rPr>
              <a:t> </a:t>
            </a:r>
            <a:r>
              <a:rPr lang="hu-HU" sz="2400" i="1" dirty="0" err="1">
                <a:effectLst>
                  <a:outerShdw blurRad="38100" dist="38100" dir="2700000" algn="tl">
                    <a:srgbClr val="000000">
                      <a:alpha val="43137"/>
                    </a:srgbClr>
                  </a:outerShdw>
                </a:effectLst>
              </a:rPr>
              <a:t>fruits</a:t>
            </a:r>
            <a:r>
              <a:rPr lang="hu-HU" sz="2400" i="1" dirty="0">
                <a:effectLst>
                  <a:outerShdw blurRad="38100" dist="38100" dir="2700000" algn="tl">
                    <a:srgbClr val="000000">
                      <a:alpha val="43137"/>
                    </a:srgbClr>
                  </a:outerShdw>
                </a:effectLst>
              </a:rPr>
              <a:t>, Anna </a:t>
            </a:r>
            <a:r>
              <a:rPr lang="hu-HU" sz="2400" i="1" dirty="0" err="1">
                <a:effectLst>
                  <a:outerShdw blurRad="38100" dist="38100" dir="2700000" algn="tl">
                    <a:srgbClr val="000000">
                      <a:alpha val="43137"/>
                    </a:srgbClr>
                  </a:outerShdw>
                </a:effectLst>
              </a:rPr>
              <a:t>ate</a:t>
            </a:r>
            <a:r>
              <a:rPr lang="hu-HU" sz="2400" i="1" dirty="0">
                <a:effectLst>
                  <a:outerShdw blurRad="38100" dist="38100" dir="2700000" algn="tl">
                    <a:srgbClr val="000000">
                      <a:alpha val="43137"/>
                    </a:srgbClr>
                  </a:outerShdw>
                </a:effectLst>
              </a:rPr>
              <a:t> a </a:t>
            </a:r>
            <a:r>
              <a:rPr lang="hu-HU" sz="2400" i="1" dirty="0" err="1">
                <a:effectLst>
                  <a:outerShdw blurRad="38100" dist="38100" dir="2700000" algn="tl">
                    <a:srgbClr val="000000">
                      <a:alpha val="43137"/>
                    </a:srgbClr>
                  </a:outerShdw>
                </a:effectLst>
              </a:rPr>
              <a:t>banana</a:t>
            </a:r>
            <a:r>
              <a:rPr lang="hu-HU" sz="2400" i="1" dirty="0">
                <a:effectLst>
                  <a:outerShdw blurRad="38100" dist="38100" dir="2700000" algn="tl">
                    <a:srgbClr val="000000">
                      <a:alpha val="43137"/>
                    </a:srgbClr>
                  </a:outerShdw>
                </a:effectLst>
              </a:rPr>
              <a:t> </a:t>
            </a:r>
            <a:r>
              <a:rPr lang="hu-HU" sz="2400" i="1" dirty="0" err="1">
                <a:effectLst>
                  <a:outerShdw blurRad="38100" dist="38100" dir="2700000" algn="tl">
                    <a:srgbClr val="000000">
                      <a:alpha val="43137"/>
                    </a:srgbClr>
                  </a:outerShdw>
                </a:effectLst>
              </a:rPr>
              <a:t>yesterday</a:t>
            </a:r>
            <a:r>
              <a:rPr lang="hu-HU" sz="2400" i="1" dirty="0">
                <a:effectLst>
                  <a:outerShdw blurRad="38100" dist="38100" dir="2700000" algn="tl">
                    <a:srgbClr val="000000">
                      <a:alpha val="43137"/>
                    </a:srgbClr>
                  </a:outerShdw>
                </a:effectLst>
              </a:rPr>
              <a:t>.</a:t>
            </a:r>
            <a:r>
              <a:rPr lang="hu-HU" sz="2400" i="1" dirty="0"/>
              <a:t>	</a:t>
            </a:r>
            <a:r>
              <a:rPr lang="hu-HU" sz="2400" dirty="0"/>
              <a:t>			</a:t>
            </a:r>
            <a:endParaRPr lang="en-US" sz="2400" dirty="0"/>
          </a:p>
          <a:p>
            <a:r>
              <a:rPr lang="hu-HU" sz="2400" dirty="0"/>
              <a:t>		</a:t>
            </a:r>
          </a:p>
          <a:p>
            <a:r>
              <a:rPr lang="hu-HU" sz="2400" b="1" dirty="0"/>
              <a:t>Tegnap	</a:t>
            </a:r>
            <a:r>
              <a:rPr lang="en-US" sz="2400" b="1" dirty="0"/>
              <a:t>		</a:t>
            </a:r>
            <a:r>
              <a:rPr lang="hu-HU" sz="2400" b="1" dirty="0"/>
              <a:t>reggel	</a:t>
            </a:r>
            <a:r>
              <a:rPr lang="en-US" sz="2400" b="1" dirty="0"/>
              <a:t>		</a:t>
            </a:r>
            <a:r>
              <a:rPr lang="hu-HU" sz="2400" b="1" dirty="0"/>
              <a:t>Anna	</a:t>
            </a:r>
            <a:r>
              <a:rPr lang="en-US" sz="2400" b="1" dirty="0"/>
              <a:t>		</a:t>
            </a:r>
            <a:r>
              <a:rPr lang="hu-HU" sz="2400" b="1" dirty="0">
                <a:solidFill>
                  <a:schemeClr val="accent4"/>
                </a:solidFill>
              </a:rPr>
              <a:t>többek</a:t>
            </a:r>
            <a:r>
              <a:rPr lang="en-US" sz="2400" b="1" dirty="0">
                <a:solidFill>
                  <a:schemeClr val="accent4"/>
                </a:solidFill>
              </a:rPr>
              <a:t> </a:t>
            </a:r>
            <a:r>
              <a:rPr lang="hu-HU" sz="2400" b="1" dirty="0">
                <a:solidFill>
                  <a:schemeClr val="accent4"/>
                </a:solidFill>
              </a:rPr>
              <a:t>között</a:t>
            </a:r>
            <a:r>
              <a:rPr lang="hu-HU" sz="2400" b="1" dirty="0"/>
              <a:t>	</a:t>
            </a:r>
            <a:r>
              <a:rPr lang="en-US" sz="2400" b="1" dirty="0"/>
              <a:t>	</a:t>
            </a:r>
            <a:r>
              <a:rPr lang="hu-HU" sz="2400" b="1" dirty="0">
                <a:solidFill>
                  <a:schemeClr val="accent2"/>
                </a:solidFill>
              </a:rPr>
              <a:t>egy banánt	</a:t>
            </a:r>
            <a:r>
              <a:rPr lang="en-US" sz="2400" b="1" dirty="0"/>
              <a:t>	</a:t>
            </a:r>
            <a:r>
              <a:rPr lang="hu-HU" sz="2400" b="1" dirty="0"/>
              <a:t>evett.</a:t>
            </a:r>
          </a:p>
          <a:p>
            <a:r>
              <a:rPr lang="hu-HU" sz="2400" dirty="0" err="1"/>
              <a:t>yesterday</a:t>
            </a:r>
            <a:r>
              <a:rPr lang="hu-HU" sz="2400" dirty="0"/>
              <a:t>	</a:t>
            </a:r>
            <a:r>
              <a:rPr lang="en-US" sz="2400" dirty="0"/>
              <a:t>	</a:t>
            </a:r>
            <a:r>
              <a:rPr lang="hu-HU" sz="2400" dirty="0" err="1"/>
              <a:t>morning</a:t>
            </a:r>
            <a:r>
              <a:rPr lang="hu-HU" sz="2400" dirty="0"/>
              <a:t>	</a:t>
            </a:r>
            <a:r>
              <a:rPr lang="en-US" sz="2400" dirty="0"/>
              <a:t>	</a:t>
            </a:r>
            <a:r>
              <a:rPr lang="hu-HU" sz="2400" dirty="0"/>
              <a:t>Anna	</a:t>
            </a:r>
            <a:r>
              <a:rPr lang="en-US" sz="2400" dirty="0"/>
              <a:t>		</a:t>
            </a:r>
            <a:r>
              <a:rPr lang="hu-HU" sz="2400" dirty="0" err="1"/>
              <a:t>others</a:t>
            </a:r>
            <a:r>
              <a:rPr lang="hu-HU" sz="2400" dirty="0"/>
              <a:t>	</a:t>
            </a:r>
            <a:r>
              <a:rPr lang="hu-HU" sz="2400" dirty="0" err="1"/>
              <a:t>among</a:t>
            </a:r>
            <a:r>
              <a:rPr lang="hu-HU" sz="2400" dirty="0"/>
              <a:t>	</a:t>
            </a:r>
            <a:r>
              <a:rPr lang="en-US" sz="2400" dirty="0"/>
              <a:t>	</a:t>
            </a:r>
            <a:r>
              <a:rPr lang="hu-HU" sz="2400" dirty="0"/>
              <a:t>a </a:t>
            </a:r>
            <a:r>
              <a:rPr lang="hu-HU" sz="2400" dirty="0" err="1"/>
              <a:t>banana</a:t>
            </a:r>
            <a:r>
              <a:rPr lang="hu-HU" sz="2400" dirty="0"/>
              <a:t>-ACC	ate-3SG</a:t>
            </a:r>
          </a:p>
          <a:p>
            <a:r>
              <a:rPr lang="hu-HU" sz="2400" i="1" dirty="0" err="1"/>
              <a:t>Yesterday</a:t>
            </a:r>
            <a:r>
              <a:rPr lang="hu-HU" sz="2400" i="1" dirty="0"/>
              <a:t> </a:t>
            </a:r>
            <a:r>
              <a:rPr lang="hu-HU" sz="2400" i="1" dirty="0" err="1"/>
              <a:t>morning</a:t>
            </a:r>
            <a:r>
              <a:rPr lang="hu-HU" sz="2400" i="1" dirty="0"/>
              <a:t> Anna </a:t>
            </a:r>
            <a:r>
              <a:rPr lang="hu-HU" sz="2400" i="1" dirty="0" err="1"/>
              <a:t>ate</a:t>
            </a:r>
            <a:r>
              <a:rPr lang="hu-HU" sz="2400" i="1" dirty="0"/>
              <a:t>, </a:t>
            </a:r>
            <a:r>
              <a:rPr lang="hu-HU" sz="2400" i="1" dirty="0" err="1"/>
              <a:t>among</a:t>
            </a:r>
            <a:r>
              <a:rPr lang="hu-HU" sz="2400" i="1" dirty="0"/>
              <a:t> </a:t>
            </a:r>
            <a:r>
              <a:rPr lang="hu-HU" sz="2400" i="1" dirty="0" err="1"/>
              <a:t>other</a:t>
            </a:r>
            <a:r>
              <a:rPr lang="hu-HU" sz="2400" i="1" dirty="0"/>
              <a:t> </a:t>
            </a:r>
            <a:r>
              <a:rPr lang="hu-HU" sz="2400" i="1" dirty="0" err="1"/>
              <a:t>things</a:t>
            </a:r>
            <a:r>
              <a:rPr lang="hu-HU" sz="2400" i="1" dirty="0"/>
              <a:t>, a </a:t>
            </a:r>
            <a:r>
              <a:rPr lang="hu-HU" sz="2400" i="1" dirty="0" err="1"/>
              <a:t>banana</a:t>
            </a:r>
            <a:r>
              <a:rPr lang="hu-HU" sz="2400" i="1" dirty="0"/>
              <a:t>.		</a:t>
            </a:r>
            <a:r>
              <a:rPr lang="hu-HU" sz="2400" dirty="0"/>
              <a:t>				</a:t>
            </a:r>
          </a:p>
        </p:txBody>
      </p:sp>
      <p:sp>
        <p:nvSpPr>
          <p:cNvPr id="3" name="TextBox 2">
            <a:extLst>
              <a:ext uri="{FF2B5EF4-FFF2-40B4-BE49-F238E27FC236}">
                <a16:creationId xmlns:a16="http://schemas.microsoft.com/office/drawing/2014/main" id="{03F6CE2A-B4E6-2104-E608-8FFE87784BD4}"/>
              </a:ext>
            </a:extLst>
          </p:cNvPr>
          <p:cNvSpPr txBox="1"/>
          <p:nvPr/>
        </p:nvSpPr>
        <p:spPr>
          <a:xfrm>
            <a:off x="476450" y="310896"/>
            <a:ext cx="712270" cy="3970318"/>
          </a:xfrm>
          <a:prstGeom prst="rect">
            <a:avLst/>
          </a:prstGeom>
          <a:noFill/>
        </p:spPr>
        <p:txBody>
          <a:bodyPr wrap="square" rtlCol="0">
            <a:spAutoFit/>
          </a:bodyPr>
          <a:lstStyle/>
          <a:p>
            <a:r>
              <a:rPr lang="en-US" sz="3600" b="1" dirty="0">
                <a:solidFill>
                  <a:schemeClr val="accent6"/>
                </a:solidFill>
              </a:rPr>
              <a:t>E</a:t>
            </a:r>
          </a:p>
          <a:p>
            <a:endParaRPr lang="en-US" sz="3600" b="1" dirty="0"/>
          </a:p>
          <a:p>
            <a:endParaRPr lang="en-US" sz="3600" b="1" dirty="0"/>
          </a:p>
          <a:p>
            <a:r>
              <a:rPr lang="en-US" sz="3600" b="1" dirty="0">
                <a:solidFill>
                  <a:schemeClr val="accent1"/>
                </a:solidFill>
              </a:rPr>
              <a:t>F</a:t>
            </a:r>
          </a:p>
          <a:p>
            <a:endParaRPr lang="en-US" sz="3600" b="1" dirty="0"/>
          </a:p>
          <a:p>
            <a:endParaRPr lang="en-US" sz="3600" b="1" dirty="0"/>
          </a:p>
          <a:p>
            <a:r>
              <a:rPr lang="en-US" sz="3600" b="1" dirty="0">
                <a:solidFill>
                  <a:schemeClr val="accent3"/>
                </a:solidFill>
              </a:rPr>
              <a:t>C</a:t>
            </a:r>
          </a:p>
        </p:txBody>
      </p:sp>
    </p:spTree>
    <p:extLst>
      <p:ext uri="{BB962C8B-B14F-4D97-AF65-F5344CB8AC3E}">
        <p14:creationId xmlns:p14="http://schemas.microsoft.com/office/powerpoint/2010/main" val="9386446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47E64-61E1-DC47-3371-CE9C0C8806F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ADF2527-A421-0AFF-7F5F-14509E70F6C4}"/>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21</a:t>
            </a:fld>
            <a:endParaRPr lang="en-US" dirty="0"/>
          </a:p>
        </p:txBody>
      </p:sp>
      <p:sp>
        <p:nvSpPr>
          <p:cNvPr id="5" name="TextBox 4">
            <a:extLst>
              <a:ext uri="{FF2B5EF4-FFF2-40B4-BE49-F238E27FC236}">
                <a16:creationId xmlns:a16="http://schemas.microsoft.com/office/drawing/2014/main" id="{695DC486-4F0A-2581-A9F9-502FBFBCFB51}"/>
              </a:ext>
            </a:extLst>
          </p:cNvPr>
          <p:cNvSpPr txBox="1"/>
          <p:nvPr/>
        </p:nvSpPr>
        <p:spPr>
          <a:xfrm>
            <a:off x="1188720" y="310896"/>
            <a:ext cx="10760964" cy="3046988"/>
          </a:xfrm>
          <a:prstGeom prst="rect">
            <a:avLst/>
          </a:prstGeom>
          <a:noFill/>
        </p:spPr>
        <p:txBody>
          <a:bodyPr wrap="square">
            <a:spAutoFit/>
          </a:bodyPr>
          <a:lstStyle/>
          <a:p>
            <a:r>
              <a:rPr lang="hu-HU" sz="2400" b="1" dirty="0"/>
              <a:t>Ami	</a:t>
            </a:r>
            <a:r>
              <a:rPr lang="en-US" sz="2400" b="1" dirty="0"/>
              <a:t>		</a:t>
            </a:r>
            <a:r>
              <a:rPr lang="hu-HU" sz="2400" b="1" dirty="0"/>
              <a:t>a gyümölcsöket	illeti	</a:t>
            </a:r>
            <a:r>
              <a:rPr lang="en-US" sz="2400" b="1" dirty="0"/>
              <a:t>	</a:t>
            </a:r>
            <a:r>
              <a:rPr lang="hu-HU" sz="2400" b="1" dirty="0"/>
              <a:t>Anna	</a:t>
            </a:r>
            <a:r>
              <a:rPr lang="hu-HU" sz="2400" b="1" dirty="0">
                <a:solidFill>
                  <a:schemeClr val="accent4"/>
                </a:solidFill>
              </a:rPr>
              <a:t>csak</a:t>
            </a:r>
            <a:r>
              <a:rPr lang="hu-HU" sz="2400" b="1" dirty="0"/>
              <a:t>	</a:t>
            </a:r>
            <a:r>
              <a:rPr lang="en-US" sz="2400" b="1" dirty="0"/>
              <a:t>	</a:t>
            </a:r>
            <a:r>
              <a:rPr lang="hu-HU" sz="2400" b="1" dirty="0">
                <a:solidFill>
                  <a:schemeClr val="accent2"/>
                </a:solidFill>
              </a:rPr>
              <a:t>egy banánt</a:t>
            </a:r>
            <a:r>
              <a:rPr lang="hu-HU" sz="2400" b="1" dirty="0"/>
              <a:t>	</a:t>
            </a:r>
            <a:r>
              <a:rPr lang="en-US" sz="2400" b="1" dirty="0"/>
              <a:t>	</a:t>
            </a:r>
            <a:r>
              <a:rPr lang="hu-HU" sz="2400" b="1" dirty="0"/>
              <a:t>evett.</a:t>
            </a:r>
          </a:p>
          <a:p>
            <a:r>
              <a:rPr lang="hu-HU" sz="2400" i="1" dirty="0" err="1"/>
              <a:t>Regarding</a:t>
            </a:r>
            <a:r>
              <a:rPr lang="hu-HU" sz="2400" i="1" dirty="0"/>
              <a:t> </a:t>
            </a:r>
            <a:r>
              <a:rPr lang="hu-HU" sz="2400" i="1" dirty="0" err="1"/>
              <a:t>fruits</a:t>
            </a:r>
            <a:r>
              <a:rPr lang="hu-HU" sz="2400" i="1" dirty="0"/>
              <a:t>, Anna </a:t>
            </a:r>
            <a:r>
              <a:rPr lang="hu-HU" sz="2400" i="1" dirty="0" err="1"/>
              <a:t>ate</a:t>
            </a:r>
            <a:r>
              <a:rPr lang="hu-HU" sz="2400" i="1" dirty="0"/>
              <a:t> </a:t>
            </a:r>
            <a:r>
              <a:rPr lang="hu-HU" sz="2400" i="1" dirty="0" err="1"/>
              <a:t>only</a:t>
            </a:r>
            <a:r>
              <a:rPr lang="hu-HU" sz="2400" i="1" dirty="0"/>
              <a:t> a </a:t>
            </a:r>
            <a:r>
              <a:rPr lang="hu-HU" sz="2400" i="1" dirty="0" err="1"/>
              <a:t>banana</a:t>
            </a:r>
            <a:r>
              <a:rPr lang="hu-HU" sz="2400" i="1" dirty="0"/>
              <a:t>.	</a:t>
            </a:r>
            <a:r>
              <a:rPr lang="hu-HU" sz="2400" dirty="0"/>
              <a:t>	</a:t>
            </a:r>
            <a:endParaRPr lang="en-US" sz="2400" dirty="0"/>
          </a:p>
          <a:p>
            <a:r>
              <a:rPr lang="hu-HU" sz="2400" dirty="0"/>
              <a:t>				</a:t>
            </a:r>
          </a:p>
          <a:p>
            <a:r>
              <a:rPr lang="hu-HU" sz="2400" b="1" dirty="0">
                <a:effectLst>
                  <a:outerShdw blurRad="38100" dist="38100" dir="2700000" algn="tl">
                    <a:srgbClr val="000000">
                      <a:alpha val="43137"/>
                    </a:srgbClr>
                  </a:outerShdw>
                </a:effectLst>
              </a:rPr>
              <a:t>Ami	</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a gyümölcsöket	illeti	</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Anna	tegnap</a:t>
            </a:r>
            <a:r>
              <a:rPr lang="en-US" sz="2400" b="1" dirty="0">
                <a:effectLst>
                  <a:outerShdw blurRad="38100" dist="38100" dir="2700000" algn="tl">
                    <a:srgbClr val="000000">
                      <a:alpha val="43137"/>
                    </a:srgbClr>
                  </a:outerShdw>
                </a:effectLst>
              </a:rPr>
              <a:t>		</a:t>
            </a:r>
            <a:r>
              <a:rPr lang="hu-HU" sz="2400" b="1" dirty="0">
                <a:solidFill>
                  <a:schemeClr val="accent2"/>
                </a:solidFill>
                <a:effectLst>
                  <a:outerShdw blurRad="38100" dist="38100" dir="2700000" algn="tl">
                    <a:srgbClr val="000000">
                      <a:alpha val="43137"/>
                    </a:srgbClr>
                  </a:outerShdw>
                </a:effectLst>
              </a:rPr>
              <a:t>egy banánt	</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evett.</a:t>
            </a:r>
          </a:p>
          <a:p>
            <a:r>
              <a:rPr lang="hu-HU" sz="2400" i="1" dirty="0" err="1">
                <a:effectLst>
                  <a:outerShdw blurRad="38100" dist="38100" dir="2700000" algn="tl">
                    <a:srgbClr val="000000">
                      <a:alpha val="43137"/>
                    </a:srgbClr>
                  </a:outerShdw>
                </a:effectLst>
              </a:rPr>
              <a:t>Regarding</a:t>
            </a:r>
            <a:r>
              <a:rPr lang="hu-HU" sz="2400" i="1" dirty="0">
                <a:effectLst>
                  <a:outerShdw blurRad="38100" dist="38100" dir="2700000" algn="tl">
                    <a:srgbClr val="000000">
                      <a:alpha val="43137"/>
                    </a:srgbClr>
                  </a:outerShdw>
                </a:effectLst>
              </a:rPr>
              <a:t> </a:t>
            </a:r>
            <a:r>
              <a:rPr lang="hu-HU" sz="2400" i="1" dirty="0" err="1">
                <a:effectLst>
                  <a:outerShdw blurRad="38100" dist="38100" dir="2700000" algn="tl">
                    <a:srgbClr val="000000">
                      <a:alpha val="43137"/>
                    </a:srgbClr>
                  </a:outerShdw>
                </a:effectLst>
              </a:rPr>
              <a:t>fruits</a:t>
            </a:r>
            <a:r>
              <a:rPr lang="hu-HU" sz="2400" i="1" dirty="0">
                <a:effectLst>
                  <a:outerShdw blurRad="38100" dist="38100" dir="2700000" algn="tl">
                    <a:srgbClr val="000000">
                      <a:alpha val="43137"/>
                    </a:srgbClr>
                  </a:outerShdw>
                </a:effectLst>
              </a:rPr>
              <a:t>, Anna </a:t>
            </a:r>
            <a:r>
              <a:rPr lang="hu-HU" sz="2400" i="1" dirty="0" err="1">
                <a:effectLst>
                  <a:outerShdw blurRad="38100" dist="38100" dir="2700000" algn="tl">
                    <a:srgbClr val="000000">
                      <a:alpha val="43137"/>
                    </a:srgbClr>
                  </a:outerShdw>
                </a:effectLst>
              </a:rPr>
              <a:t>ate</a:t>
            </a:r>
            <a:r>
              <a:rPr lang="hu-HU" sz="2400" i="1" dirty="0">
                <a:effectLst>
                  <a:outerShdw blurRad="38100" dist="38100" dir="2700000" algn="tl">
                    <a:srgbClr val="000000">
                      <a:alpha val="43137"/>
                    </a:srgbClr>
                  </a:outerShdw>
                </a:effectLst>
              </a:rPr>
              <a:t> a </a:t>
            </a:r>
            <a:r>
              <a:rPr lang="hu-HU" sz="2400" i="1" dirty="0" err="1">
                <a:effectLst>
                  <a:outerShdw blurRad="38100" dist="38100" dir="2700000" algn="tl">
                    <a:srgbClr val="000000">
                      <a:alpha val="43137"/>
                    </a:srgbClr>
                  </a:outerShdw>
                </a:effectLst>
              </a:rPr>
              <a:t>banana</a:t>
            </a:r>
            <a:r>
              <a:rPr lang="hu-HU" sz="2400" i="1" dirty="0">
                <a:effectLst>
                  <a:outerShdw blurRad="38100" dist="38100" dir="2700000" algn="tl">
                    <a:srgbClr val="000000">
                      <a:alpha val="43137"/>
                    </a:srgbClr>
                  </a:outerShdw>
                </a:effectLst>
              </a:rPr>
              <a:t> </a:t>
            </a:r>
            <a:r>
              <a:rPr lang="hu-HU" sz="2400" i="1" dirty="0" err="1">
                <a:effectLst>
                  <a:outerShdw blurRad="38100" dist="38100" dir="2700000" algn="tl">
                    <a:srgbClr val="000000">
                      <a:alpha val="43137"/>
                    </a:srgbClr>
                  </a:outerShdw>
                </a:effectLst>
              </a:rPr>
              <a:t>yesterday</a:t>
            </a:r>
            <a:r>
              <a:rPr lang="hu-HU" sz="2400" i="1" dirty="0">
                <a:effectLst>
                  <a:outerShdw blurRad="38100" dist="38100" dir="2700000" algn="tl">
                    <a:srgbClr val="000000">
                      <a:alpha val="43137"/>
                    </a:srgbClr>
                  </a:outerShdw>
                </a:effectLst>
              </a:rPr>
              <a:t>.</a:t>
            </a:r>
            <a:r>
              <a:rPr lang="hu-HU" sz="2400" i="1" dirty="0"/>
              <a:t>	</a:t>
            </a:r>
            <a:r>
              <a:rPr lang="hu-HU" sz="2400" dirty="0"/>
              <a:t>			</a:t>
            </a:r>
            <a:endParaRPr lang="en-US" sz="2400" dirty="0"/>
          </a:p>
          <a:p>
            <a:r>
              <a:rPr lang="hu-HU" sz="2400" dirty="0"/>
              <a:t>		</a:t>
            </a:r>
          </a:p>
          <a:p>
            <a:r>
              <a:rPr lang="hu-HU" sz="2400" b="1" dirty="0"/>
              <a:t>Tegnap	</a:t>
            </a:r>
            <a:r>
              <a:rPr lang="en-US" sz="2400" b="1" dirty="0"/>
              <a:t>		</a:t>
            </a:r>
            <a:r>
              <a:rPr lang="hu-HU" sz="2400" b="1" dirty="0"/>
              <a:t>reggel	</a:t>
            </a:r>
            <a:r>
              <a:rPr lang="en-US" sz="2400" b="1" dirty="0"/>
              <a:t>		</a:t>
            </a:r>
            <a:r>
              <a:rPr lang="hu-HU" sz="2400" b="1" dirty="0"/>
              <a:t>Anna	</a:t>
            </a:r>
            <a:r>
              <a:rPr lang="en-US" sz="2400" b="1" dirty="0"/>
              <a:t>		</a:t>
            </a:r>
            <a:r>
              <a:rPr lang="hu-HU" sz="2400" b="1" dirty="0">
                <a:solidFill>
                  <a:schemeClr val="accent4"/>
                </a:solidFill>
              </a:rPr>
              <a:t>többek</a:t>
            </a:r>
            <a:r>
              <a:rPr lang="en-US" sz="2400" b="1" dirty="0">
                <a:solidFill>
                  <a:schemeClr val="accent4"/>
                </a:solidFill>
              </a:rPr>
              <a:t> </a:t>
            </a:r>
            <a:r>
              <a:rPr lang="hu-HU" sz="2400" b="1" dirty="0">
                <a:solidFill>
                  <a:schemeClr val="accent4"/>
                </a:solidFill>
              </a:rPr>
              <a:t>között</a:t>
            </a:r>
            <a:r>
              <a:rPr lang="hu-HU" sz="2400" b="1" dirty="0"/>
              <a:t>	</a:t>
            </a:r>
            <a:r>
              <a:rPr lang="en-US" sz="2400" b="1" dirty="0"/>
              <a:t>	</a:t>
            </a:r>
            <a:r>
              <a:rPr lang="hu-HU" sz="2400" b="1" dirty="0">
                <a:solidFill>
                  <a:schemeClr val="accent2"/>
                </a:solidFill>
              </a:rPr>
              <a:t>egy banánt	</a:t>
            </a:r>
            <a:r>
              <a:rPr lang="en-US" sz="2400" b="1" dirty="0"/>
              <a:t>	</a:t>
            </a:r>
            <a:r>
              <a:rPr lang="hu-HU" sz="2400" b="1" dirty="0"/>
              <a:t>evett.</a:t>
            </a:r>
          </a:p>
          <a:p>
            <a:r>
              <a:rPr lang="hu-HU" sz="2400" i="1" dirty="0" err="1"/>
              <a:t>Yesterday</a:t>
            </a:r>
            <a:r>
              <a:rPr lang="hu-HU" sz="2400" i="1" dirty="0"/>
              <a:t> </a:t>
            </a:r>
            <a:r>
              <a:rPr lang="hu-HU" sz="2400" i="1" dirty="0" err="1"/>
              <a:t>morning</a:t>
            </a:r>
            <a:r>
              <a:rPr lang="hu-HU" sz="2400" i="1" dirty="0"/>
              <a:t> Anna </a:t>
            </a:r>
            <a:r>
              <a:rPr lang="hu-HU" sz="2400" i="1" dirty="0" err="1"/>
              <a:t>ate</a:t>
            </a:r>
            <a:r>
              <a:rPr lang="hu-HU" sz="2400" i="1" dirty="0"/>
              <a:t>, </a:t>
            </a:r>
            <a:r>
              <a:rPr lang="hu-HU" sz="2400" i="1" dirty="0" err="1"/>
              <a:t>among</a:t>
            </a:r>
            <a:r>
              <a:rPr lang="hu-HU" sz="2400" i="1" dirty="0"/>
              <a:t> </a:t>
            </a:r>
            <a:r>
              <a:rPr lang="hu-HU" sz="2400" i="1" dirty="0" err="1"/>
              <a:t>other</a:t>
            </a:r>
            <a:r>
              <a:rPr lang="hu-HU" sz="2400" i="1" dirty="0"/>
              <a:t> </a:t>
            </a:r>
            <a:r>
              <a:rPr lang="hu-HU" sz="2400" i="1" dirty="0" err="1"/>
              <a:t>things</a:t>
            </a:r>
            <a:r>
              <a:rPr lang="hu-HU" sz="2400" i="1" dirty="0"/>
              <a:t>, a </a:t>
            </a:r>
            <a:r>
              <a:rPr lang="hu-HU" sz="2400" i="1" dirty="0" err="1"/>
              <a:t>banana</a:t>
            </a:r>
            <a:r>
              <a:rPr lang="hu-HU" sz="2400" i="1" dirty="0"/>
              <a:t>.		</a:t>
            </a:r>
            <a:r>
              <a:rPr lang="hu-HU" sz="2400" dirty="0"/>
              <a:t>				</a:t>
            </a:r>
          </a:p>
        </p:txBody>
      </p:sp>
      <p:sp>
        <p:nvSpPr>
          <p:cNvPr id="3" name="TextBox 2">
            <a:extLst>
              <a:ext uri="{FF2B5EF4-FFF2-40B4-BE49-F238E27FC236}">
                <a16:creationId xmlns:a16="http://schemas.microsoft.com/office/drawing/2014/main" id="{A669709A-4C46-6B7C-D094-A1902B433EBA}"/>
              </a:ext>
            </a:extLst>
          </p:cNvPr>
          <p:cNvSpPr txBox="1"/>
          <p:nvPr/>
        </p:nvSpPr>
        <p:spPr>
          <a:xfrm>
            <a:off x="476450" y="310896"/>
            <a:ext cx="712270" cy="2862322"/>
          </a:xfrm>
          <a:prstGeom prst="rect">
            <a:avLst/>
          </a:prstGeom>
          <a:noFill/>
        </p:spPr>
        <p:txBody>
          <a:bodyPr wrap="square" rtlCol="0">
            <a:spAutoFit/>
          </a:bodyPr>
          <a:lstStyle/>
          <a:p>
            <a:r>
              <a:rPr lang="en-US" sz="3600" b="1" dirty="0">
                <a:solidFill>
                  <a:schemeClr val="accent6"/>
                </a:solidFill>
              </a:rPr>
              <a:t>E</a:t>
            </a:r>
            <a:endParaRPr lang="en-US" sz="3600" b="1" dirty="0"/>
          </a:p>
          <a:p>
            <a:endParaRPr lang="en-US" sz="3600" b="1" dirty="0"/>
          </a:p>
          <a:p>
            <a:r>
              <a:rPr lang="en-US" sz="3600" b="1" dirty="0">
                <a:solidFill>
                  <a:schemeClr val="accent1"/>
                </a:solidFill>
              </a:rPr>
              <a:t>F</a:t>
            </a:r>
            <a:endParaRPr lang="en-US" sz="3600" b="1" dirty="0"/>
          </a:p>
          <a:p>
            <a:endParaRPr lang="en-US" sz="3600" b="1" dirty="0"/>
          </a:p>
          <a:p>
            <a:r>
              <a:rPr lang="en-US" sz="3600" b="1" dirty="0">
                <a:solidFill>
                  <a:schemeClr val="accent3"/>
                </a:solidFill>
              </a:rPr>
              <a:t>C</a:t>
            </a:r>
          </a:p>
        </p:txBody>
      </p:sp>
      <p:pic>
        <p:nvPicPr>
          <p:cNvPr id="7" name="Picture 6" descr="A banana on a white surface&#10;&#10;AI-generated content may be incorrect.">
            <a:extLst>
              <a:ext uri="{FF2B5EF4-FFF2-40B4-BE49-F238E27FC236}">
                <a16:creationId xmlns:a16="http://schemas.microsoft.com/office/drawing/2014/main" id="{B37FBD1E-30F0-DDA3-A65D-6DBCFF0F5441}"/>
              </a:ext>
            </a:extLst>
          </p:cNvPr>
          <p:cNvPicPr>
            <a:picLocks noChangeAspect="1"/>
          </p:cNvPicPr>
          <p:nvPr/>
        </p:nvPicPr>
        <p:blipFill>
          <a:blip r:embed="rId2"/>
          <a:stretch>
            <a:fillRect/>
          </a:stretch>
        </p:blipFill>
        <p:spPr>
          <a:xfrm>
            <a:off x="1188720" y="3429000"/>
            <a:ext cx="3233928" cy="3233928"/>
          </a:xfrm>
          <a:prstGeom prst="rect">
            <a:avLst/>
          </a:prstGeom>
        </p:spPr>
      </p:pic>
      <p:pic>
        <p:nvPicPr>
          <p:cNvPr id="8" name="Picture 7" descr="A banana and grapes next to a red apple&#10;&#10;AI-generated content may be incorrect.">
            <a:extLst>
              <a:ext uri="{FF2B5EF4-FFF2-40B4-BE49-F238E27FC236}">
                <a16:creationId xmlns:a16="http://schemas.microsoft.com/office/drawing/2014/main" id="{83DABB6A-D0D8-8159-F3FB-C55C5F8EA42C}"/>
              </a:ext>
            </a:extLst>
          </p:cNvPr>
          <p:cNvPicPr>
            <a:picLocks noChangeAspect="1"/>
          </p:cNvPicPr>
          <p:nvPr/>
        </p:nvPicPr>
        <p:blipFill>
          <a:blip r:embed="rId3"/>
          <a:stretch>
            <a:fillRect/>
          </a:stretch>
        </p:blipFill>
        <p:spPr>
          <a:xfrm>
            <a:off x="7769354" y="3429000"/>
            <a:ext cx="3233926" cy="3233926"/>
          </a:xfrm>
          <a:prstGeom prst="rect">
            <a:avLst/>
          </a:prstGeom>
        </p:spPr>
      </p:pic>
      <p:sp>
        <p:nvSpPr>
          <p:cNvPr id="9" name="TextBox 8">
            <a:extLst>
              <a:ext uri="{FF2B5EF4-FFF2-40B4-BE49-F238E27FC236}">
                <a16:creationId xmlns:a16="http://schemas.microsoft.com/office/drawing/2014/main" id="{65E55880-BA83-0A45-F430-89D1477D3CA3}"/>
              </a:ext>
            </a:extLst>
          </p:cNvPr>
          <p:cNvSpPr txBox="1"/>
          <p:nvPr/>
        </p:nvSpPr>
        <p:spPr>
          <a:xfrm>
            <a:off x="1188720" y="5989320"/>
            <a:ext cx="621792" cy="707886"/>
          </a:xfrm>
          <a:prstGeom prst="rect">
            <a:avLst/>
          </a:prstGeom>
          <a:noFill/>
        </p:spPr>
        <p:txBody>
          <a:bodyPr wrap="square" rtlCol="0">
            <a:spAutoFit/>
          </a:bodyPr>
          <a:lstStyle/>
          <a:p>
            <a:r>
              <a:rPr lang="en-US" sz="4000" dirty="0">
                <a:solidFill>
                  <a:schemeClr val="bg2"/>
                </a:solidFill>
              </a:rPr>
              <a:t>A</a:t>
            </a:r>
          </a:p>
        </p:txBody>
      </p:sp>
      <p:sp>
        <p:nvSpPr>
          <p:cNvPr id="10" name="TextBox 9">
            <a:extLst>
              <a:ext uri="{FF2B5EF4-FFF2-40B4-BE49-F238E27FC236}">
                <a16:creationId xmlns:a16="http://schemas.microsoft.com/office/drawing/2014/main" id="{860A1BE7-AE4B-BDA0-45B7-800D1465AC0B}"/>
              </a:ext>
            </a:extLst>
          </p:cNvPr>
          <p:cNvSpPr txBox="1"/>
          <p:nvPr/>
        </p:nvSpPr>
        <p:spPr>
          <a:xfrm>
            <a:off x="7769354" y="5989320"/>
            <a:ext cx="621792" cy="707886"/>
          </a:xfrm>
          <a:prstGeom prst="rect">
            <a:avLst/>
          </a:prstGeom>
          <a:noFill/>
        </p:spPr>
        <p:txBody>
          <a:bodyPr wrap="square" rtlCol="0">
            <a:spAutoFit/>
          </a:bodyPr>
          <a:lstStyle/>
          <a:p>
            <a:r>
              <a:rPr lang="en-US" sz="4000" dirty="0">
                <a:solidFill>
                  <a:schemeClr val="bg2"/>
                </a:solidFill>
              </a:rPr>
              <a:t>B</a:t>
            </a:r>
          </a:p>
        </p:txBody>
      </p:sp>
    </p:spTree>
    <p:extLst>
      <p:ext uri="{BB962C8B-B14F-4D97-AF65-F5344CB8AC3E}">
        <p14:creationId xmlns:p14="http://schemas.microsoft.com/office/powerpoint/2010/main" val="14988756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4C7CB-2153-B612-F1D9-8AB2B6D7C54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9DC9DF9-24BA-F360-5107-73A50F6BDF88}"/>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22</a:t>
            </a:fld>
            <a:endParaRPr lang="en-US" dirty="0"/>
          </a:p>
        </p:txBody>
      </p:sp>
      <p:sp>
        <p:nvSpPr>
          <p:cNvPr id="5" name="TextBox 4">
            <a:extLst>
              <a:ext uri="{FF2B5EF4-FFF2-40B4-BE49-F238E27FC236}">
                <a16:creationId xmlns:a16="http://schemas.microsoft.com/office/drawing/2014/main" id="{31A91934-17B7-CE9E-F209-1708A6A3BDDD}"/>
              </a:ext>
            </a:extLst>
          </p:cNvPr>
          <p:cNvSpPr txBox="1"/>
          <p:nvPr/>
        </p:nvSpPr>
        <p:spPr>
          <a:xfrm>
            <a:off x="1188720" y="310896"/>
            <a:ext cx="10760964" cy="3046988"/>
          </a:xfrm>
          <a:prstGeom prst="rect">
            <a:avLst/>
          </a:prstGeom>
          <a:noFill/>
        </p:spPr>
        <p:txBody>
          <a:bodyPr wrap="square">
            <a:spAutoFit/>
          </a:bodyPr>
          <a:lstStyle/>
          <a:p>
            <a:r>
              <a:rPr lang="hu-HU" sz="2400" b="1" dirty="0">
                <a:solidFill>
                  <a:schemeClr val="accent6"/>
                </a:solidFill>
              </a:rPr>
              <a:t>Ami	</a:t>
            </a:r>
            <a:r>
              <a:rPr lang="en-US" sz="2400" b="1" dirty="0">
                <a:solidFill>
                  <a:schemeClr val="accent6"/>
                </a:solidFill>
              </a:rPr>
              <a:t>		</a:t>
            </a:r>
            <a:r>
              <a:rPr lang="hu-HU" sz="2400" b="1" dirty="0">
                <a:solidFill>
                  <a:schemeClr val="accent6"/>
                </a:solidFill>
              </a:rPr>
              <a:t>a gyümölcsöket	illeti	</a:t>
            </a:r>
            <a:r>
              <a:rPr lang="en-US" sz="2400" b="1" dirty="0">
                <a:solidFill>
                  <a:schemeClr val="accent6"/>
                </a:solidFill>
              </a:rPr>
              <a:t>	</a:t>
            </a:r>
            <a:r>
              <a:rPr lang="hu-HU" sz="2400" b="1" dirty="0">
                <a:solidFill>
                  <a:schemeClr val="accent6"/>
                </a:solidFill>
              </a:rPr>
              <a:t>Anna	</a:t>
            </a:r>
            <a:r>
              <a:rPr lang="hu-HU" sz="2400" b="1" dirty="0">
                <a:solidFill>
                  <a:schemeClr val="accent4"/>
                </a:solidFill>
              </a:rPr>
              <a:t>csak</a:t>
            </a:r>
            <a:r>
              <a:rPr lang="hu-HU" sz="2400" b="1" dirty="0">
                <a:solidFill>
                  <a:schemeClr val="accent6"/>
                </a:solidFill>
              </a:rPr>
              <a:t>	</a:t>
            </a:r>
            <a:r>
              <a:rPr lang="en-US" sz="2400" b="1" dirty="0">
                <a:solidFill>
                  <a:schemeClr val="accent6"/>
                </a:solidFill>
              </a:rPr>
              <a:t>	</a:t>
            </a:r>
            <a:r>
              <a:rPr lang="hu-HU" sz="2400" b="1" dirty="0">
                <a:solidFill>
                  <a:schemeClr val="accent2"/>
                </a:solidFill>
              </a:rPr>
              <a:t>egy banánt</a:t>
            </a:r>
            <a:r>
              <a:rPr lang="hu-HU" sz="2400" b="1" dirty="0">
                <a:solidFill>
                  <a:schemeClr val="accent6"/>
                </a:solidFill>
              </a:rPr>
              <a:t>	</a:t>
            </a:r>
            <a:r>
              <a:rPr lang="en-US" sz="2400" b="1" dirty="0">
                <a:solidFill>
                  <a:schemeClr val="accent6"/>
                </a:solidFill>
              </a:rPr>
              <a:t>	</a:t>
            </a:r>
            <a:r>
              <a:rPr lang="hu-HU" sz="2400" b="1" dirty="0">
                <a:solidFill>
                  <a:schemeClr val="accent6"/>
                </a:solidFill>
              </a:rPr>
              <a:t>evett.</a:t>
            </a:r>
          </a:p>
          <a:p>
            <a:r>
              <a:rPr lang="hu-HU" sz="2400" i="1" dirty="0" err="1"/>
              <a:t>Regarding</a:t>
            </a:r>
            <a:r>
              <a:rPr lang="hu-HU" sz="2400" i="1" dirty="0"/>
              <a:t> </a:t>
            </a:r>
            <a:r>
              <a:rPr lang="hu-HU" sz="2400" i="1" dirty="0" err="1"/>
              <a:t>fruits</a:t>
            </a:r>
            <a:r>
              <a:rPr lang="hu-HU" sz="2400" i="1" dirty="0"/>
              <a:t>, Anna </a:t>
            </a:r>
            <a:r>
              <a:rPr lang="hu-HU" sz="2400" i="1" dirty="0" err="1"/>
              <a:t>ate</a:t>
            </a:r>
            <a:r>
              <a:rPr lang="hu-HU" sz="2400" i="1" dirty="0"/>
              <a:t> </a:t>
            </a:r>
            <a:r>
              <a:rPr lang="hu-HU" sz="2400" i="1" dirty="0" err="1"/>
              <a:t>only</a:t>
            </a:r>
            <a:r>
              <a:rPr lang="hu-HU" sz="2400" i="1" dirty="0"/>
              <a:t> a </a:t>
            </a:r>
            <a:r>
              <a:rPr lang="hu-HU" sz="2400" i="1" dirty="0" err="1"/>
              <a:t>banana</a:t>
            </a:r>
            <a:r>
              <a:rPr lang="hu-HU" sz="2400" i="1" dirty="0"/>
              <a:t>.	</a:t>
            </a:r>
            <a:r>
              <a:rPr lang="hu-HU" sz="2400" dirty="0"/>
              <a:t>	</a:t>
            </a:r>
            <a:endParaRPr lang="en-US" sz="2400" dirty="0"/>
          </a:p>
          <a:p>
            <a:r>
              <a:rPr lang="hu-HU" sz="2400" dirty="0"/>
              <a:t>				</a:t>
            </a:r>
          </a:p>
          <a:p>
            <a:r>
              <a:rPr lang="hu-HU" sz="2400" b="1" dirty="0">
                <a:effectLst>
                  <a:outerShdw blurRad="38100" dist="38100" dir="2700000" algn="tl">
                    <a:srgbClr val="000000">
                      <a:alpha val="43137"/>
                    </a:srgbClr>
                  </a:outerShdw>
                </a:effectLst>
              </a:rPr>
              <a:t>Ami	</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a gyümölcsöket	illeti	</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Anna	tegnap</a:t>
            </a:r>
            <a:r>
              <a:rPr lang="en-US" sz="2400" b="1" dirty="0">
                <a:effectLst>
                  <a:outerShdw blurRad="38100" dist="38100" dir="2700000" algn="tl">
                    <a:srgbClr val="000000">
                      <a:alpha val="43137"/>
                    </a:srgbClr>
                  </a:outerShdw>
                </a:effectLst>
              </a:rPr>
              <a:t>		</a:t>
            </a:r>
            <a:r>
              <a:rPr lang="hu-HU" sz="2400" b="1" dirty="0">
                <a:solidFill>
                  <a:schemeClr val="accent2"/>
                </a:solidFill>
                <a:effectLst>
                  <a:outerShdw blurRad="38100" dist="38100" dir="2700000" algn="tl">
                    <a:srgbClr val="000000">
                      <a:alpha val="43137"/>
                    </a:srgbClr>
                  </a:outerShdw>
                </a:effectLst>
              </a:rPr>
              <a:t>egy banánt	</a:t>
            </a:r>
            <a:r>
              <a:rPr lang="en-US" sz="2400" b="1" dirty="0">
                <a:effectLst>
                  <a:outerShdw blurRad="38100" dist="38100" dir="2700000" algn="tl">
                    <a:srgbClr val="000000">
                      <a:alpha val="43137"/>
                    </a:srgbClr>
                  </a:outerShdw>
                </a:effectLst>
              </a:rPr>
              <a:t>	</a:t>
            </a:r>
            <a:r>
              <a:rPr lang="hu-HU" sz="2400" b="1" dirty="0">
                <a:effectLst>
                  <a:outerShdw blurRad="38100" dist="38100" dir="2700000" algn="tl">
                    <a:srgbClr val="000000">
                      <a:alpha val="43137"/>
                    </a:srgbClr>
                  </a:outerShdw>
                </a:effectLst>
              </a:rPr>
              <a:t>evett.</a:t>
            </a:r>
          </a:p>
          <a:p>
            <a:r>
              <a:rPr lang="hu-HU" sz="2400" i="1" dirty="0" err="1">
                <a:effectLst>
                  <a:outerShdw blurRad="38100" dist="38100" dir="2700000" algn="tl">
                    <a:srgbClr val="000000">
                      <a:alpha val="43137"/>
                    </a:srgbClr>
                  </a:outerShdw>
                </a:effectLst>
              </a:rPr>
              <a:t>Regarding</a:t>
            </a:r>
            <a:r>
              <a:rPr lang="hu-HU" sz="2400" i="1" dirty="0">
                <a:effectLst>
                  <a:outerShdw blurRad="38100" dist="38100" dir="2700000" algn="tl">
                    <a:srgbClr val="000000">
                      <a:alpha val="43137"/>
                    </a:srgbClr>
                  </a:outerShdw>
                </a:effectLst>
              </a:rPr>
              <a:t> </a:t>
            </a:r>
            <a:r>
              <a:rPr lang="hu-HU" sz="2400" i="1" dirty="0" err="1">
                <a:effectLst>
                  <a:outerShdw blurRad="38100" dist="38100" dir="2700000" algn="tl">
                    <a:srgbClr val="000000">
                      <a:alpha val="43137"/>
                    </a:srgbClr>
                  </a:outerShdw>
                </a:effectLst>
              </a:rPr>
              <a:t>fruits</a:t>
            </a:r>
            <a:r>
              <a:rPr lang="hu-HU" sz="2400" i="1" dirty="0">
                <a:effectLst>
                  <a:outerShdw blurRad="38100" dist="38100" dir="2700000" algn="tl">
                    <a:srgbClr val="000000">
                      <a:alpha val="43137"/>
                    </a:srgbClr>
                  </a:outerShdw>
                </a:effectLst>
              </a:rPr>
              <a:t>, Anna </a:t>
            </a:r>
            <a:r>
              <a:rPr lang="hu-HU" sz="2400" i="1" dirty="0" err="1">
                <a:effectLst>
                  <a:outerShdw blurRad="38100" dist="38100" dir="2700000" algn="tl">
                    <a:srgbClr val="000000">
                      <a:alpha val="43137"/>
                    </a:srgbClr>
                  </a:outerShdw>
                </a:effectLst>
              </a:rPr>
              <a:t>ate</a:t>
            </a:r>
            <a:r>
              <a:rPr lang="hu-HU" sz="2400" i="1" dirty="0">
                <a:effectLst>
                  <a:outerShdw blurRad="38100" dist="38100" dir="2700000" algn="tl">
                    <a:srgbClr val="000000">
                      <a:alpha val="43137"/>
                    </a:srgbClr>
                  </a:outerShdw>
                </a:effectLst>
              </a:rPr>
              <a:t> a </a:t>
            </a:r>
            <a:r>
              <a:rPr lang="hu-HU" sz="2400" i="1" dirty="0" err="1">
                <a:effectLst>
                  <a:outerShdw blurRad="38100" dist="38100" dir="2700000" algn="tl">
                    <a:srgbClr val="000000">
                      <a:alpha val="43137"/>
                    </a:srgbClr>
                  </a:outerShdw>
                </a:effectLst>
              </a:rPr>
              <a:t>banana</a:t>
            </a:r>
            <a:r>
              <a:rPr lang="hu-HU" sz="2400" i="1" dirty="0">
                <a:effectLst>
                  <a:outerShdw blurRad="38100" dist="38100" dir="2700000" algn="tl">
                    <a:srgbClr val="000000">
                      <a:alpha val="43137"/>
                    </a:srgbClr>
                  </a:outerShdw>
                </a:effectLst>
              </a:rPr>
              <a:t> </a:t>
            </a:r>
            <a:r>
              <a:rPr lang="hu-HU" sz="2400" i="1" dirty="0" err="1">
                <a:effectLst>
                  <a:outerShdw blurRad="38100" dist="38100" dir="2700000" algn="tl">
                    <a:srgbClr val="000000">
                      <a:alpha val="43137"/>
                    </a:srgbClr>
                  </a:outerShdw>
                </a:effectLst>
              </a:rPr>
              <a:t>yesterday</a:t>
            </a:r>
            <a:r>
              <a:rPr lang="hu-HU" sz="2400" i="1" dirty="0">
                <a:effectLst>
                  <a:outerShdw blurRad="38100" dist="38100" dir="2700000" algn="tl">
                    <a:srgbClr val="000000">
                      <a:alpha val="43137"/>
                    </a:srgbClr>
                  </a:outerShdw>
                </a:effectLst>
              </a:rPr>
              <a:t>.</a:t>
            </a:r>
            <a:r>
              <a:rPr lang="hu-HU" sz="2400" i="1" dirty="0"/>
              <a:t>	</a:t>
            </a:r>
            <a:r>
              <a:rPr lang="hu-HU" sz="2400" dirty="0"/>
              <a:t>			</a:t>
            </a:r>
            <a:endParaRPr lang="en-US" sz="2400" dirty="0"/>
          </a:p>
          <a:p>
            <a:r>
              <a:rPr lang="hu-HU" sz="2400" dirty="0"/>
              <a:t>		</a:t>
            </a:r>
          </a:p>
          <a:p>
            <a:r>
              <a:rPr lang="hu-HU" sz="2400" b="1" dirty="0">
                <a:solidFill>
                  <a:schemeClr val="accent3"/>
                </a:solidFill>
              </a:rPr>
              <a:t>Tegnap	</a:t>
            </a:r>
            <a:r>
              <a:rPr lang="en-US" sz="2400" b="1" dirty="0">
                <a:solidFill>
                  <a:schemeClr val="accent3"/>
                </a:solidFill>
              </a:rPr>
              <a:t>		</a:t>
            </a:r>
            <a:r>
              <a:rPr lang="hu-HU" sz="2400" b="1" dirty="0">
                <a:solidFill>
                  <a:schemeClr val="accent3"/>
                </a:solidFill>
              </a:rPr>
              <a:t>reggel	</a:t>
            </a:r>
            <a:r>
              <a:rPr lang="en-US" sz="2400" b="1" dirty="0">
                <a:solidFill>
                  <a:schemeClr val="accent3"/>
                </a:solidFill>
              </a:rPr>
              <a:t>		</a:t>
            </a:r>
            <a:r>
              <a:rPr lang="hu-HU" sz="2400" b="1" dirty="0">
                <a:solidFill>
                  <a:schemeClr val="accent3"/>
                </a:solidFill>
              </a:rPr>
              <a:t>Anna	</a:t>
            </a:r>
            <a:r>
              <a:rPr lang="en-US" sz="2400" b="1" dirty="0">
                <a:solidFill>
                  <a:schemeClr val="accent3"/>
                </a:solidFill>
              </a:rPr>
              <a:t>		</a:t>
            </a:r>
            <a:r>
              <a:rPr lang="hu-HU" sz="2400" b="1" dirty="0">
                <a:solidFill>
                  <a:schemeClr val="accent4"/>
                </a:solidFill>
              </a:rPr>
              <a:t>többek</a:t>
            </a:r>
            <a:r>
              <a:rPr lang="en-US" sz="2400" b="1" dirty="0">
                <a:solidFill>
                  <a:schemeClr val="accent4"/>
                </a:solidFill>
              </a:rPr>
              <a:t> </a:t>
            </a:r>
            <a:r>
              <a:rPr lang="hu-HU" sz="2400" b="1" dirty="0">
                <a:solidFill>
                  <a:schemeClr val="accent4"/>
                </a:solidFill>
              </a:rPr>
              <a:t>között</a:t>
            </a:r>
            <a:r>
              <a:rPr lang="hu-HU" sz="2400" b="1" dirty="0">
                <a:solidFill>
                  <a:schemeClr val="accent3"/>
                </a:solidFill>
              </a:rPr>
              <a:t>	</a:t>
            </a:r>
            <a:r>
              <a:rPr lang="en-US" sz="2400" b="1" dirty="0">
                <a:solidFill>
                  <a:schemeClr val="accent3"/>
                </a:solidFill>
              </a:rPr>
              <a:t>	</a:t>
            </a:r>
            <a:r>
              <a:rPr lang="hu-HU" sz="2400" b="1" dirty="0">
                <a:solidFill>
                  <a:schemeClr val="accent2"/>
                </a:solidFill>
              </a:rPr>
              <a:t>egy banánt</a:t>
            </a:r>
            <a:r>
              <a:rPr lang="hu-HU" sz="2400" b="1" dirty="0">
                <a:solidFill>
                  <a:schemeClr val="accent3"/>
                </a:solidFill>
              </a:rPr>
              <a:t>	</a:t>
            </a:r>
            <a:r>
              <a:rPr lang="en-US" sz="2400" b="1" dirty="0">
                <a:solidFill>
                  <a:schemeClr val="accent3"/>
                </a:solidFill>
              </a:rPr>
              <a:t>	</a:t>
            </a:r>
            <a:r>
              <a:rPr lang="hu-HU" sz="2400" b="1" dirty="0">
                <a:solidFill>
                  <a:schemeClr val="accent3"/>
                </a:solidFill>
              </a:rPr>
              <a:t>evett.</a:t>
            </a:r>
          </a:p>
          <a:p>
            <a:r>
              <a:rPr lang="hu-HU" sz="2400" i="1" dirty="0" err="1"/>
              <a:t>Yesterday</a:t>
            </a:r>
            <a:r>
              <a:rPr lang="hu-HU" sz="2400" i="1" dirty="0"/>
              <a:t> </a:t>
            </a:r>
            <a:r>
              <a:rPr lang="hu-HU" sz="2400" i="1" dirty="0" err="1"/>
              <a:t>morning</a:t>
            </a:r>
            <a:r>
              <a:rPr lang="hu-HU" sz="2400" i="1" dirty="0"/>
              <a:t> Anna </a:t>
            </a:r>
            <a:r>
              <a:rPr lang="hu-HU" sz="2400" i="1" dirty="0" err="1"/>
              <a:t>ate</a:t>
            </a:r>
            <a:r>
              <a:rPr lang="hu-HU" sz="2400" i="1" dirty="0"/>
              <a:t>, </a:t>
            </a:r>
            <a:r>
              <a:rPr lang="hu-HU" sz="2400" i="1" dirty="0" err="1"/>
              <a:t>among</a:t>
            </a:r>
            <a:r>
              <a:rPr lang="hu-HU" sz="2400" i="1" dirty="0"/>
              <a:t> </a:t>
            </a:r>
            <a:r>
              <a:rPr lang="hu-HU" sz="2400" i="1" dirty="0" err="1"/>
              <a:t>other</a:t>
            </a:r>
            <a:r>
              <a:rPr lang="hu-HU" sz="2400" i="1" dirty="0"/>
              <a:t> </a:t>
            </a:r>
            <a:r>
              <a:rPr lang="hu-HU" sz="2400" i="1" dirty="0" err="1"/>
              <a:t>things</a:t>
            </a:r>
            <a:r>
              <a:rPr lang="hu-HU" sz="2400" i="1" dirty="0"/>
              <a:t>, a </a:t>
            </a:r>
            <a:r>
              <a:rPr lang="hu-HU" sz="2400" i="1" dirty="0" err="1"/>
              <a:t>banana</a:t>
            </a:r>
            <a:r>
              <a:rPr lang="hu-HU" sz="2400" i="1" dirty="0"/>
              <a:t>.	</a:t>
            </a:r>
            <a:r>
              <a:rPr lang="hu-HU" sz="2400" i="1" dirty="0">
                <a:solidFill>
                  <a:schemeClr val="accent3"/>
                </a:solidFill>
              </a:rPr>
              <a:t>	</a:t>
            </a:r>
            <a:r>
              <a:rPr lang="hu-HU" sz="2400" dirty="0"/>
              <a:t>				</a:t>
            </a:r>
          </a:p>
        </p:txBody>
      </p:sp>
      <p:sp>
        <p:nvSpPr>
          <p:cNvPr id="3" name="TextBox 2">
            <a:extLst>
              <a:ext uri="{FF2B5EF4-FFF2-40B4-BE49-F238E27FC236}">
                <a16:creationId xmlns:a16="http://schemas.microsoft.com/office/drawing/2014/main" id="{03238D60-12A5-3B59-3BCD-AA316EFB147E}"/>
              </a:ext>
            </a:extLst>
          </p:cNvPr>
          <p:cNvSpPr txBox="1"/>
          <p:nvPr/>
        </p:nvSpPr>
        <p:spPr>
          <a:xfrm>
            <a:off x="476450" y="310896"/>
            <a:ext cx="712270" cy="2862322"/>
          </a:xfrm>
          <a:prstGeom prst="rect">
            <a:avLst/>
          </a:prstGeom>
          <a:noFill/>
        </p:spPr>
        <p:txBody>
          <a:bodyPr wrap="square" rtlCol="0">
            <a:spAutoFit/>
          </a:bodyPr>
          <a:lstStyle/>
          <a:p>
            <a:r>
              <a:rPr lang="en-US" sz="3600" b="1" dirty="0">
                <a:solidFill>
                  <a:schemeClr val="accent6"/>
                </a:solidFill>
              </a:rPr>
              <a:t>E</a:t>
            </a:r>
            <a:endParaRPr lang="en-US" sz="3600" b="1" dirty="0"/>
          </a:p>
          <a:p>
            <a:endParaRPr lang="en-US" sz="3600" b="1" dirty="0"/>
          </a:p>
          <a:p>
            <a:r>
              <a:rPr lang="en-US" sz="3600" b="1" dirty="0">
                <a:solidFill>
                  <a:schemeClr val="accent1"/>
                </a:solidFill>
              </a:rPr>
              <a:t>F</a:t>
            </a:r>
            <a:endParaRPr lang="en-US" sz="3600" b="1" dirty="0"/>
          </a:p>
          <a:p>
            <a:endParaRPr lang="en-US" sz="3600" b="1" dirty="0"/>
          </a:p>
          <a:p>
            <a:r>
              <a:rPr lang="en-US" sz="3600" b="1" dirty="0">
                <a:solidFill>
                  <a:schemeClr val="accent3"/>
                </a:solidFill>
              </a:rPr>
              <a:t>C</a:t>
            </a:r>
          </a:p>
        </p:txBody>
      </p:sp>
      <p:pic>
        <p:nvPicPr>
          <p:cNvPr id="9" name="Picture 8" descr="A banana on a white surface&#10;&#10;AI-generated content may be incorrect.">
            <a:extLst>
              <a:ext uri="{FF2B5EF4-FFF2-40B4-BE49-F238E27FC236}">
                <a16:creationId xmlns:a16="http://schemas.microsoft.com/office/drawing/2014/main" id="{77099483-C47F-6D40-3FC5-EA8D0207E326}"/>
              </a:ext>
            </a:extLst>
          </p:cNvPr>
          <p:cNvPicPr>
            <a:picLocks noChangeAspect="1"/>
          </p:cNvPicPr>
          <p:nvPr/>
        </p:nvPicPr>
        <p:blipFill>
          <a:blip r:embed="rId2">
            <a:duotone>
              <a:prstClr val="black"/>
              <a:schemeClr val="accent6">
                <a:tint val="45000"/>
                <a:satMod val="400000"/>
              </a:schemeClr>
            </a:duotone>
          </a:blip>
          <a:stretch>
            <a:fillRect/>
          </a:stretch>
        </p:blipFill>
        <p:spPr>
          <a:xfrm>
            <a:off x="1188720" y="3429000"/>
            <a:ext cx="3233928" cy="3233928"/>
          </a:xfrm>
          <a:prstGeom prst="rect">
            <a:avLst/>
          </a:prstGeom>
        </p:spPr>
      </p:pic>
      <p:pic>
        <p:nvPicPr>
          <p:cNvPr id="10" name="Picture 9" descr="A banana and grapes next to a red apple&#10;&#10;AI-generated content may be incorrect.">
            <a:extLst>
              <a:ext uri="{FF2B5EF4-FFF2-40B4-BE49-F238E27FC236}">
                <a16:creationId xmlns:a16="http://schemas.microsoft.com/office/drawing/2014/main" id="{CFD4457F-FD39-6E3E-90C3-1C16460037C0}"/>
              </a:ext>
            </a:extLst>
          </p:cNvPr>
          <p:cNvPicPr>
            <a:picLocks noChangeAspect="1"/>
          </p:cNvPicPr>
          <p:nvPr/>
        </p:nvPicPr>
        <p:blipFill>
          <a:blip r:embed="rId3">
            <a:duotone>
              <a:prstClr val="black"/>
              <a:schemeClr val="accent3">
                <a:tint val="45000"/>
                <a:satMod val="400000"/>
              </a:schemeClr>
            </a:duotone>
          </a:blip>
          <a:stretch>
            <a:fillRect/>
          </a:stretch>
        </p:blipFill>
        <p:spPr>
          <a:xfrm>
            <a:off x="7769354" y="3429000"/>
            <a:ext cx="3233926" cy="3233926"/>
          </a:xfrm>
          <a:prstGeom prst="rect">
            <a:avLst/>
          </a:prstGeom>
        </p:spPr>
      </p:pic>
      <p:sp>
        <p:nvSpPr>
          <p:cNvPr id="11" name="TextBox 10">
            <a:extLst>
              <a:ext uri="{FF2B5EF4-FFF2-40B4-BE49-F238E27FC236}">
                <a16:creationId xmlns:a16="http://schemas.microsoft.com/office/drawing/2014/main" id="{FEA002CE-E97D-ED7E-EB58-44817E9C1927}"/>
              </a:ext>
            </a:extLst>
          </p:cNvPr>
          <p:cNvSpPr txBox="1"/>
          <p:nvPr/>
        </p:nvSpPr>
        <p:spPr>
          <a:xfrm>
            <a:off x="1188720" y="5989320"/>
            <a:ext cx="621792" cy="707886"/>
          </a:xfrm>
          <a:prstGeom prst="rect">
            <a:avLst/>
          </a:prstGeom>
          <a:noFill/>
        </p:spPr>
        <p:txBody>
          <a:bodyPr wrap="square" rtlCol="0">
            <a:spAutoFit/>
          </a:bodyPr>
          <a:lstStyle/>
          <a:p>
            <a:r>
              <a:rPr lang="en-US" sz="4000" dirty="0">
                <a:solidFill>
                  <a:schemeClr val="bg2"/>
                </a:solidFill>
              </a:rPr>
              <a:t>A</a:t>
            </a:r>
          </a:p>
        </p:txBody>
      </p:sp>
      <p:sp>
        <p:nvSpPr>
          <p:cNvPr id="12" name="TextBox 11">
            <a:extLst>
              <a:ext uri="{FF2B5EF4-FFF2-40B4-BE49-F238E27FC236}">
                <a16:creationId xmlns:a16="http://schemas.microsoft.com/office/drawing/2014/main" id="{3B203F87-626A-7239-130F-77220308BD3B}"/>
              </a:ext>
            </a:extLst>
          </p:cNvPr>
          <p:cNvSpPr txBox="1"/>
          <p:nvPr/>
        </p:nvSpPr>
        <p:spPr>
          <a:xfrm>
            <a:off x="7769354" y="5989320"/>
            <a:ext cx="621792" cy="707886"/>
          </a:xfrm>
          <a:prstGeom prst="rect">
            <a:avLst/>
          </a:prstGeom>
          <a:noFill/>
        </p:spPr>
        <p:txBody>
          <a:bodyPr wrap="square" rtlCol="0">
            <a:spAutoFit/>
          </a:bodyPr>
          <a:lstStyle/>
          <a:p>
            <a:r>
              <a:rPr lang="en-US" sz="4000" dirty="0">
                <a:solidFill>
                  <a:schemeClr val="bg2"/>
                </a:solidFill>
              </a:rPr>
              <a:t>B</a:t>
            </a:r>
          </a:p>
        </p:txBody>
      </p:sp>
    </p:spTree>
    <p:extLst>
      <p:ext uri="{BB962C8B-B14F-4D97-AF65-F5344CB8AC3E}">
        <p14:creationId xmlns:p14="http://schemas.microsoft.com/office/powerpoint/2010/main" val="16917910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C6801-C936-C25C-2630-37E1667A5F1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6B5993B-18DB-8A41-62FE-0726A2EAB3B4}"/>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23</a:t>
            </a:fld>
            <a:endParaRPr lang="en-US" dirty="0"/>
          </a:p>
        </p:txBody>
      </p:sp>
      <p:sp>
        <p:nvSpPr>
          <p:cNvPr id="5" name="TextBox 4">
            <a:extLst>
              <a:ext uri="{FF2B5EF4-FFF2-40B4-BE49-F238E27FC236}">
                <a16:creationId xmlns:a16="http://schemas.microsoft.com/office/drawing/2014/main" id="{F85E073F-1BEB-1BB9-D8AD-F23E8C2FD4C4}"/>
              </a:ext>
            </a:extLst>
          </p:cNvPr>
          <p:cNvSpPr txBox="1"/>
          <p:nvPr/>
        </p:nvSpPr>
        <p:spPr>
          <a:xfrm>
            <a:off x="1188720" y="310896"/>
            <a:ext cx="10760964" cy="3046988"/>
          </a:xfrm>
          <a:prstGeom prst="rect">
            <a:avLst/>
          </a:prstGeom>
          <a:noFill/>
        </p:spPr>
        <p:txBody>
          <a:bodyPr wrap="square">
            <a:spAutoFit/>
          </a:bodyPr>
          <a:lstStyle/>
          <a:p>
            <a:r>
              <a:rPr lang="hu-HU" sz="2400" b="1" dirty="0">
                <a:solidFill>
                  <a:schemeClr val="accent6"/>
                </a:solidFill>
              </a:rPr>
              <a:t>Ami	</a:t>
            </a:r>
            <a:r>
              <a:rPr lang="en-US" sz="2400" b="1" dirty="0">
                <a:solidFill>
                  <a:schemeClr val="accent6"/>
                </a:solidFill>
              </a:rPr>
              <a:t>		</a:t>
            </a:r>
            <a:r>
              <a:rPr lang="hu-HU" sz="2400" b="1" dirty="0">
                <a:solidFill>
                  <a:schemeClr val="accent6"/>
                </a:solidFill>
              </a:rPr>
              <a:t>a gyümölcsöket	illeti	</a:t>
            </a:r>
            <a:r>
              <a:rPr lang="en-US" sz="2400" b="1" dirty="0">
                <a:solidFill>
                  <a:schemeClr val="accent6"/>
                </a:solidFill>
              </a:rPr>
              <a:t>	</a:t>
            </a:r>
            <a:r>
              <a:rPr lang="hu-HU" sz="2400" b="1" dirty="0">
                <a:solidFill>
                  <a:schemeClr val="accent6"/>
                </a:solidFill>
              </a:rPr>
              <a:t>Anna	</a:t>
            </a:r>
            <a:r>
              <a:rPr lang="hu-HU" sz="2400" b="1" dirty="0">
                <a:solidFill>
                  <a:schemeClr val="accent4"/>
                </a:solidFill>
              </a:rPr>
              <a:t>csak</a:t>
            </a:r>
            <a:r>
              <a:rPr lang="hu-HU" sz="2400" b="1" dirty="0">
                <a:solidFill>
                  <a:schemeClr val="accent6"/>
                </a:solidFill>
              </a:rPr>
              <a:t>	</a:t>
            </a:r>
            <a:r>
              <a:rPr lang="en-US" sz="2400" b="1" dirty="0">
                <a:solidFill>
                  <a:schemeClr val="accent6"/>
                </a:solidFill>
              </a:rPr>
              <a:t>	</a:t>
            </a:r>
            <a:r>
              <a:rPr lang="hu-HU" sz="2400" b="1" dirty="0">
                <a:solidFill>
                  <a:schemeClr val="accent2"/>
                </a:solidFill>
              </a:rPr>
              <a:t>egy banánt</a:t>
            </a:r>
            <a:r>
              <a:rPr lang="hu-HU" sz="2400" b="1" dirty="0">
                <a:solidFill>
                  <a:schemeClr val="accent6"/>
                </a:solidFill>
              </a:rPr>
              <a:t>	</a:t>
            </a:r>
            <a:r>
              <a:rPr lang="en-US" sz="2400" b="1" dirty="0">
                <a:solidFill>
                  <a:schemeClr val="accent6"/>
                </a:solidFill>
              </a:rPr>
              <a:t>	</a:t>
            </a:r>
            <a:r>
              <a:rPr lang="hu-HU" sz="2400" b="1" dirty="0">
                <a:solidFill>
                  <a:schemeClr val="accent6"/>
                </a:solidFill>
              </a:rPr>
              <a:t>evett.</a:t>
            </a:r>
          </a:p>
          <a:p>
            <a:r>
              <a:rPr lang="hu-HU" sz="2400" i="1" dirty="0" err="1"/>
              <a:t>Regarding</a:t>
            </a:r>
            <a:r>
              <a:rPr lang="hu-HU" sz="2400" i="1" dirty="0"/>
              <a:t> </a:t>
            </a:r>
            <a:r>
              <a:rPr lang="hu-HU" sz="2400" i="1" dirty="0" err="1"/>
              <a:t>fruits</a:t>
            </a:r>
            <a:r>
              <a:rPr lang="hu-HU" sz="2400" i="1" dirty="0"/>
              <a:t>, Anna </a:t>
            </a:r>
            <a:r>
              <a:rPr lang="hu-HU" sz="2400" i="1" dirty="0" err="1"/>
              <a:t>ate</a:t>
            </a:r>
            <a:r>
              <a:rPr lang="hu-HU" sz="2400" i="1" dirty="0"/>
              <a:t> </a:t>
            </a:r>
            <a:r>
              <a:rPr lang="hu-HU" sz="2400" i="1" dirty="0" err="1"/>
              <a:t>only</a:t>
            </a:r>
            <a:r>
              <a:rPr lang="hu-HU" sz="2400" i="1" dirty="0"/>
              <a:t> a </a:t>
            </a:r>
            <a:r>
              <a:rPr lang="hu-HU" sz="2400" i="1" dirty="0" err="1"/>
              <a:t>banana</a:t>
            </a:r>
            <a:r>
              <a:rPr lang="hu-HU" sz="2400" i="1" dirty="0"/>
              <a:t>.	</a:t>
            </a:r>
            <a:r>
              <a:rPr lang="hu-HU" sz="2400" dirty="0"/>
              <a:t>	</a:t>
            </a:r>
            <a:endParaRPr lang="en-US" sz="2400" dirty="0"/>
          </a:p>
          <a:p>
            <a:r>
              <a:rPr lang="hu-HU" sz="2400" dirty="0"/>
              <a:t>				</a:t>
            </a:r>
          </a:p>
          <a:p>
            <a:r>
              <a:rPr lang="hu-HU" sz="2400" b="1" dirty="0">
                <a:solidFill>
                  <a:schemeClr val="accent1"/>
                </a:solidFill>
                <a:effectLst>
                  <a:outerShdw blurRad="38100" dist="38100" dir="2700000" algn="tl">
                    <a:srgbClr val="000000">
                      <a:alpha val="43137"/>
                    </a:srgbClr>
                  </a:outerShdw>
                </a:effectLst>
              </a:rPr>
              <a:t>Ami	</a:t>
            </a:r>
            <a:r>
              <a:rPr lang="en-US" sz="2400" b="1" dirty="0">
                <a:solidFill>
                  <a:schemeClr val="accent1"/>
                </a:solidFill>
                <a:effectLst>
                  <a:outerShdw blurRad="38100" dist="38100" dir="2700000" algn="tl">
                    <a:srgbClr val="000000">
                      <a:alpha val="43137"/>
                    </a:srgbClr>
                  </a:outerShdw>
                </a:effectLst>
              </a:rPr>
              <a:t>		</a:t>
            </a:r>
            <a:r>
              <a:rPr lang="hu-HU" sz="2400" b="1" dirty="0">
                <a:solidFill>
                  <a:schemeClr val="accent1"/>
                </a:solidFill>
                <a:effectLst>
                  <a:outerShdw blurRad="38100" dist="38100" dir="2700000" algn="tl">
                    <a:srgbClr val="000000">
                      <a:alpha val="43137"/>
                    </a:srgbClr>
                  </a:outerShdw>
                </a:effectLst>
              </a:rPr>
              <a:t>a gyümölcsöket	illeti	</a:t>
            </a:r>
            <a:r>
              <a:rPr lang="en-US" sz="2400" b="1" dirty="0">
                <a:solidFill>
                  <a:schemeClr val="accent1"/>
                </a:solidFill>
                <a:effectLst>
                  <a:outerShdw blurRad="38100" dist="38100" dir="2700000" algn="tl">
                    <a:srgbClr val="000000">
                      <a:alpha val="43137"/>
                    </a:srgbClr>
                  </a:outerShdw>
                </a:effectLst>
              </a:rPr>
              <a:t>	</a:t>
            </a:r>
            <a:r>
              <a:rPr lang="hu-HU" sz="2400" b="1" dirty="0">
                <a:solidFill>
                  <a:schemeClr val="accent1"/>
                </a:solidFill>
                <a:effectLst>
                  <a:outerShdw blurRad="38100" dist="38100" dir="2700000" algn="tl">
                    <a:srgbClr val="000000">
                      <a:alpha val="43137"/>
                    </a:srgbClr>
                  </a:outerShdw>
                </a:effectLst>
              </a:rPr>
              <a:t>Anna	tegnap</a:t>
            </a:r>
            <a:r>
              <a:rPr lang="en-US" sz="2400" b="1" dirty="0">
                <a:solidFill>
                  <a:schemeClr val="accent1"/>
                </a:solidFill>
                <a:effectLst>
                  <a:outerShdw blurRad="38100" dist="38100" dir="2700000" algn="tl">
                    <a:srgbClr val="000000">
                      <a:alpha val="43137"/>
                    </a:srgbClr>
                  </a:outerShdw>
                </a:effectLst>
              </a:rPr>
              <a:t>		</a:t>
            </a:r>
            <a:r>
              <a:rPr lang="hu-HU" sz="2400" b="1" dirty="0">
                <a:solidFill>
                  <a:schemeClr val="accent2"/>
                </a:solidFill>
                <a:effectLst>
                  <a:outerShdw blurRad="38100" dist="38100" dir="2700000" algn="tl">
                    <a:srgbClr val="000000">
                      <a:alpha val="43137"/>
                    </a:srgbClr>
                  </a:outerShdw>
                </a:effectLst>
              </a:rPr>
              <a:t>egy banánt</a:t>
            </a:r>
            <a:r>
              <a:rPr lang="hu-HU" sz="2400" b="1" dirty="0">
                <a:solidFill>
                  <a:schemeClr val="accent1"/>
                </a:solidFill>
                <a:effectLst>
                  <a:outerShdw blurRad="38100" dist="38100" dir="2700000" algn="tl">
                    <a:srgbClr val="000000">
                      <a:alpha val="43137"/>
                    </a:srgbClr>
                  </a:outerShdw>
                </a:effectLst>
              </a:rPr>
              <a:t>	</a:t>
            </a:r>
            <a:r>
              <a:rPr lang="en-US" sz="2400" b="1" dirty="0">
                <a:solidFill>
                  <a:schemeClr val="accent1"/>
                </a:solidFill>
                <a:effectLst>
                  <a:outerShdw blurRad="38100" dist="38100" dir="2700000" algn="tl">
                    <a:srgbClr val="000000">
                      <a:alpha val="43137"/>
                    </a:srgbClr>
                  </a:outerShdw>
                </a:effectLst>
              </a:rPr>
              <a:t>	</a:t>
            </a:r>
            <a:r>
              <a:rPr lang="hu-HU" sz="2400" b="1" dirty="0">
                <a:solidFill>
                  <a:schemeClr val="accent1"/>
                </a:solidFill>
                <a:effectLst>
                  <a:outerShdw blurRad="38100" dist="38100" dir="2700000" algn="tl">
                    <a:srgbClr val="000000">
                      <a:alpha val="43137"/>
                    </a:srgbClr>
                  </a:outerShdw>
                </a:effectLst>
              </a:rPr>
              <a:t>evett.</a:t>
            </a:r>
          </a:p>
          <a:p>
            <a:r>
              <a:rPr lang="hu-HU" sz="2400" i="1" dirty="0" err="1">
                <a:effectLst>
                  <a:outerShdw blurRad="38100" dist="38100" dir="2700000" algn="tl">
                    <a:srgbClr val="000000">
                      <a:alpha val="43137"/>
                    </a:srgbClr>
                  </a:outerShdw>
                </a:effectLst>
              </a:rPr>
              <a:t>Regarding</a:t>
            </a:r>
            <a:r>
              <a:rPr lang="hu-HU" sz="2400" i="1" dirty="0">
                <a:effectLst>
                  <a:outerShdw blurRad="38100" dist="38100" dir="2700000" algn="tl">
                    <a:srgbClr val="000000">
                      <a:alpha val="43137"/>
                    </a:srgbClr>
                  </a:outerShdw>
                </a:effectLst>
              </a:rPr>
              <a:t> </a:t>
            </a:r>
            <a:r>
              <a:rPr lang="hu-HU" sz="2400" i="1" dirty="0" err="1">
                <a:effectLst>
                  <a:outerShdw blurRad="38100" dist="38100" dir="2700000" algn="tl">
                    <a:srgbClr val="000000">
                      <a:alpha val="43137"/>
                    </a:srgbClr>
                  </a:outerShdw>
                </a:effectLst>
              </a:rPr>
              <a:t>fruits</a:t>
            </a:r>
            <a:r>
              <a:rPr lang="hu-HU" sz="2400" i="1" dirty="0">
                <a:effectLst>
                  <a:outerShdw blurRad="38100" dist="38100" dir="2700000" algn="tl">
                    <a:srgbClr val="000000">
                      <a:alpha val="43137"/>
                    </a:srgbClr>
                  </a:outerShdw>
                </a:effectLst>
              </a:rPr>
              <a:t>, Anna </a:t>
            </a:r>
            <a:r>
              <a:rPr lang="hu-HU" sz="2400" i="1" dirty="0" err="1">
                <a:effectLst>
                  <a:outerShdw blurRad="38100" dist="38100" dir="2700000" algn="tl">
                    <a:srgbClr val="000000">
                      <a:alpha val="43137"/>
                    </a:srgbClr>
                  </a:outerShdw>
                </a:effectLst>
              </a:rPr>
              <a:t>ate</a:t>
            </a:r>
            <a:r>
              <a:rPr lang="hu-HU" sz="2400" i="1" dirty="0">
                <a:effectLst>
                  <a:outerShdw blurRad="38100" dist="38100" dir="2700000" algn="tl">
                    <a:srgbClr val="000000">
                      <a:alpha val="43137"/>
                    </a:srgbClr>
                  </a:outerShdw>
                </a:effectLst>
              </a:rPr>
              <a:t> a </a:t>
            </a:r>
            <a:r>
              <a:rPr lang="hu-HU" sz="2400" i="1" dirty="0" err="1">
                <a:effectLst>
                  <a:outerShdw blurRad="38100" dist="38100" dir="2700000" algn="tl">
                    <a:srgbClr val="000000">
                      <a:alpha val="43137"/>
                    </a:srgbClr>
                  </a:outerShdw>
                </a:effectLst>
              </a:rPr>
              <a:t>banana</a:t>
            </a:r>
            <a:r>
              <a:rPr lang="hu-HU" sz="2400" i="1" dirty="0">
                <a:effectLst>
                  <a:outerShdw blurRad="38100" dist="38100" dir="2700000" algn="tl">
                    <a:srgbClr val="000000">
                      <a:alpha val="43137"/>
                    </a:srgbClr>
                  </a:outerShdw>
                </a:effectLst>
              </a:rPr>
              <a:t> </a:t>
            </a:r>
            <a:r>
              <a:rPr lang="hu-HU" sz="2400" i="1" dirty="0" err="1">
                <a:effectLst>
                  <a:outerShdw blurRad="38100" dist="38100" dir="2700000" algn="tl">
                    <a:srgbClr val="000000">
                      <a:alpha val="43137"/>
                    </a:srgbClr>
                  </a:outerShdw>
                </a:effectLst>
              </a:rPr>
              <a:t>yesterday</a:t>
            </a:r>
            <a:r>
              <a:rPr lang="hu-HU" sz="2400" i="1" dirty="0">
                <a:effectLst>
                  <a:outerShdw blurRad="38100" dist="38100" dir="2700000" algn="tl">
                    <a:srgbClr val="000000">
                      <a:alpha val="43137"/>
                    </a:srgbClr>
                  </a:outerShdw>
                </a:effectLst>
              </a:rPr>
              <a:t>.</a:t>
            </a:r>
            <a:r>
              <a:rPr lang="hu-HU" sz="2400" i="1" dirty="0"/>
              <a:t>	</a:t>
            </a:r>
            <a:r>
              <a:rPr lang="hu-HU" sz="2400" dirty="0"/>
              <a:t>			</a:t>
            </a:r>
            <a:endParaRPr lang="en-US" sz="2400" dirty="0"/>
          </a:p>
          <a:p>
            <a:r>
              <a:rPr lang="hu-HU" sz="2400" dirty="0"/>
              <a:t>		</a:t>
            </a:r>
          </a:p>
          <a:p>
            <a:r>
              <a:rPr lang="hu-HU" sz="2400" b="1" dirty="0">
                <a:solidFill>
                  <a:schemeClr val="accent3"/>
                </a:solidFill>
              </a:rPr>
              <a:t>Tegnap	</a:t>
            </a:r>
            <a:r>
              <a:rPr lang="en-US" sz="2400" b="1" dirty="0">
                <a:solidFill>
                  <a:schemeClr val="accent3"/>
                </a:solidFill>
              </a:rPr>
              <a:t>		</a:t>
            </a:r>
            <a:r>
              <a:rPr lang="hu-HU" sz="2400" b="1" dirty="0">
                <a:solidFill>
                  <a:schemeClr val="accent3"/>
                </a:solidFill>
              </a:rPr>
              <a:t>reggel	</a:t>
            </a:r>
            <a:r>
              <a:rPr lang="en-US" sz="2400" b="1" dirty="0">
                <a:solidFill>
                  <a:schemeClr val="accent3"/>
                </a:solidFill>
              </a:rPr>
              <a:t>		</a:t>
            </a:r>
            <a:r>
              <a:rPr lang="hu-HU" sz="2400" b="1" dirty="0">
                <a:solidFill>
                  <a:schemeClr val="accent3"/>
                </a:solidFill>
              </a:rPr>
              <a:t>Anna	</a:t>
            </a:r>
            <a:r>
              <a:rPr lang="en-US" sz="2400" b="1" dirty="0">
                <a:solidFill>
                  <a:schemeClr val="accent3"/>
                </a:solidFill>
              </a:rPr>
              <a:t>		</a:t>
            </a:r>
            <a:r>
              <a:rPr lang="hu-HU" sz="2400" b="1" dirty="0">
                <a:solidFill>
                  <a:schemeClr val="accent4"/>
                </a:solidFill>
              </a:rPr>
              <a:t>többek</a:t>
            </a:r>
            <a:r>
              <a:rPr lang="en-US" sz="2400" b="1" dirty="0">
                <a:solidFill>
                  <a:schemeClr val="accent4"/>
                </a:solidFill>
              </a:rPr>
              <a:t> </a:t>
            </a:r>
            <a:r>
              <a:rPr lang="hu-HU" sz="2400" b="1" dirty="0">
                <a:solidFill>
                  <a:schemeClr val="accent4"/>
                </a:solidFill>
              </a:rPr>
              <a:t>között</a:t>
            </a:r>
            <a:r>
              <a:rPr lang="hu-HU" sz="2400" b="1" dirty="0">
                <a:solidFill>
                  <a:schemeClr val="accent3"/>
                </a:solidFill>
              </a:rPr>
              <a:t>	</a:t>
            </a:r>
            <a:r>
              <a:rPr lang="en-US" sz="2400" b="1" dirty="0">
                <a:solidFill>
                  <a:schemeClr val="accent3"/>
                </a:solidFill>
              </a:rPr>
              <a:t>	</a:t>
            </a:r>
            <a:r>
              <a:rPr lang="hu-HU" sz="2400" b="1" dirty="0">
                <a:solidFill>
                  <a:schemeClr val="accent2"/>
                </a:solidFill>
              </a:rPr>
              <a:t>egy banánt</a:t>
            </a:r>
            <a:r>
              <a:rPr lang="hu-HU" sz="2400" b="1" dirty="0">
                <a:solidFill>
                  <a:schemeClr val="accent3"/>
                </a:solidFill>
              </a:rPr>
              <a:t>	</a:t>
            </a:r>
            <a:r>
              <a:rPr lang="en-US" sz="2400" b="1" dirty="0">
                <a:solidFill>
                  <a:schemeClr val="accent3"/>
                </a:solidFill>
              </a:rPr>
              <a:t>	</a:t>
            </a:r>
            <a:r>
              <a:rPr lang="hu-HU" sz="2400" b="1" dirty="0">
                <a:solidFill>
                  <a:schemeClr val="accent3"/>
                </a:solidFill>
              </a:rPr>
              <a:t>evett.</a:t>
            </a:r>
          </a:p>
          <a:p>
            <a:r>
              <a:rPr lang="hu-HU" sz="2400" i="1" dirty="0" err="1"/>
              <a:t>Yesterday</a:t>
            </a:r>
            <a:r>
              <a:rPr lang="hu-HU" sz="2400" i="1" dirty="0"/>
              <a:t> </a:t>
            </a:r>
            <a:r>
              <a:rPr lang="hu-HU" sz="2400" i="1" dirty="0" err="1"/>
              <a:t>morning</a:t>
            </a:r>
            <a:r>
              <a:rPr lang="hu-HU" sz="2400" i="1" dirty="0"/>
              <a:t> Anna </a:t>
            </a:r>
            <a:r>
              <a:rPr lang="hu-HU" sz="2400" i="1" dirty="0" err="1"/>
              <a:t>ate</a:t>
            </a:r>
            <a:r>
              <a:rPr lang="hu-HU" sz="2400" i="1" dirty="0"/>
              <a:t>, </a:t>
            </a:r>
            <a:r>
              <a:rPr lang="hu-HU" sz="2400" i="1" dirty="0" err="1"/>
              <a:t>among</a:t>
            </a:r>
            <a:r>
              <a:rPr lang="hu-HU" sz="2400" i="1" dirty="0"/>
              <a:t> </a:t>
            </a:r>
            <a:r>
              <a:rPr lang="hu-HU" sz="2400" i="1" dirty="0" err="1"/>
              <a:t>other</a:t>
            </a:r>
            <a:r>
              <a:rPr lang="hu-HU" sz="2400" i="1" dirty="0"/>
              <a:t> </a:t>
            </a:r>
            <a:r>
              <a:rPr lang="hu-HU" sz="2400" i="1" dirty="0" err="1"/>
              <a:t>things</a:t>
            </a:r>
            <a:r>
              <a:rPr lang="hu-HU" sz="2400" i="1" dirty="0"/>
              <a:t>, a </a:t>
            </a:r>
            <a:r>
              <a:rPr lang="hu-HU" sz="2400" i="1" dirty="0" err="1"/>
              <a:t>banana</a:t>
            </a:r>
            <a:r>
              <a:rPr lang="hu-HU" sz="2400" i="1" dirty="0"/>
              <a:t>.	</a:t>
            </a:r>
            <a:endParaRPr lang="hu-HU" sz="2400" dirty="0"/>
          </a:p>
        </p:txBody>
      </p:sp>
      <p:sp>
        <p:nvSpPr>
          <p:cNvPr id="3" name="TextBox 2">
            <a:extLst>
              <a:ext uri="{FF2B5EF4-FFF2-40B4-BE49-F238E27FC236}">
                <a16:creationId xmlns:a16="http://schemas.microsoft.com/office/drawing/2014/main" id="{3A00AE24-19BF-8C6D-E5E4-C55DAE6280D7}"/>
              </a:ext>
            </a:extLst>
          </p:cNvPr>
          <p:cNvSpPr txBox="1"/>
          <p:nvPr/>
        </p:nvSpPr>
        <p:spPr>
          <a:xfrm>
            <a:off x="476450" y="310896"/>
            <a:ext cx="712270" cy="2862322"/>
          </a:xfrm>
          <a:prstGeom prst="rect">
            <a:avLst/>
          </a:prstGeom>
          <a:noFill/>
        </p:spPr>
        <p:txBody>
          <a:bodyPr wrap="square" rtlCol="0">
            <a:spAutoFit/>
          </a:bodyPr>
          <a:lstStyle/>
          <a:p>
            <a:r>
              <a:rPr lang="en-US" sz="3600" b="1" dirty="0">
                <a:solidFill>
                  <a:schemeClr val="accent6"/>
                </a:solidFill>
              </a:rPr>
              <a:t>E</a:t>
            </a:r>
            <a:endParaRPr lang="en-US" sz="3600" b="1" dirty="0"/>
          </a:p>
          <a:p>
            <a:endParaRPr lang="en-US" sz="3600" b="1" dirty="0"/>
          </a:p>
          <a:p>
            <a:r>
              <a:rPr lang="en-US" sz="3600" b="1" dirty="0">
                <a:solidFill>
                  <a:schemeClr val="accent1"/>
                </a:solidFill>
              </a:rPr>
              <a:t>F</a:t>
            </a:r>
            <a:endParaRPr lang="en-US" sz="3600" b="1" dirty="0"/>
          </a:p>
          <a:p>
            <a:endParaRPr lang="en-US" sz="3600" b="1" dirty="0"/>
          </a:p>
          <a:p>
            <a:r>
              <a:rPr lang="en-US" sz="3600" b="1" dirty="0">
                <a:solidFill>
                  <a:schemeClr val="accent3"/>
                </a:solidFill>
              </a:rPr>
              <a:t>C</a:t>
            </a:r>
          </a:p>
        </p:txBody>
      </p:sp>
      <p:pic>
        <p:nvPicPr>
          <p:cNvPr id="9" name="Picture 8" descr="A banana on a white surface&#10;&#10;AI-generated content may be incorrect.">
            <a:extLst>
              <a:ext uri="{FF2B5EF4-FFF2-40B4-BE49-F238E27FC236}">
                <a16:creationId xmlns:a16="http://schemas.microsoft.com/office/drawing/2014/main" id="{8D429BA2-410A-CDDD-0694-35A79780DF2D}"/>
              </a:ext>
            </a:extLst>
          </p:cNvPr>
          <p:cNvPicPr>
            <a:picLocks noChangeAspect="1"/>
          </p:cNvPicPr>
          <p:nvPr/>
        </p:nvPicPr>
        <p:blipFill>
          <a:blip r:embed="rId2">
            <a:duotone>
              <a:prstClr val="black"/>
              <a:schemeClr val="accent6">
                <a:tint val="45000"/>
                <a:satMod val="400000"/>
              </a:schemeClr>
            </a:duotone>
          </a:blip>
          <a:stretch>
            <a:fillRect/>
          </a:stretch>
        </p:blipFill>
        <p:spPr>
          <a:xfrm>
            <a:off x="1188720" y="3429000"/>
            <a:ext cx="3233928" cy="3233928"/>
          </a:xfrm>
          <a:prstGeom prst="rect">
            <a:avLst/>
          </a:prstGeom>
        </p:spPr>
      </p:pic>
      <p:pic>
        <p:nvPicPr>
          <p:cNvPr id="10" name="Picture 9" descr="A banana and grapes next to a red apple&#10;&#10;AI-generated content may be incorrect.">
            <a:extLst>
              <a:ext uri="{FF2B5EF4-FFF2-40B4-BE49-F238E27FC236}">
                <a16:creationId xmlns:a16="http://schemas.microsoft.com/office/drawing/2014/main" id="{D572FACA-9B37-D52A-7E60-7C78913E2264}"/>
              </a:ext>
            </a:extLst>
          </p:cNvPr>
          <p:cNvPicPr>
            <a:picLocks noChangeAspect="1"/>
          </p:cNvPicPr>
          <p:nvPr/>
        </p:nvPicPr>
        <p:blipFill>
          <a:blip r:embed="rId3">
            <a:duotone>
              <a:prstClr val="black"/>
              <a:schemeClr val="accent3">
                <a:tint val="45000"/>
                <a:satMod val="400000"/>
              </a:schemeClr>
            </a:duotone>
          </a:blip>
          <a:stretch>
            <a:fillRect/>
          </a:stretch>
        </p:blipFill>
        <p:spPr>
          <a:xfrm>
            <a:off x="7769354" y="3429000"/>
            <a:ext cx="3233926" cy="3233926"/>
          </a:xfrm>
          <a:prstGeom prst="rect">
            <a:avLst/>
          </a:prstGeom>
        </p:spPr>
      </p:pic>
      <p:sp>
        <p:nvSpPr>
          <p:cNvPr id="11" name="TextBox 10">
            <a:extLst>
              <a:ext uri="{FF2B5EF4-FFF2-40B4-BE49-F238E27FC236}">
                <a16:creationId xmlns:a16="http://schemas.microsoft.com/office/drawing/2014/main" id="{F86B9479-ECAC-DBFA-614D-E554D5FB5385}"/>
              </a:ext>
            </a:extLst>
          </p:cNvPr>
          <p:cNvSpPr txBox="1"/>
          <p:nvPr/>
        </p:nvSpPr>
        <p:spPr>
          <a:xfrm>
            <a:off x="1188720" y="5989320"/>
            <a:ext cx="621792" cy="707886"/>
          </a:xfrm>
          <a:prstGeom prst="rect">
            <a:avLst/>
          </a:prstGeom>
          <a:noFill/>
        </p:spPr>
        <p:txBody>
          <a:bodyPr wrap="square" rtlCol="0">
            <a:spAutoFit/>
          </a:bodyPr>
          <a:lstStyle/>
          <a:p>
            <a:r>
              <a:rPr lang="en-US" sz="4000" dirty="0">
                <a:solidFill>
                  <a:schemeClr val="bg2"/>
                </a:solidFill>
              </a:rPr>
              <a:t>A</a:t>
            </a:r>
          </a:p>
        </p:txBody>
      </p:sp>
      <p:sp>
        <p:nvSpPr>
          <p:cNvPr id="12" name="TextBox 11">
            <a:extLst>
              <a:ext uri="{FF2B5EF4-FFF2-40B4-BE49-F238E27FC236}">
                <a16:creationId xmlns:a16="http://schemas.microsoft.com/office/drawing/2014/main" id="{3329FA01-0873-0667-A491-54A5C3D728DA}"/>
              </a:ext>
            </a:extLst>
          </p:cNvPr>
          <p:cNvSpPr txBox="1"/>
          <p:nvPr/>
        </p:nvSpPr>
        <p:spPr>
          <a:xfrm>
            <a:off x="7769354" y="5989320"/>
            <a:ext cx="621792" cy="707886"/>
          </a:xfrm>
          <a:prstGeom prst="rect">
            <a:avLst/>
          </a:prstGeom>
          <a:noFill/>
        </p:spPr>
        <p:txBody>
          <a:bodyPr wrap="square" rtlCol="0">
            <a:spAutoFit/>
          </a:bodyPr>
          <a:lstStyle/>
          <a:p>
            <a:r>
              <a:rPr lang="en-US" sz="4000" dirty="0">
                <a:solidFill>
                  <a:schemeClr val="bg2"/>
                </a:solidFill>
              </a:rPr>
              <a:t>B</a:t>
            </a:r>
          </a:p>
        </p:txBody>
      </p:sp>
      <p:sp>
        <p:nvSpPr>
          <p:cNvPr id="6" name="TextBox 5">
            <a:extLst>
              <a:ext uri="{FF2B5EF4-FFF2-40B4-BE49-F238E27FC236}">
                <a16:creationId xmlns:a16="http://schemas.microsoft.com/office/drawing/2014/main" id="{A01BA40A-72E4-0B58-61ED-820EC86C3287}"/>
              </a:ext>
            </a:extLst>
          </p:cNvPr>
          <p:cNvSpPr txBox="1"/>
          <p:nvPr/>
        </p:nvSpPr>
        <p:spPr>
          <a:xfrm>
            <a:off x="5523529" y="3937968"/>
            <a:ext cx="1144942" cy="2215991"/>
          </a:xfrm>
          <a:prstGeom prst="rect">
            <a:avLst/>
          </a:prstGeom>
          <a:noFill/>
        </p:spPr>
        <p:txBody>
          <a:bodyPr wrap="square" rtlCol="0">
            <a:spAutoFit/>
          </a:bodyPr>
          <a:lstStyle/>
          <a:p>
            <a:pPr algn="ctr"/>
            <a:r>
              <a:rPr lang="en-US" sz="13800" dirty="0">
                <a:solidFill>
                  <a:schemeClr val="accent1"/>
                </a:solidFill>
              </a:rPr>
              <a:t>?</a:t>
            </a:r>
          </a:p>
        </p:txBody>
      </p:sp>
    </p:spTree>
    <p:extLst>
      <p:ext uri="{BB962C8B-B14F-4D97-AF65-F5344CB8AC3E}">
        <p14:creationId xmlns:p14="http://schemas.microsoft.com/office/powerpoint/2010/main" val="4178431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18D2B3-E27D-E60F-32BE-32B545654230}"/>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24</a:t>
            </a:fld>
            <a:endParaRPr lang="en-US" dirty="0"/>
          </a:p>
        </p:txBody>
      </p:sp>
      <p:sp>
        <p:nvSpPr>
          <p:cNvPr id="3" name="Title 2">
            <a:extLst>
              <a:ext uri="{FF2B5EF4-FFF2-40B4-BE49-F238E27FC236}">
                <a16:creationId xmlns:a16="http://schemas.microsoft.com/office/drawing/2014/main" id="{BA4BEBBE-D2C4-DD3B-39C3-66E1E4F28DCC}"/>
              </a:ext>
            </a:extLst>
          </p:cNvPr>
          <p:cNvSpPr>
            <a:spLocks noGrp="1"/>
          </p:cNvSpPr>
          <p:nvPr>
            <p:ph type="title"/>
          </p:nvPr>
        </p:nvSpPr>
        <p:spPr/>
        <p:txBody>
          <a:bodyPr>
            <a:normAutofit fontScale="90000"/>
          </a:bodyPr>
          <a:lstStyle/>
          <a:p>
            <a:r>
              <a:rPr lang="en-US" dirty="0"/>
              <a:t>Design</a:t>
            </a:r>
          </a:p>
        </p:txBody>
      </p:sp>
      <p:sp>
        <p:nvSpPr>
          <p:cNvPr id="4" name="Content Placeholder 3">
            <a:extLst>
              <a:ext uri="{FF2B5EF4-FFF2-40B4-BE49-F238E27FC236}">
                <a16:creationId xmlns:a16="http://schemas.microsoft.com/office/drawing/2014/main" id="{B84D5A86-E4B2-8693-D80C-42779AD8487C}"/>
              </a:ext>
            </a:extLst>
          </p:cNvPr>
          <p:cNvSpPr>
            <a:spLocks noGrp="1"/>
          </p:cNvSpPr>
          <p:nvPr>
            <p:ph idx="1"/>
          </p:nvPr>
        </p:nvSpPr>
        <p:spPr/>
        <p:txBody>
          <a:bodyPr/>
          <a:lstStyle/>
          <a:p>
            <a:r>
              <a:rPr lang="en-US" dirty="0"/>
              <a:t>Self-paced reading + Picture–sentence verification with </a:t>
            </a:r>
            <a:r>
              <a:rPr lang="en-US" dirty="0" err="1"/>
              <a:t>PCIbex</a:t>
            </a:r>
            <a:endParaRPr lang="en-US" dirty="0"/>
          </a:p>
          <a:p>
            <a:endParaRPr lang="en-US" dirty="0"/>
          </a:p>
          <a:p>
            <a:endParaRPr lang="en-US" dirty="0"/>
          </a:p>
          <a:p>
            <a:endParaRPr lang="en-US" dirty="0"/>
          </a:p>
          <a:p>
            <a:pPr marL="2880" indent="0">
              <a:buNone/>
            </a:pPr>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0926206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2F7B4-5BB2-FA77-E873-710BD326724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A968323-23A4-618A-F50C-1F87224AE2DE}"/>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25</a:t>
            </a:fld>
            <a:endParaRPr lang="en-US" dirty="0"/>
          </a:p>
        </p:txBody>
      </p:sp>
      <p:sp>
        <p:nvSpPr>
          <p:cNvPr id="3" name="Title 2">
            <a:extLst>
              <a:ext uri="{FF2B5EF4-FFF2-40B4-BE49-F238E27FC236}">
                <a16:creationId xmlns:a16="http://schemas.microsoft.com/office/drawing/2014/main" id="{182399A1-B25E-AB8C-0B89-9AA30F916313}"/>
              </a:ext>
            </a:extLst>
          </p:cNvPr>
          <p:cNvSpPr>
            <a:spLocks noGrp="1"/>
          </p:cNvSpPr>
          <p:nvPr>
            <p:ph type="title"/>
          </p:nvPr>
        </p:nvSpPr>
        <p:spPr/>
        <p:txBody>
          <a:bodyPr>
            <a:normAutofit fontScale="90000"/>
          </a:bodyPr>
          <a:lstStyle/>
          <a:p>
            <a:r>
              <a:rPr lang="en-US" dirty="0"/>
              <a:t>Design</a:t>
            </a:r>
          </a:p>
        </p:txBody>
      </p:sp>
      <p:sp>
        <p:nvSpPr>
          <p:cNvPr id="4" name="Content Placeholder 3">
            <a:extLst>
              <a:ext uri="{FF2B5EF4-FFF2-40B4-BE49-F238E27FC236}">
                <a16:creationId xmlns:a16="http://schemas.microsoft.com/office/drawing/2014/main" id="{CACCF0BA-50BA-56AF-5DAC-DC21C77A09D1}"/>
              </a:ext>
            </a:extLst>
          </p:cNvPr>
          <p:cNvSpPr>
            <a:spLocks noGrp="1"/>
          </p:cNvSpPr>
          <p:nvPr>
            <p:ph idx="1"/>
          </p:nvPr>
        </p:nvSpPr>
        <p:spPr>
          <a:xfrm>
            <a:off x="1261871" y="1473199"/>
            <a:ext cx="9692639" cy="5292725"/>
          </a:xfrm>
        </p:spPr>
        <p:txBody>
          <a:bodyPr/>
          <a:lstStyle/>
          <a:p>
            <a:r>
              <a:rPr lang="en-US" dirty="0"/>
              <a:t>Self-paced reading + Picture–sentence verification with </a:t>
            </a:r>
            <a:r>
              <a:rPr lang="en-US" dirty="0" err="1"/>
              <a:t>PCIbex</a:t>
            </a:r>
            <a:endParaRPr lang="en-US" dirty="0"/>
          </a:p>
          <a:p>
            <a:endParaRPr lang="en-US" dirty="0"/>
          </a:p>
          <a:p>
            <a:endParaRPr lang="en-US" dirty="0"/>
          </a:p>
          <a:p>
            <a:pPr marL="2880" indent="0">
              <a:spcBef>
                <a:spcPts val="0"/>
              </a:spcBef>
              <a:buNone/>
            </a:pPr>
            <a:endParaRPr lang="en-US" dirty="0"/>
          </a:p>
          <a:p>
            <a:pPr marL="2880" indent="0">
              <a:spcBef>
                <a:spcPts val="0"/>
              </a:spcBef>
              <a:buNone/>
            </a:pPr>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5" name="Rectangle: Rounded Corners 4">
            <a:extLst>
              <a:ext uri="{FF2B5EF4-FFF2-40B4-BE49-F238E27FC236}">
                <a16:creationId xmlns:a16="http://schemas.microsoft.com/office/drawing/2014/main" id="{63D8BE8D-E8F9-4DBE-1D56-68AE2CA94CC0}"/>
              </a:ext>
            </a:extLst>
          </p:cNvPr>
          <p:cNvSpPr/>
          <p:nvPr/>
        </p:nvSpPr>
        <p:spPr>
          <a:xfrm>
            <a:off x="658368" y="2322576"/>
            <a:ext cx="1938528" cy="1307592"/>
          </a:xfrm>
          <a:prstGeom prst="roundRect">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E9888243-A9D4-F6CF-4C76-F74CDCD5556F}"/>
              </a:ext>
            </a:extLst>
          </p:cNvPr>
          <p:cNvSpPr txBox="1"/>
          <p:nvPr/>
        </p:nvSpPr>
        <p:spPr>
          <a:xfrm>
            <a:off x="658368" y="2565666"/>
            <a:ext cx="969264" cy="707886"/>
          </a:xfrm>
          <a:prstGeom prst="rect">
            <a:avLst/>
          </a:prstGeom>
          <a:noFill/>
        </p:spPr>
        <p:txBody>
          <a:bodyPr wrap="square" rtlCol="0">
            <a:spAutoFit/>
          </a:bodyPr>
          <a:lstStyle/>
          <a:p>
            <a:pPr algn="ctr"/>
            <a:r>
              <a:rPr lang="en-US" sz="4000" dirty="0">
                <a:solidFill>
                  <a:schemeClr val="bg2"/>
                </a:solidFill>
              </a:rPr>
              <a:t>A</a:t>
            </a:r>
          </a:p>
        </p:txBody>
      </p:sp>
      <p:sp>
        <p:nvSpPr>
          <p:cNvPr id="8" name="TextBox 7">
            <a:extLst>
              <a:ext uri="{FF2B5EF4-FFF2-40B4-BE49-F238E27FC236}">
                <a16:creationId xmlns:a16="http://schemas.microsoft.com/office/drawing/2014/main" id="{85CF83EB-E375-D700-E269-DDBBFF6D5AAD}"/>
              </a:ext>
            </a:extLst>
          </p:cNvPr>
          <p:cNvSpPr txBox="1"/>
          <p:nvPr/>
        </p:nvSpPr>
        <p:spPr>
          <a:xfrm>
            <a:off x="1627632" y="2565666"/>
            <a:ext cx="969264" cy="707886"/>
          </a:xfrm>
          <a:prstGeom prst="rect">
            <a:avLst/>
          </a:prstGeom>
          <a:noFill/>
        </p:spPr>
        <p:txBody>
          <a:bodyPr wrap="square" rtlCol="0">
            <a:spAutoFit/>
          </a:bodyPr>
          <a:lstStyle/>
          <a:p>
            <a:pPr algn="ctr"/>
            <a:r>
              <a:rPr lang="en-US" sz="4000" dirty="0">
                <a:solidFill>
                  <a:schemeClr val="bg2"/>
                </a:solidFill>
              </a:rPr>
              <a:t>B</a:t>
            </a:r>
          </a:p>
        </p:txBody>
      </p:sp>
      <p:sp>
        <p:nvSpPr>
          <p:cNvPr id="10" name="Rectangle: Rounded Corners 9">
            <a:extLst>
              <a:ext uri="{FF2B5EF4-FFF2-40B4-BE49-F238E27FC236}">
                <a16:creationId xmlns:a16="http://schemas.microsoft.com/office/drawing/2014/main" id="{2C08FDA0-D759-A553-2F36-E500D34A5E91}"/>
              </a:ext>
            </a:extLst>
          </p:cNvPr>
          <p:cNvSpPr/>
          <p:nvPr/>
        </p:nvSpPr>
        <p:spPr>
          <a:xfrm>
            <a:off x="2906268" y="2322576"/>
            <a:ext cx="1938528" cy="1307592"/>
          </a:xfrm>
          <a:prstGeom prst="roundRect">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12" name="TextBox 11">
            <a:extLst>
              <a:ext uri="{FF2B5EF4-FFF2-40B4-BE49-F238E27FC236}">
                <a16:creationId xmlns:a16="http://schemas.microsoft.com/office/drawing/2014/main" id="{6F7B7ED9-E862-941E-CFDB-B16C09E78747}"/>
              </a:ext>
            </a:extLst>
          </p:cNvPr>
          <p:cNvSpPr txBox="1"/>
          <p:nvPr/>
        </p:nvSpPr>
        <p:spPr>
          <a:xfrm>
            <a:off x="1318260" y="3575304"/>
            <a:ext cx="618744" cy="461665"/>
          </a:xfrm>
          <a:prstGeom prst="rect">
            <a:avLst/>
          </a:prstGeom>
          <a:noFill/>
        </p:spPr>
        <p:txBody>
          <a:bodyPr wrap="square">
            <a:spAutoFit/>
          </a:bodyPr>
          <a:lstStyle/>
          <a:p>
            <a:pPr algn="ctr"/>
            <a:r>
              <a:rPr lang="hu-HU" sz="2400" dirty="0">
                <a:solidFill>
                  <a:schemeClr val="tx2"/>
                </a:solidFill>
              </a:rPr>
              <a:t>␣</a:t>
            </a:r>
            <a:endParaRPr lang="en-US" sz="2400" dirty="0">
              <a:solidFill>
                <a:schemeClr val="tx2"/>
              </a:solidFill>
            </a:endParaRPr>
          </a:p>
        </p:txBody>
      </p:sp>
      <p:sp>
        <p:nvSpPr>
          <p:cNvPr id="13" name="TextBox 12">
            <a:extLst>
              <a:ext uri="{FF2B5EF4-FFF2-40B4-BE49-F238E27FC236}">
                <a16:creationId xmlns:a16="http://schemas.microsoft.com/office/drawing/2014/main" id="{B1011689-ADD7-B8AB-23DF-AE13D4CDDFDE}"/>
              </a:ext>
            </a:extLst>
          </p:cNvPr>
          <p:cNvSpPr txBox="1"/>
          <p:nvPr/>
        </p:nvSpPr>
        <p:spPr>
          <a:xfrm>
            <a:off x="3566160" y="2745539"/>
            <a:ext cx="618744" cy="523220"/>
          </a:xfrm>
          <a:prstGeom prst="rect">
            <a:avLst/>
          </a:prstGeom>
          <a:noFill/>
        </p:spPr>
        <p:txBody>
          <a:bodyPr wrap="square">
            <a:spAutoFit/>
          </a:bodyPr>
          <a:lstStyle/>
          <a:p>
            <a:pPr algn="ctr"/>
            <a:r>
              <a:rPr lang="en-US" sz="2800" b="1" dirty="0">
                <a:solidFill>
                  <a:schemeClr val="bg2"/>
                </a:solidFill>
              </a:rPr>
              <a:t>+</a:t>
            </a:r>
          </a:p>
        </p:txBody>
      </p:sp>
      <p:sp>
        <p:nvSpPr>
          <p:cNvPr id="15" name="TextBox 14">
            <a:extLst>
              <a:ext uri="{FF2B5EF4-FFF2-40B4-BE49-F238E27FC236}">
                <a16:creationId xmlns:a16="http://schemas.microsoft.com/office/drawing/2014/main" id="{66D46791-BC71-29B6-2871-ADA3BABE27A5}"/>
              </a:ext>
            </a:extLst>
          </p:cNvPr>
          <p:cNvSpPr txBox="1"/>
          <p:nvPr/>
        </p:nvSpPr>
        <p:spPr>
          <a:xfrm>
            <a:off x="2906268" y="3630167"/>
            <a:ext cx="1938528" cy="461665"/>
          </a:xfrm>
          <a:prstGeom prst="rect">
            <a:avLst/>
          </a:prstGeom>
          <a:noFill/>
        </p:spPr>
        <p:txBody>
          <a:bodyPr wrap="square">
            <a:spAutoFit/>
          </a:bodyPr>
          <a:lstStyle/>
          <a:p>
            <a:pPr algn="ctr"/>
            <a:r>
              <a:rPr lang="en-US" sz="2400" dirty="0">
                <a:solidFill>
                  <a:schemeClr val="tx2"/>
                </a:solidFill>
              </a:rPr>
              <a:t>1000ms</a:t>
            </a:r>
          </a:p>
        </p:txBody>
      </p:sp>
      <p:sp>
        <p:nvSpPr>
          <p:cNvPr id="16" name="TextBox 15">
            <a:extLst>
              <a:ext uri="{FF2B5EF4-FFF2-40B4-BE49-F238E27FC236}">
                <a16:creationId xmlns:a16="http://schemas.microsoft.com/office/drawing/2014/main" id="{EA50E93B-2C5C-4B8B-98E6-E58DE281338F}"/>
              </a:ext>
            </a:extLst>
          </p:cNvPr>
          <p:cNvSpPr txBox="1"/>
          <p:nvPr/>
        </p:nvSpPr>
        <p:spPr>
          <a:xfrm>
            <a:off x="1782318" y="3630166"/>
            <a:ext cx="1938528" cy="369332"/>
          </a:xfrm>
          <a:prstGeom prst="rect">
            <a:avLst/>
          </a:prstGeom>
          <a:noFill/>
        </p:spPr>
        <p:txBody>
          <a:bodyPr wrap="square">
            <a:spAutoFit/>
          </a:bodyPr>
          <a:lstStyle/>
          <a:p>
            <a:pPr algn="ctr"/>
            <a:r>
              <a:rPr lang="en-US" dirty="0">
                <a:solidFill>
                  <a:schemeClr val="tx2"/>
                </a:solidFill>
              </a:rPr>
              <a:t>1000ms</a:t>
            </a:r>
          </a:p>
        </p:txBody>
      </p:sp>
      <p:sp>
        <p:nvSpPr>
          <p:cNvPr id="17" name="TextBox 16">
            <a:extLst>
              <a:ext uri="{FF2B5EF4-FFF2-40B4-BE49-F238E27FC236}">
                <a16:creationId xmlns:a16="http://schemas.microsoft.com/office/drawing/2014/main" id="{DD757BAE-CED7-E920-FE87-C89253316B18}"/>
              </a:ext>
            </a:extLst>
          </p:cNvPr>
          <p:cNvSpPr txBox="1"/>
          <p:nvPr/>
        </p:nvSpPr>
        <p:spPr>
          <a:xfrm>
            <a:off x="4159757" y="3630165"/>
            <a:ext cx="1938528" cy="369332"/>
          </a:xfrm>
          <a:prstGeom prst="rect">
            <a:avLst/>
          </a:prstGeom>
          <a:noFill/>
        </p:spPr>
        <p:txBody>
          <a:bodyPr wrap="square">
            <a:spAutoFit/>
          </a:bodyPr>
          <a:lstStyle/>
          <a:p>
            <a:pPr algn="ctr"/>
            <a:r>
              <a:rPr lang="en-US" dirty="0">
                <a:solidFill>
                  <a:schemeClr val="tx2"/>
                </a:solidFill>
              </a:rPr>
              <a:t>1000ms</a:t>
            </a:r>
          </a:p>
        </p:txBody>
      </p:sp>
      <p:sp>
        <p:nvSpPr>
          <p:cNvPr id="18" name="Rectangle: Rounded Corners 17">
            <a:extLst>
              <a:ext uri="{FF2B5EF4-FFF2-40B4-BE49-F238E27FC236}">
                <a16:creationId xmlns:a16="http://schemas.microsoft.com/office/drawing/2014/main" id="{0D6CB87F-D190-0ACF-50BF-AE4AB18C8E36}"/>
              </a:ext>
            </a:extLst>
          </p:cNvPr>
          <p:cNvSpPr/>
          <p:nvPr/>
        </p:nvSpPr>
        <p:spPr>
          <a:xfrm>
            <a:off x="5154168" y="2322571"/>
            <a:ext cx="1938528" cy="1307592"/>
          </a:xfrm>
          <a:prstGeom prst="roundRect">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000" dirty="0"/>
          </a:p>
          <a:p>
            <a:pPr algn="ctr"/>
            <a:r>
              <a:rPr lang="en-US" sz="2000" dirty="0"/>
              <a:t>Sentence</a:t>
            </a:r>
            <a:br>
              <a:rPr lang="en-US" sz="2000" dirty="0"/>
            </a:br>
            <a:r>
              <a:rPr lang="en-US" sz="2000" dirty="0"/>
              <a:t>(SPR)</a:t>
            </a:r>
          </a:p>
        </p:txBody>
      </p:sp>
      <p:sp>
        <p:nvSpPr>
          <p:cNvPr id="19" name="TextBox 18">
            <a:extLst>
              <a:ext uri="{FF2B5EF4-FFF2-40B4-BE49-F238E27FC236}">
                <a16:creationId xmlns:a16="http://schemas.microsoft.com/office/drawing/2014/main" id="{9A219209-F223-277D-1A60-33800CDCD15F}"/>
              </a:ext>
            </a:extLst>
          </p:cNvPr>
          <p:cNvSpPr txBox="1"/>
          <p:nvPr/>
        </p:nvSpPr>
        <p:spPr>
          <a:xfrm>
            <a:off x="5785104" y="3536595"/>
            <a:ext cx="618744" cy="461665"/>
          </a:xfrm>
          <a:prstGeom prst="rect">
            <a:avLst/>
          </a:prstGeom>
          <a:noFill/>
        </p:spPr>
        <p:txBody>
          <a:bodyPr wrap="square">
            <a:spAutoFit/>
          </a:bodyPr>
          <a:lstStyle/>
          <a:p>
            <a:pPr algn="ctr"/>
            <a:r>
              <a:rPr lang="hu-HU" sz="2400" dirty="0">
                <a:solidFill>
                  <a:schemeClr val="tx2"/>
                </a:solidFill>
              </a:rPr>
              <a:t>␣</a:t>
            </a:r>
            <a:endParaRPr lang="en-US" sz="2400" dirty="0">
              <a:solidFill>
                <a:schemeClr val="tx2"/>
              </a:solidFill>
            </a:endParaRPr>
          </a:p>
        </p:txBody>
      </p:sp>
      <p:sp>
        <p:nvSpPr>
          <p:cNvPr id="21" name="Rectangle: Rounded Corners 20">
            <a:extLst>
              <a:ext uri="{FF2B5EF4-FFF2-40B4-BE49-F238E27FC236}">
                <a16:creationId xmlns:a16="http://schemas.microsoft.com/office/drawing/2014/main" id="{685077D5-D8AC-F778-E40C-E10554D3319E}"/>
              </a:ext>
            </a:extLst>
          </p:cNvPr>
          <p:cNvSpPr/>
          <p:nvPr/>
        </p:nvSpPr>
        <p:spPr>
          <a:xfrm>
            <a:off x="7405879" y="2322571"/>
            <a:ext cx="1938528" cy="1307592"/>
          </a:xfrm>
          <a:prstGeom prst="roundRect">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2" name="TextBox 21">
            <a:extLst>
              <a:ext uri="{FF2B5EF4-FFF2-40B4-BE49-F238E27FC236}">
                <a16:creationId xmlns:a16="http://schemas.microsoft.com/office/drawing/2014/main" id="{84D34D00-EB73-F757-AC5A-5BA97229D023}"/>
              </a:ext>
            </a:extLst>
          </p:cNvPr>
          <p:cNvSpPr txBox="1"/>
          <p:nvPr/>
        </p:nvSpPr>
        <p:spPr>
          <a:xfrm>
            <a:off x="7405879" y="3630162"/>
            <a:ext cx="1938528" cy="461665"/>
          </a:xfrm>
          <a:prstGeom prst="rect">
            <a:avLst/>
          </a:prstGeom>
          <a:noFill/>
        </p:spPr>
        <p:txBody>
          <a:bodyPr wrap="square">
            <a:spAutoFit/>
          </a:bodyPr>
          <a:lstStyle/>
          <a:p>
            <a:pPr algn="ctr"/>
            <a:r>
              <a:rPr lang="en-US" sz="2400" dirty="0">
                <a:solidFill>
                  <a:schemeClr val="tx2"/>
                </a:solidFill>
              </a:rPr>
              <a:t>1000ms</a:t>
            </a:r>
          </a:p>
        </p:txBody>
      </p:sp>
      <p:sp>
        <p:nvSpPr>
          <p:cNvPr id="23" name="TextBox 22">
            <a:extLst>
              <a:ext uri="{FF2B5EF4-FFF2-40B4-BE49-F238E27FC236}">
                <a16:creationId xmlns:a16="http://schemas.microsoft.com/office/drawing/2014/main" id="{6F0FD440-8720-3845-E63B-876BC49FA0B3}"/>
              </a:ext>
            </a:extLst>
          </p:cNvPr>
          <p:cNvSpPr txBox="1"/>
          <p:nvPr/>
        </p:nvSpPr>
        <p:spPr>
          <a:xfrm>
            <a:off x="6281929" y="3630161"/>
            <a:ext cx="1938528" cy="369332"/>
          </a:xfrm>
          <a:prstGeom prst="rect">
            <a:avLst/>
          </a:prstGeom>
          <a:noFill/>
        </p:spPr>
        <p:txBody>
          <a:bodyPr wrap="square">
            <a:spAutoFit/>
          </a:bodyPr>
          <a:lstStyle/>
          <a:p>
            <a:pPr algn="ctr"/>
            <a:r>
              <a:rPr lang="en-US" dirty="0">
                <a:solidFill>
                  <a:schemeClr val="tx2"/>
                </a:solidFill>
              </a:rPr>
              <a:t>1000ms</a:t>
            </a:r>
          </a:p>
        </p:txBody>
      </p:sp>
      <p:sp>
        <p:nvSpPr>
          <p:cNvPr id="24" name="TextBox 23">
            <a:extLst>
              <a:ext uri="{FF2B5EF4-FFF2-40B4-BE49-F238E27FC236}">
                <a16:creationId xmlns:a16="http://schemas.microsoft.com/office/drawing/2014/main" id="{A783B6A1-9265-7A45-9A8E-3686EDB4A225}"/>
              </a:ext>
            </a:extLst>
          </p:cNvPr>
          <p:cNvSpPr txBox="1"/>
          <p:nvPr/>
        </p:nvSpPr>
        <p:spPr>
          <a:xfrm>
            <a:off x="8659368" y="3630160"/>
            <a:ext cx="1938528" cy="369332"/>
          </a:xfrm>
          <a:prstGeom prst="rect">
            <a:avLst/>
          </a:prstGeom>
          <a:noFill/>
        </p:spPr>
        <p:txBody>
          <a:bodyPr wrap="square">
            <a:spAutoFit/>
          </a:bodyPr>
          <a:lstStyle/>
          <a:p>
            <a:pPr algn="ctr"/>
            <a:r>
              <a:rPr lang="en-US" dirty="0">
                <a:solidFill>
                  <a:schemeClr val="tx2"/>
                </a:solidFill>
              </a:rPr>
              <a:t>1000ms</a:t>
            </a:r>
          </a:p>
        </p:txBody>
      </p:sp>
      <p:sp>
        <p:nvSpPr>
          <p:cNvPr id="25" name="TextBox 24">
            <a:extLst>
              <a:ext uri="{FF2B5EF4-FFF2-40B4-BE49-F238E27FC236}">
                <a16:creationId xmlns:a16="http://schemas.microsoft.com/office/drawing/2014/main" id="{A64F32F7-AC8D-4F4D-A1FB-0952ABAF3087}"/>
              </a:ext>
            </a:extLst>
          </p:cNvPr>
          <p:cNvSpPr txBox="1"/>
          <p:nvPr/>
        </p:nvSpPr>
        <p:spPr>
          <a:xfrm>
            <a:off x="8037576" y="2750332"/>
            <a:ext cx="618744" cy="523220"/>
          </a:xfrm>
          <a:prstGeom prst="rect">
            <a:avLst/>
          </a:prstGeom>
          <a:noFill/>
        </p:spPr>
        <p:txBody>
          <a:bodyPr wrap="square">
            <a:spAutoFit/>
          </a:bodyPr>
          <a:lstStyle/>
          <a:p>
            <a:pPr algn="ctr"/>
            <a:r>
              <a:rPr lang="en-US" sz="2800" b="1" dirty="0">
                <a:solidFill>
                  <a:schemeClr val="bg2"/>
                </a:solidFill>
              </a:rPr>
              <a:t>+</a:t>
            </a:r>
          </a:p>
        </p:txBody>
      </p:sp>
      <p:sp>
        <p:nvSpPr>
          <p:cNvPr id="27" name="Rectangle: Rounded Corners 26">
            <a:extLst>
              <a:ext uri="{FF2B5EF4-FFF2-40B4-BE49-F238E27FC236}">
                <a16:creationId xmlns:a16="http://schemas.microsoft.com/office/drawing/2014/main" id="{A09E029A-0907-FF4E-0511-0DD57C2BA81D}"/>
              </a:ext>
            </a:extLst>
          </p:cNvPr>
          <p:cNvSpPr/>
          <p:nvPr/>
        </p:nvSpPr>
        <p:spPr>
          <a:xfrm>
            <a:off x="9657590" y="2322570"/>
            <a:ext cx="1938528" cy="1307592"/>
          </a:xfrm>
          <a:prstGeom prst="roundRect">
            <a:avLst/>
          </a:prstGeom>
          <a:ln w="57150">
            <a:solidFill>
              <a:schemeClr val="accent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8" name="TextBox 27">
            <a:extLst>
              <a:ext uri="{FF2B5EF4-FFF2-40B4-BE49-F238E27FC236}">
                <a16:creationId xmlns:a16="http://schemas.microsoft.com/office/drawing/2014/main" id="{73622FAB-E689-2D86-3484-6BB4C561F2A9}"/>
              </a:ext>
            </a:extLst>
          </p:cNvPr>
          <p:cNvSpPr txBox="1"/>
          <p:nvPr/>
        </p:nvSpPr>
        <p:spPr>
          <a:xfrm>
            <a:off x="9657590" y="2565660"/>
            <a:ext cx="969264" cy="707886"/>
          </a:xfrm>
          <a:prstGeom prst="rect">
            <a:avLst/>
          </a:prstGeom>
          <a:noFill/>
        </p:spPr>
        <p:txBody>
          <a:bodyPr wrap="square" rtlCol="0">
            <a:spAutoFit/>
          </a:bodyPr>
          <a:lstStyle/>
          <a:p>
            <a:pPr algn="ctr"/>
            <a:r>
              <a:rPr lang="en-US" sz="4000" dirty="0">
                <a:solidFill>
                  <a:schemeClr val="bg2"/>
                </a:solidFill>
              </a:rPr>
              <a:t>A</a:t>
            </a:r>
          </a:p>
        </p:txBody>
      </p:sp>
      <p:sp>
        <p:nvSpPr>
          <p:cNvPr id="29" name="TextBox 28">
            <a:extLst>
              <a:ext uri="{FF2B5EF4-FFF2-40B4-BE49-F238E27FC236}">
                <a16:creationId xmlns:a16="http://schemas.microsoft.com/office/drawing/2014/main" id="{6056DCCE-B2CE-73F5-A6A5-8D6A5CF3928D}"/>
              </a:ext>
            </a:extLst>
          </p:cNvPr>
          <p:cNvSpPr txBox="1"/>
          <p:nvPr/>
        </p:nvSpPr>
        <p:spPr>
          <a:xfrm>
            <a:off x="10626854" y="2565660"/>
            <a:ext cx="969264" cy="707886"/>
          </a:xfrm>
          <a:prstGeom prst="rect">
            <a:avLst/>
          </a:prstGeom>
          <a:noFill/>
        </p:spPr>
        <p:txBody>
          <a:bodyPr wrap="square" rtlCol="0">
            <a:spAutoFit/>
          </a:bodyPr>
          <a:lstStyle/>
          <a:p>
            <a:pPr algn="ctr"/>
            <a:r>
              <a:rPr lang="en-US" sz="4000" dirty="0">
                <a:solidFill>
                  <a:schemeClr val="bg2"/>
                </a:solidFill>
              </a:rPr>
              <a:t>B</a:t>
            </a:r>
          </a:p>
        </p:txBody>
      </p:sp>
      <p:sp>
        <p:nvSpPr>
          <p:cNvPr id="30" name="TextBox 29">
            <a:extLst>
              <a:ext uri="{FF2B5EF4-FFF2-40B4-BE49-F238E27FC236}">
                <a16:creationId xmlns:a16="http://schemas.microsoft.com/office/drawing/2014/main" id="{795FFF2C-667B-01CC-759E-94F5D968171B}"/>
              </a:ext>
            </a:extLst>
          </p:cNvPr>
          <p:cNvSpPr txBox="1"/>
          <p:nvPr/>
        </p:nvSpPr>
        <p:spPr>
          <a:xfrm>
            <a:off x="1098804" y="2315923"/>
            <a:ext cx="1050034" cy="400110"/>
          </a:xfrm>
          <a:prstGeom prst="rect">
            <a:avLst/>
          </a:prstGeom>
          <a:noFill/>
        </p:spPr>
        <p:txBody>
          <a:bodyPr wrap="square">
            <a:spAutoFit/>
          </a:bodyPr>
          <a:lstStyle/>
          <a:p>
            <a:pPr algn="ctr"/>
            <a:r>
              <a:rPr lang="en-US" sz="2000" dirty="0">
                <a:solidFill>
                  <a:schemeClr val="bg2"/>
                </a:solidFill>
              </a:rPr>
              <a:t>Preview</a:t>
            </a:r>
          </a:p>
        </p:txBody>
      </p:sp>
      <p:sp>
        <p:nvSpPr>
          <p:cNvPr id="31" name="TextBox 30">
            <a:extLst>
              <a:ext uri="{FF2B5EF4-FFF2-40B4-BE49-F238E27FC236}">
                <a16:creationId xmlns:a16="http://schemas.microsoft.com/office/drawing/2014/main" id="{EE20BB34-470C-697B-1C14-05DED133D8AE}"/>
              </a:ext>
            </a:extLst>
          </p:cNvPr>
          <p:cNvSpPr txBox="1"/>
          <p:nvPr/>
        </p:nvSpPr>
        <p:spPr>
          <a:xfrm>
            <a:off x="10101837" y="2345429"/>
            <a:ext cx="1050034" cy="400110"/>
          </a:xfrm>
          <a:prstGeom prst="rect">
            <a:avLst/>
          </a:prstGeom>
          <a:noFill/>
        </p:spPr>
        <p:txBody>
          <a:bodyPr wrap="square">
            <a:spAutoFit/>
          </a:bodyPr>
          <a:lstStyle/>
          <a:p>
            <a:pPr algn="ctr"/>
            <a:r>
              <a:rPr lang="en-US" sz="2000" dirty="0">
                <a:solidFill>
                  <a:schemeClr val="bg2"/>
                </a:solidFill>
              </a:rPr>
              <a:t>Choice</a:t>
            </a:r>
          </a:p>
        </p:txBody>
      </p:sp>
      <p:sp>
        <p:nvSpPr>
          <p:cNvPr id="34" name="TextBox 33">
            <a:extLst>
              <a:ext uri="{FF2B5EF4-FFF2-40B4-BE49-F238E27FC236}">
                <a16:creationId xmlns:a16="http://schemas.microsoft.com/office/drawing/2014/main" id="{6407F428-985D-F3A1-FFB8-EDC9B38DC0B2}"/>
              </a:ext>
            </a:extLst>
          </p:cNvPr>
          <p:cNvSpPr txBox="1"/>
          <p:nvPr/>
        </p:nvSpPr>
        <p:spPr>
          <a:xfrm>
            <a:off x="10317482" y="3619560"/>
            <a:ext cx="618744" cy="461665"/>
          </a:xfrm>
          <a:prstGeom prst="rect">
            <a:avLst/>
          </a:prstGeom>
          <a:noFill/>
        </p:spPr>
        <p:txBody>
          <a:bodyPr wrap="square">
            <a:spAutoFit/>
          </a:bodyPr>
          <a:lstStyle/>
          <a:p>
            <a:pPr algn="ctr"/>
            <a:r>
              <a:rPr lang="hu-HU" sz="2400" dirty="0">
                <a:solidFill>
                  <a:srgbClr val="EEF0FF"/>
                </a:solidFill>
                <a:latin typeface="Google Sans"/>
              </a:rPr>
              <a:t>🖰</a:t>
            </a:r>
            <a:endParaRPr lang="en-US" sz="2400" dirty="0"/>
          </a:p>
        </p:txBody>
      </p:sp>
      <p:sp>
        <p:nvSpPr>
          <p:cNvPr id="35" name="TextBox 34">
            <a:extLst>
              <a:ext uri="{FF2B5EF4-FFF2-40B4-BE49-F238E27FC236}">
                <a16:creationId xmlns:a16="http://schemas.microsoft.com/office/drawing/2014/main" id="{AA605F5D-B680-78B4-E615-1F2417C0CA0E}"/>
              </a:ext>
            </a:extLst>
          </p:cNvPr>
          <p:cNvSpPr txBox="1"/>
          <p:nvPr/>
        </p:nvSpPr>
        <p:spPr>
          <a:xfrm>
            <a:off x="10142220" y="3191349"/>
            <a:ext cx="1050034" cy="400110"/>
          </a:xfrm>
          <a:prstGeom prst="rect">
            <a:avLst/>
          </a:prstGeom>
          <a:noFill/>
        </p:spPr>
        <p:txBody>
          <a:bodyPr wrap="square">
            <a:spAutoFit/>
          </a:bodyPr>
          <a:lstStyle/>
          <a:p>
            <a:pPr algn="ctr"/>
            <a:r>
              <a:rPr lang="en-US" sz="2000" dirty="0">
                <a:solidFill>
                  <a:schemeClr val="bg2"/>
                </a:solidFill>
              </a:rPr>
              <a:t>(ET)</a:t>
            </a:r>
          </a:p>
        </p:txBody>
      </p:sp>
      <p:sp>
        <p:nvSpPr>
          <p:cNvPr id="7" name="TextBox 6">
            <a:extLst>
              <a:ext uri="{FF2B5EF4-FFF2-40B4-BE49-F238E27FC236}">
                <a16:creationId xmlns:a16="http://schemas.microsoft.com/office/drawing/2014/main" id="{C4206DB0-F74B-30E5-9DD5-FD9A696DE63D}"/>
              </a:ext>
            </a:extLst>
          </p:cNvPr>
          <p:cNvSpPr txBox="1"/>
          <p:nvPr/>
        </p:nvSpPr>
        <p:spPr>
          <a:xfrm>
            <a:off x="11192254" y="3630160"/>
            <a:ext cx="1251204" cy="369332"/>
          </a:xfrm>
          <a:prstGeom prst="rect">
            <a:avLst/>
          </a:prstGeom>
          <a:noFill/>
        </p:spPr>
        <p:txBody>
          <a:bodyPr wrap="square">
            <a:spAutoFit/>
          </a:bodyPr>
          <a:lstStyle/>
          <a:p>
            <a:pPr algn="ctr"/>
            <a:r>
              <a:rPr lang="en-US" dirty="0">
                <a:solidFill>
                  <a:schemeClr val="tx2"/>
                </a:solidFill>
              </a:rPr>
              <a:t>1000ms</a:t>
            </a:r>
          </a:p>
        </p:txBody>
      </p:sp>
      <p:sp>
        <p:nvSpPr>
          <p:cNvPr id="14" name="TextBox 13">
            <a:extLst>
              <a:ext uri="{FF2B5EF4-FFF2-40B4-BE49-F238E27FC236}">
                <a16:creationId xmlns:a16="http://schemas.microsoft.com/office/drawing/2014/main" id="{D5CA9705-CA97-55F9-F355-07B6AB287F5A}"/>
              </a:ext>
            </a:extLst>
          </p:cNvPr>
          <p:cNvSpPr txBox="1"/>
          <p:nvPr/>
        </p:nvSpPr>
        <p:spPr>
          <a:xfrm>
            <a:off x="6098" y="2627215"/>
            <a:ext cx="652270" cy="584775"/>
          </a:xfrm>
          <a:prstGeom prst="rect">
            <a:avLst/>
          </a:prstGeom>
          <a:noFill/>
        </p:spPr>
        <p:txBody>
          <a:bodyPr wrap="square">
            <a:spAutoFit/>
          </a:bodyPr>
          <a:lstStyle/>
          <a:p>
            <a:pPr algn="ctr"/>
            <a:r>
              <a:rPr lang="en-US" sz="3200" dirty="0">
                <a:latin typeface="Brill" panose="020F0602050406030203" pitchFamily="34" charset="0"/>
              </a:rPr>
              <a:t>→</a:t>
            </a:r>
            <a:endParaRPr lang="en-US" sz="3200" dirty="0"/>
          </a:p>
        </p:txBody>
      </p:sp>
      <p:sp>
        <p:nvSpPr>
          <p:cNvPr id="20" name="TextBox 19">
            <a:extLst>
              <a:ext uri="{FF2B5EF4-FFF2-40B4-BE49-F238E27FC236}">
                <a16:creationId xmlns:a16="http://schemas.microsoft.com/office/drawing/2014/main" id="{923DA457-3BC5-92B4-1AD3-6012DE4E5FF4}"/>
              </a:ext>
            </a:extLst>
          </p:cNvPr>
          <p:cNvSpPr txBox="1"/>
          <p:nvPr/>
        </p:nvSpPr>
        <p:spPr>
          <a:xfrm>
            <a:off x="11554970" y="2632986"/>
            <a:ext cx="652270" cy="584775"/>
          </a:xfrm>
          <a:prstGeom prst="rect">
            <a:avLst/>
          </a:prstGeom>
          <a:noFill/>
        </p:spPr>
        <p:txBody>
          <a:bodyPr wrap="square">
            <a:spAutoFit/>
          </a:bodyPr>
          <a:lstStyle/>
          <a:p>
            <a:pPr algn="ctr"/>
            <a:r>
              <a:rPr lang="en-US" sz="3200" dirty="0">
                <a:latin typeface="Brill" panose="020F0602050406030203" pitchFamily="34" charset="0"/>
              </a:rPr>
              <a:t>→</a:t>
            </a:r>
            <a:endParaRPr lang="en-US" sz="3200" dirty="0"/>
          </a:p>
        </p:txBody>
      </p:sp>
    </p:spTree>
    <p:extLst>
      <p:ext uri="{BB962C8B-B14F-4D97-AF65-F5344CB8AC3E}">
        <p14:creationId xmlns:p14="http://schemas.microsoft.com/office/powerpoint/2010/main" val="30538876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CA10F-8197-06DD-8AD7-62C27FE8757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59AFEF8-84C4-4358-A070-1D854CE9AA1E}"/>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26</a:t>
            </a:fld>
            <a:endParaRPr lang="en-US" dirty="0"/>
          </a:p>
        </p:txBody>
      </p:sp>
      <p:sp>
        <p:nvSpPr>
          <p:cNvPr id="3" name="Title 2">
            <a:extLst>
              <a:ext uri="{FF2B5EF4-FFF2-40B4-BE49-F238E27FC236}">
                <a16:creationId xmlns:a16="http://schemas.microsoft.com/office/drawing/2014/main" id="{A5102446-D789-6DEB-3794-1491F14544AA}"/>
              </a:ext>
            </a:extLst>
          </p:cNvPr>
          <p:cNvSpPr>
            <a:spLocks noGrp="1"/>
          </p:cNvSpPr>
          <p:nvPr>
            <p:ph type="title"/>
          </p:nvPr>
        </p:nvSpPr>
        <p:spPr/>
        <p:txBody>
          <a:bodyPr>
            <a:normAutofit fontScale="90000"/>
          </a:bodyPr>
          <a:lstStyle/>
          <a:p>
            <a:r>
              <a:rPr lang="en-US" dirty="0"/>
              <a:t>Design</a:t>
            </a:r>
          </a:p>
        </p:txBody>
      </p:sp>
      <p:sp>
        <p:nvSpPr>
          <p:cNvPr id="4" name="Content Placeholder 3">
            <a:extLst>
              <a:ext uri="{FF2B5EF4-FFF2-40B4-BE49-F238E27FC236}">
                <a16:creationId xmlns:a16="http://schemas.microsoft.com/office/drawing/2014/main" id="{AF2D8ACD-8532-482A-82AA-0D3A1F2E3BF2}"/>
              </a:ext>
            </a:extLst>
          </p:cNvPr>
          <p:cNvSpPr>
            <a:spLocks noGrp="1"/>
          </p:cNvSpPr>
          <p:nvPr>
            <p:ph idx="1"/>
          </p:nvPr>
        </p:nvSpPr>
        <p:spPr>
          <a:xfrm>
            <a:off x="1261871" y="1473199"/>
            <a:ext cx="9692639" cy="5292725"/>
          </a:xfrm>
        </p:spPr>
        <p:txBody>
          <a:bodyPr/>
          <a:lstStyle/>
          <a:p>
            <a:r>
              <a:rPr lang="en-US" dirty="0"/>
              <a:t>Self-paced reading + Picture–sentence verification with </a:t>
            </a:r>
            <a:r>
              <a:rPr lang="en-US" dirty="0" err="1"/>
              <a:t>PCIbex</a:t>
            </a:r>
            <a:endParaRPr lang="en-US" dirty="0"/>
          </a:p>
          <a:p>
            <a:endParaRPr lang="en-US" dirty="0"/>
          </a:p>
          <a:p>
            <a:endParaRPr lang="en-US" dirty="0"/>
          </a:p>
          <a:p>
            <a:pPr marL="2880" indent="0">
              <a:spcBef>
                <a:spcPts val="0"/>
              </a:spcBef>
              <a:buNone/>
            </a:pPr>
            <a:endParaRPr lang="en-US" dirty="0"/>
          </a:p>
          <a:p>
            <a:pPr marL="2880" indent="0">
              <a:spcBef>
                <a:spcPts val="0"/>
              </a:spcBef>
              <a:buNone/>
            </a:pPr>
            <a:endParaRPr lang="en-US" dirty="0"/>
          </a:p>
          <a:p>
            <a:pPr>
              <a:spcBef>
                <a:spcPts val="0"/>
              </a:spcBef>
            </a:pPr>
            <a:r>
              <a:rPr lang="en-US" dirty="0"/>
              <a:t>Randomized trials (controlled)</a:t>
            </a:r>
          </a:p>
          <a:p>
            <a:pPr>
              <a:spcBef>
                <a:spcPts val="0"/>
              </a:spcBef>
            </a:pPr>
            <a:r>
              <a:rPr lang="en-US" dirty="0"/>
              <a:t>Counterbalanced</a:t>
            </a:r>
          </a:p>
          <a:p>
            <a:pPr>
              <a:spcBef>
                <a:spcPts val="0"/>
              </a:spcBef>
            </a:pPr>
            <a:r>
              <a:rPr lang="en-US" dirty="0"/>
              <a:t>50% are fillers, + 4 attention checks</a:t>
            </a:r>
          </a:p>
          <a:p>
            <a:pPr>
              <a:spcBef>
                <a:spcPts val="0"/>
              </a:spcBef>
            </a:pPr>
            <a:r>
              <a:rPr lang="en-US" dirty="0"/>
              <a:t>18 items </a:t>
            </a:r>
            <a:r>
              <a:rPr lang="hu-HU" dirty="0"/>
              <a:t>×</a:t>
            </a:r>
            <a:r>
              <a:rPr lang="en-US" dirty="0"/>
              <a:t> 3 conditions = 54 sentence stimuli</a:t>
            </a:r>
          </a:p>
          <a:p>
            <a:endParaRPr lang="en-US" dirty="0"/>
          </a:p>
          <a:p>
            <a:endParaRPr lang="en-US" dirty="0"/>
          </a:p>
          <a:p>
            <a:endParaRPr lang="en-US" dirty="0"/>
          </a:p>
          <a:p>
            <a:endParaRPr lang="en-US" dirty="0"/>
          </a:p>
          <a:p>
            <a:endParaRPr lang="en-US" dirty="0"/>
          </a:p>
          <a:p>
            <a:endParaRPr lang="en-US" dirty="0"/>
          </a:p>
          <a:p>
            <a:endParaRPr lang="en-US" dirty="0"/>
          </a:p>
        </p:txBody>
      </p:sp>
      <p:sp>
        <p:nvSpPr>
          <p:cNvPr id="5" name="Rectangle: Rounded Corners 4">
            <a:extLst>
              <a:ext uri="{FF2B5EF4-FFF2-40B4-BE49-F238E27FC236}">
                <a16:creationId xmlns:a16="http://schemas.microsoft.com/office/drawing/2014/main" id="{C214A97A-5AA2-D1B6-EEB6-2B5416BA9D57}"/>
              </a:ext>
            </a:extLst>
          </p:cNvPr>
          <p:cNvSpPr/>
          <p:nvPr/>
        </p:nvSpPr>
        <p:spPr>
          <a:xfrm>
            <a:off x="658368" y="2322576"/>
            <a:ext cx="1938528" cy="1307592"/>
          </a:xfrm>
          <a:prstGeom prst="roundRect">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TextBox 5">
            <a:extLst>
              <a:ext uri="{FF2B5EF4-FFF2-40B4-BE49-F238E27FC236}">
                <a16:creationId xmlns:a16="http://schemas.microsoft.com/office/drawing/2014/main" id="{6286BA96-025E-8A3F-8DDC-2945EF01A88E}"/>
              </a:ext>
            </a:extLst>
          </p:cNvPr>
          <p:cNvSpPr txBox="1"/>
          <p:nvPr/>
        </p:nvSpPr>
        <p:spPr>
          <a:xfrm>
            <a:off x="658368" y="2565666"/>
            <a:ext cx="969264" cy="707886"/>
          </a:xfrm>
          <a:prstGeom prst="rect">
            <a:avLst/>
          </a:prstGeom>
          <a:noFill/>
        </p:spPr>
        <p:txBody>
          <a:bodyPr wrap="square" rtlCol="0">
            <a:spAutoFit/>
          </a:bodyPr>
          <a:lstStyle/>
          <a:p>
            <a:pPr algn="ctr"/>
            <a:r>
              <a:rPr lang="en-US" sz="4000" dirty="0">
                <a:solidFill>
                  <a:schemeClr val="bg2"/>
                </a:solidFill>
              </a:rPr>
              <a:t>A</a:t>
            </a:r>
          </a:p>
        </p:txBody>
      </p:sp>
      <p:sp>
        <p:nvSpPr>
          <p:cNvPr id="8" name="TextBox 7">
            <a:extLst>
              <a:ext uri="{FF2B5EF4-FFF2-40B4-BE49-F238E27FC236}">
                <a16:creationId xmlns:a16="http://schemas.microsoft.com/office/drawing/2014/main" id="{2E6122A0-B542-4C46-BDFC-AC1F42396249}"/>
              </a:ext>
            </a:extLst>
          </p:cNvPr>
          <p:cNvSpPr txBox="1"/>
          <p:nvPr/>
        </p:nvSpPr>
        <p:spPr>
          <a:xfrm>
            <a:off x="1627632" y="2565666"/>
            <a:ext cx="969264" cy="707886"/>
          </a:xfrm>
          <a:prstGeom prst="rect">
            <a:avLst/>
          </a:prstGeom>
          <a:noFill/>
        </p:spPr>
        <p:txBody>
          <a:bodyPr wrap="square" rtlCol="0">
            <a:spAutoFit/>
          </a:bodyPr>
          <a:lstStyle/>
          <a:p>
            <a:pPr algn="ctr"/>
            <a:r>
              <a:rPr lang="en-US" sz="4000" dirty="0">
                <a:solidFill>
                  <a:schemeClr val="bg2"/>
                </a:solidFill>
              </a:rPr>
              <a:t>B</a:t>
            </a:r>
          </a:p>
        </p:txBody>
      </p:sp>
      <p:sp>
        <p:nvSpPr>
          <p:cNvPr id="10" name="Rectangle: Rounded Corners 9">
            <a:extLst>
              <a:ext uri="{FF2B5EF4-FFF2-40B4-BE49-F238E27FC236}">
                <a16:creationId xmlns:a16="http://schemas.microsoft.com/office/drawing/2014/main" id="{BFD13555-2907-CA89-EF7F-8C23C8539279}"/>
              </a:ext>
            </a:extLst>
          </p:cNvPr>
          <p:cNvSpPr/>
          <p:nvPr/>
        </p:nvSpPr>
        <p:spPr>
          <a:xfrm>
            <a:off x="2906268" y="2322576"/>
            <a:ext cx="1938528" cy="1307592"/>
          </a:xfrm>
          <a:prstGeom prst="roundRect">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12" name="TextBox 11">
            <a:extLst>
              <a:ext uri="{FF2B5EF4-FFF2-40B4-BE49-F238E27FC236}">
                <a16:creationId xmlns:a16="http://schemas.microsoft.com/office/drawing/2014/main" id="{C6B1901F-D1B0-8AA3-09CF-2825B75FF3F2}"/>
              </a:ext>
            </a:extLst>
          </p:cNvPr>
          <p:cNvSpPr txBox="1"/>
          <p:nvPr/>
        </p:nvSpPr>
        <p:spPr>
          <a:xfrm>
            <a:off x="1318260" y="3575304"/>
            <a:ext cx="618744" cy="461665"/>
          </a:xfrm>
          <a:prstGeom prst="rect">
            <a:avLst/>
          </a:prstGeom>
          <a:noFill/>
        </p:spPr>
        <p:txBody>
          <a:bodyPr wrap="square">
            <a:spAutoFit/>
          </a:bodyPr>
          <a:lstStyle/>
          <a:p>
            <a:pPr algn="ctr"/>
            <a:r>
              <a:rPr lang="hu-HU" sz="2400" dirty="0">
                <a:solidFill>
                  <a:schemeClr val="tx2"/>
                </a:solidFill>
              </a:rPr>
              <a:t>␣</a:t>
            </a:r>
            <a:endParaRPr lang="en-US" sz="2400" dirty="0">
              <a:solidFill>
                <a:schemeClr val="tx2"/>
              </a:solidFill>
            </a:endParaRPr>
          </a:p>
        </p:txBody>
      </p:sp>
      <p:sp>
        <p:nvSpPr>
          <p:cNvPr id="13" name="TextBox 12">
            <a:extLst>
              <a:ext uri="{FF2B5EF4-FFF2-40B4-BE49-F238E27FC236}">
                <a16:creationId xmlns:a16="http://schemas.microsoft.com/office/drawing/2014/main" id="{D52AB526-CDE2-A814-99BC-CDDC7DB161DE}"/>
              </a:ext>
            </a:extLst>
          </p:cNvPr>
          <p:cNvSpPr txBox="1"/>
          <p:nvPr/>
        </p:nvSpPr>
        <p:spPr>
          <a:xfrm>
            <a:off x="3566160" y="2745539"/>
            <a:ext cx="618744" cy="523220"/>
          </a:xfrm>
          <a:prstGeom prst="rect">
            <a:avLst/>
          </a:prstGeom>
          <a:noFill/>
        </p:spPr>
        <p:txBody>
          <a:bodyPr wrap="square">
            <a:spAutoFit/>
          </a:bodyPr>
          <a:lstStyle/>
          <a:p>
            <a:pPr algn="ctr"/>
            <a:r>
              <a:rPr lang="en-US" sz="2800" b="1" dirty="0">
                <a:solidFill>
                  <a:schemeClr val="bg2"/>
                </a:solidFill>
              </a:rPr>
              <a:t>+</a:t>
            </a:r>
          </a:p>
        </p:txBody>
      </p:sp>
      <p:sp>
        <p:nvSpPr>
          <p:cNvPr id="15" name="TextBox 14">
            <a:extLst>
              <a:ext uri="{FF2B5EF4-FFF2-40B4-BE49-F238E27FC236}">
                <a16:creationId xmlns:a16="http://schemas.microsoft.com/office/drawing/2014/main" id="{08D23B25-624C-6FFD-CA22-8B72B6BB1716}"/>
              </a:ext>
            </a:extLst>
          </p:cNvPr>
          <p:cNvSpPr txBox="1"/>
          <p:nvPr/>
        </p:nvSpPr>
        <p:spPr>
          <a:xfrm>
            <a:off x="2906268" y="3630167"/>
            <a:ext cx="1938528" cy="461665"/>
          </a:xfrm>
          <a:prstGeom prst="rect">
            <a:avLst/>
          </a:prstGeom>
          <a:noFill/>
        </p:spPr>
        <p:txBody>
          <a:bodyPr wrap="square">
            <a:spAutoFit/>
          </a:bodyPr>
          <a:lstStyle/>
          <a:p>
            <a:pPr algn="ctr"/>
            <a:r>
              <a:rPr lang="en-US" sz="2400" dirty="0">
                <a:solidFill>
                  <a:schemeClr val="tx2"/>
                </a:solidFill>
              </a:rPr>
              <a:t>1000ms</a:t>
            </a:r>
          </a:p>
        </p:txBody>
      </p:sp>
      <p:sp>
        <p:nvSpPr>
          <p:cNvPr id="16" name="TextBox 15">
            <a:extLst>
              <a:ext uri="{FF2B5EF4-FFF2-40B4-BE49-F238E27FC236}">
                <a16:creationId xmlns:a16="http://schemas.microsoft.com/office/drawing/2014/main" id="{A58D8708-9A57-04FF-BEEB-64BF91BD7E3E}"/>
              </a:ext>
            </a:extLst>
          </p:cNvPr>
          <p:cNvSpPr txBox="1"/>
          <p:nvPr/>
        </p:nvSpPr>
        <p:spPr>
          <a:xfrm>
            <a:off x="1782318" y="3630166"/>
            <a:ext cx="1938528" cy="369332"/>
          </a:xfrm>
          <a:prstGeom prst="rect">
            <a:avLst/>
          </a:prstGeom>
          <a:noFill/>
        </p:spPr>
        <p:txBody>
          <a:bodyPr wrap="square">
            <a:spAutoFit/>
          </a:bodyPr>
          <a:lstStyle/>
          <a:p>
            <a:pPr algn="ctr"/>
            <a:r>
              <a:rPr lang="en-US" dirty="0">
                <a:solidFill>
                  <a:schemeClr val="tx2"/>
                </a:solidFill>
              </a:rPr>
              <a:t>1000ms</a:t>
            </a:r>
          </a:p>
        </p:txBody>
      </p:sp>
      <p:sp>
        <p:nvSpPr>
          <p:cNvPr id="17" name="TextBox 16">
            <a:extLst>
              <a:ext uri="{FF2B5EF4-FFF2-40B4-BE49-F238E27FC236}">
                <a16:creationId xmlns:a16="http://schemas.microsoft.com/office/drawing/2014/main" id="{79A2D2B8-06F2-3143-53EC-CED0E8D2F14C}"/>
              </a:ext>
            </a:extLst>
          </p:cNvPr>
          <p:cNvSpPr txBox="1"/>
          <p:nvPr/>
        </p:nvSpPr>
        <p:spPr>
          <a:xfrm>
            <a:off x="4159757" y="3630165"/>
            <a:ext cx="1938528" cy="369332"/>
          </a:xfrm>
          <a:prstGeom prst="rect">
            <a:avLst/>
          </a:prstGeom>
          <a:noFill/>
        </p:spPr>
        <p:txBody>
          <a:bodyPr wrap="square">
            <a:spAutoFit/>
          </a:bodyPr>
          <a:lstStyle/>
          <a:p>
            <a:pPr algn="ctr"/>
            <a:r>
              <a:rPr lang="en-US" dirty="0">
                <a:solidFill>
                  <a:schemeClr val="tx2"/>
                </a:solidFill>
              </a:rPr>
              <a:t>1000ms</a:t>
            </a:r>
          </a:p>
        </p:txBody>
      </p:sp>
      <p:sp>
        <p:nvSpPr>
          <p:cNvPr id="18" name="Rectangle: Rounded Corners 17">
            <a:extLst>
              <a:ext uri="{FF2B5EF4-FFF2-40B4-BE49-F238E27FC236}">
                <a16:creationId xmlns:a16="http://schemas.microsoft.com/office/drawing/2014/main" id="{56ABCC37-26D3-972A-EE0F-A5D0707B91F0}"/>
              </a:ext>
            </a:extLst>
          </p:cNvPr>
          <p:cNvSpPr/>
          <p:nvPr/>
        </p:nvSpPr>
        <p:spPr>
          <a:xfrm>
            <a:off x="5154168" y="2322571"/>
            <a:ext cx="1938528" cy="1307592"/>
          </a:xfrm>
          <a:prstGeom prst="roundRect">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000" dirty="0"/>
          </a:p>
          <a:p>
            <a:pPr algn="ctr"/>
            <a:r>
              <a:rPr lang="en-US" sz="2000" dirty="0"/>
              <a:t>Sentence</a:t>
            </a:r>
            <a:br>
              <a:rPr lang="en-US" sz="2000" dirty="0"/>
            </a:br>
            <a:r>
              <a:rPr lang="en-US" sz="2000" dirty="0"/>
              <a:t>(SPR)</a:t>
            </a:r>
          </a:p>
        </p:txBody>
      </p:sp>
      <p:sp>
        <p:nvSpPr>
          <p:cNvPr id="19" name="TextBox 18">
            <a:extLst>
              <a:ext uri="{FF2B5EF4-FFF2-40B4-BE49-F238E27FC236}">
                <a16:creationId xmlns:a16="http://schemas.microsoft.com/office/drawing/2014/main" id="{71A51F1F-CD26-A1A6-D3A5-178DEB0F0B2E}"/>
              </a:ext>
            </a:extLst>
          </p:cNvPr>
          <p:cNvSpPr txBox="1"/>
          <p:nvPr/>
        </p:nvSpPr>
        <p:spPr>
          <a:xfrm>
            <a:off x="5785104" y="3536595"/>
            <a:ext cx="618744" cy="461665"/>
          </a:xfrm>
          <a:prstGeom prst="rect">
            <a:avLst/>
          </a:prstGeom>
          <a:noFill/>
        </p:spPr>
        <p:txBody>
          <a:bodyPr wrap="square">
            <a:spAutoFit/>
          </a:bodyPr>
          <a:lstStyle/>
          <a:p>
            <a:pPr algn="ctr"/>
            <a:r>
              <a:rPr lang="hu-HU" sz="2400" dirty="0">
                <a:solidFill>
                  <a:schemeClr val="tx2"/>
                </a:solidFill>
              </a:rPr>
              <a:t>␣</a:t>
            </a:r>
            <a:endParaRPr lang="en-US" sz="2400" dirty="0">
              <a:solidFill>
                <a:schemeClr val="tx2"/>
              </a:solidFill>
            </a:endParaRPr>
          </a:p>
        </p:txBody>
      </p:sp>
      <p:sp>
        <p:nvSpPr>
          <p:cNvPr id="21" name="Rectangle: Rounded Corners 20">
            <a:extLst>
              <a:ext uri="{FF2B5EF4-FFF2-40B4-BE49-F238E27FC236}">
                <a16:creationId xmlns:a16="http://schemas.microsoft.com/office/drawing/2014/main" id="{2A880758-5638-326B-2F43-CA3EE5CD4B5B}"/>
              </a:ext>
            </a:extLst>
          </p:cNvPr>
          <p:cNvSpPr/>
          <p:nvPr/>
        </p:nvSpPr>
        <p:spPr>
          <a:xfrm>
            <a:off x="7405879" y="2322571"/>
            <a:ext cx="1938528" cy="1307592"/>
          </a:xfrm>
          <a:prstGeom prst="roundRect">
            <a:avLst/>
          </a:prstGeom>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sp>
        <p:nvSpPr>
          <p:cNvPr id="22" name="TextBox 21">
            <a:extLst>
              <a:ext uri="{FF2B5EF4-FFF2-40B4-BE49-F238E27FC236}">
                <a16:creationId xmlns:a16="http://schemas.microsoft.com/office/drawing/2014/main" id="{83069AD0-89DF-312E-A779-2B9929D1F6B3}"/>
              </a:ext>
            </a:extLst>
          </p:cNvPr>
          <p:cNvSpPr txBox="1"/>
          <p:nvPr/>
        </p:nvSpPr>
        <p:spPr>
          <a:xfrm>
            <a:off x="7405879" y="3630162"/>
            <a:ext cx="1938528" cy="461665"/>
          </a:xfrm>
          <a:prstGeom prst="rect">
            <a:avLst/>
          </a:prstGeom>
          <a:noFill/>
        </p:spPr>
        <p:txBody>
          <a:bodyPr wrap="square">
            <a:spAutoFit/>
          </a:bodyPr>
          <a:lstStyle/>
          <a:p>
            <a:pPr algn="ctr"/>
            <a:r>
              <a:rPr lang="en-US" sz="2400" dirty="0">
                <a:solidFill>
                  <a:schemeClr val="tx2"/>
                </a:solidFill>
              </a:rPr>
              <a:t>1000ms</a:t>
            </a:r>
          </a:p>
        </p:txBody>
      </p:sp>
      <p:sp>
        <p:nvSpPr>
          <p:cNvPr id="23" name="TextBox 22">
            <a:extLst>
              <a:ext uri="{FF2B5EF4-FFF2-40B4-BE49-F238E27FC236}">
                <a16:creationId xmlns:a16="http://schemas.microsoft.com/office/drawing/2014/main" id="{E0DB3F25-69F7-3942-0718-229603EAACD9}"/>
              </a:ext>
            </a:extLst>
          </p:cNvPr>
          <p:cNvSpPr txBox="1"/>
          <p:nvPr/>
        </p:nvSpPr>
        <p:spPr>
          <a:xfrm>
            <a:off x="6281929" y="3630161"/>
            <a:ext cx="1938528" cy="369332"/>
          </a:xfrm>
          <a:prstGeom prst="rect">
            <a:avLst/>
          </a:prstGeom>
          <a:noFill/>
        </p:spPr>
        <p:txBody>
          <a:bodyPr wrap="square">
            <a:spAutoFit/>
          </a:bodyPr>
          <a:lstStyle/>
          <a:p>
            <a:pPr algn="ctr"/>
            <a:r>
              <a:rPr lang="en-US" dirty="0">
                <a:solidFill>
                  <a:schemeClr val="tx2"/>
                </a:solidFill>
              </a:rPr>
              <a:t>1000ms</a:t>
            </a:r>
          </a:p>
        </p:txBody>
      </p:sp>
      <p:sp>
        <p:nvSpPr>
          <p:cNvPr id="24" name="TextBox 23">
            <a:extLst>
              <a:ext uri="{FF2B5EF4-FFF2-40B4-BE49-F238E27FC236}">
                <a16:creationId xmlns:a16="http://schemas.microsoft.com/office/drawing/2014/main" id="{AFE0B6E9-B5BA-5D1A-7782-50A3BFB5B27C}"/>
              </a:ext>
            </a:extLst>
          </p:cNvPr>
          <p:cNvSpPr txBox="1"/>
          <p:nvPr/>
        </p:nvSpPr>
        <p:spPr>
          <a:xfrm>
            <a:off x="8659368" y="3630160"/>
            <a:ext cx="1938528" cy="369332"/>
          </a:xfrm>
          <a:prstGeom prst="rect">
            <a:avLst/>
          </a:prstGeom>
          <a:noFill/>
        </p:spPr>
        <p:txBody>
          <a:bodyPr wrap="square">
            <a:spAutoFit/>
          </a:bodyPr>
          <a:lstStyle/>
          <a:p>
            <a:pPr algn="ctr"/>
            <a:r>
              <a:rPr lang="en-US" dirty="0">
                <a:solidFill>
                  <a:schemeClr val="tx2"/>
                </a:solidFill>
              </a:rPr>
              <a:t>1000ms</a:t>
            </a:r>
          </a:p>
        </p:txBody>
      </p:sp>
      <p:sp>
        <p:nvSpPr>
          <p:cNvPr id="25" name="TextBox 24">
            <a:extLst>
              <a:ext uri="{FF2B5EF4-FFF2-40B4-BE49-F238E27FC236}">
                <a16:creationId xmlns:a16="http://schemas.microsoft.com/office/drawing/2014/main" id="{8CDAF7B7-18A8-92AA-4E92-8E5751ABF8C1}"/>
              </a:ext>
            </a:extLst>
          </p:cNvPr>
          <p:cNvSpPr txBox="1"/>
          <p:nvPr/>
        </p:nvSpPr>
        <p:spPr>
          <a:xfrm>
            <a:off x="8037576" y="2750332"/>
            <a:ext cx="618744" cy="523220"/>
          </a:xfrm>
          <a:prstGeom prst="rect">
            <a:avLst/>
          </a:prstGeom>
          <a:noFill/>
        </p:spPr>
        <p:txBody>
          <a:bodyPr wrap="square">
            <a:spAutoFit/>
          </a:bodyPr>
          <a:lstStyle/>
          <a:p>
            <a:pPr algn="ctr"/>
            <a:r>
              <a:rPr lang="en-US" sz="2800" b="1" dirty="0">
                <a:solidFill>
                  <a:schemeClr val="bg2"/>
                </a:solidFill>
              </a:rPr>
              <a:t>+</a:t>
            </a:r>
          </a:p>
        </p:txBody>
      </p:sp>
      <p:sp>
        <p:nvSpPr>
          <p:cNvPr id="27" name="Rectangle: Rounded Corners 26">
            <a:extLst>
              <a:ext uri="{FF2B5EF4-FFF2-40B4-BE49-F238E27FC236}">
                <a16:creationId xmlns:a16="http://schemas.microsoft.com/office/drawing/2014/main" id="{D9ACE5EA-894D-18BD-A74C-E17D29AC8270}"/>
              </a:ext>
            </a:extLst>
          </p:cNvPr>
          <p:cNvSpPr/>
          <p:nvPr/>
        </p:nvSpPr>
        <p:spPr>
          <a:xfrm>
            <a:off x="9657590" y="2322570"/>
            <a:ext cx="1938528" cy="1307592"/>
          </a:xfrm>
          <a:prstGeom prst="roundRect">
            <a:avLst/>
          </a:prstGeom>
          <a:ln w="57150">
            <a:solidFill>
              <a:schemeClr val="accent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8" name="TextBox 27">
            <a:extLst>
              <a:ext uri="{FF2B5EF4-FFF2-40B4-BE49-F238E27FC236}">
                <a16:creationId xmlns:a16="http://schemas.microsoft.com/office/drawing/2014/main" id="{45CABE31-EC41-AFC6-61B2-4339D4D879D0}"/>
              </a:ext>
            </a:extLst>
          </p:cNvPr>
          <p:cNvSpPr txBox="1"/>
          <p:nvPr/>
        </p:nvSpPr>
        <p:spPr>
          <a:xfrm>
            <a:off x="9657590" y="2565660"/>
            <a:ext cx="969264" cy="707886"/>
          </a:xfrm>
          <a:prstGeom prst="rect">
            <a:avLst/>
          </a:prstGeom>
          <a:noFill/>
        </p:spPr>
        <p:txBody>
          <a:bodyPr wrap="square" rtlCol="0">
            <a:spAutoFit/>
          </a:bodyPr>
          <a:lstStyle/>
          <a:p>
            <a:pPr algn="ctr"/>
            <a:r>
              <a:rPr lang="en-US" sz="4000" dirty="0">
                <a:solidFill>
                  <a:schemeClr val="bg2"/>
                </a:solidFill>
              </a:rPr>
              <a:t>A</a:t>
            </a:r>
          </a:p>
        </p:txBody>
      </p:sp>
      <p:sp>
        <p:nvSpPr>
          <p:cNvPr id="29" name="TextBox 28">
            <a:extLst>
              <a:ext uri="{FF2B5EF4-FFF2-40B4-BE49-F238E27FC236}">
                <a16:creationId xmlns:a16="http://schemas.microsoft.com/office/drawing/2014/main" id="{DFC527EF-EC4C-8825-052B-AEB416E98A4A}"/>
              </a:ext>
            </a:extLst>
          </p:cNvPr>
          <p:cNvSpPr txBox="1"/>
          <p:nvPr/>
        </p:nvSpPr>
        <p:spPr>
          <a:xfrm>
            <a:off x="10626854" y="2565660"/>
            <a:ext cx="969264" cy="707886"/>
          </a:xfrm>
          <a:prstGeom prst="rect">
            <a:avLst/>
          </a:prstGeom>
          <a:noFill/>
        </p:spPr>
        <p:txBody>
          <a:bodyPr wrap="square" rtlCol="0">
            <a:spAutoFit/>
          </a:bodyPr>
          <a:lstStyle/>
          <a:p>
            <a:pPr algn="ctr"/>
            <a:r>
              <a:rPr lang="en-US" sz="4000" dirty="0">
                <a:solidFill>
                  <a:schemeClr val="bg2"/>
                </a:solidFill>
              </a:rPr>
              <a:t>B</a:t>
            </a:r>
          </a:p>
        </p:txBody>
      </p:sp>
      <p:sp>
        <p:nvSpPr>
          <p:cNvPr id="30" name="TextBox 29">
            <a:extLst>
              <a:ext uri="{FF2B5EF4-FFF2-40B4-BE49-F238E27FC236}">
                <a16:creationId xmlns:a16="http://schemas.microsoft.com/office/drawing/2014/main" id="{5EB2A575-A053-52D0-D30A-E7A4D1C6B93D}"/>
              </a:ext>
            </a:extLst>
          </p:cNvPr>
          <p:cNvSpPr txBox="1"/>
          <p:nvPr/>
        </p:nvSpPr>
        <p:spPr>
          <a:xfrm>
            <a:off x="1098804" y="2315923"/>
            <a:ext cx="1050034" cy="400110"/>
          </a:xfrm>
          <a:prstGeom prst="rect">
            <a:avLst/>
          </a:prstGeom>
          <a:noFill/>
        </p:spPr>
        <p:txBody>
          <a:bodyPr wrap="square">
            <a:spAutoFit/>
          </a:bodyPr>
          <a:lstStyle/>
          <a:p>
            <a:pPr algn="ctr"/>
            <a:r>
              <a:rPr lang="en-US" sz="2000" dirty="0">
                <a:solidFill>
                  <a:schemeClr val="bg2"/>
                </a:solidFill>
              </a:rPr>
              <a:t>Preview</a:t>
            </a:r>
          </a:p>
        </p:txBody>
      </p:sp>
      <p:sp>
        <p:nvSpPr>
          <p:cNvPr id="31" name="TextBox 30">
            <a:extLst>
              <a:ext uri="{FF2B5EF4-FFF2-40B4-BE49-F238E27FC236}">
                <a16:creationId xmlns:a16="http://schemas.microsoft.com/office/drawing/2014/main" id="{33742E97-8398-052A-9919-7620795A4045}"/>
              </a:ext>
            </a:extLst>
          </p:cNvPr>
          <p:cNvSpPr txBox="1"/>
          <p:nvPr/>
        </p:nvSpPr>
        <p:spPr>
          <a:xfrm>
            <a:off x="10101837" y="2345429"/>
            <a:ext cx="1050034" cy="400110"/>
          </a:xfrm>
          <a:prstGeom prst="rect">
            <a:avLst/>
          </a:prstGeom>
          <a:noFill/>
        </p:spPr>
        <p:txBody>
          <a:bodyPr wrap="square">
            <a:spAutoFit/>
          </a:bodyPr>
          <a:lstStyle/>
          <a:p>
            <a:pPr algn="ctr"/>
            <a:r>
              <a:rPr lang="en-US" sz="2000" dirty="0">
                <a:solidFill>
                  <a:schemeClr val="bg2"/>
                </a:solidFill>
              </a:rPr>
              <a:t>Choice</a:t>
            </a:r>
          </a:p>
        </p:txBody>
      </p:sp>
      <p:sp>
        <p:nvSpPr>
          <p:cNvPr id="34" name="TextBox 33">
            <a:extLst>
              <a:ext uri="{FF2B5EF4-FFF2-40B4-BE49-F238E27FC236}">
                <a16:creationId xmlns:a16="http://schemas.microsoft.com/office/drawing/2014/main" id="{EC108E34-16A9-E599-EAFE-E280229C1709}"/>
              </a:ext>
            </a:extLst>
          </p:cNvPr>
          <p:cNvSpPr txBox="1"/>
          <p:nvPr/>
        </p:nvSpPr>
        <p:spPr>
          <a:xfrm>
            <a:off x="10317482" y="3619560"/>
            <a:ext cx="618744" cy="461665"/>
          </a:xfrm>
          <a:prstGeom prst="rect">
            <a:avLst/>
          </a:prstGeom>
          <a:noFill/>
        </p:spPr>
        <p:txBody>
          <a:bodyPr wrap="square">
            <a:spAutoFit/>
          </a:bodyPr>
          <a:lstStyle/>
          <a:p>
            <a:pPr algn="ctr"/>
            <a:r>
              <a:rPr lang="hu-HU" sz="2400" dirty="0">
                <a:solidFill>
                  <a:srgbClr val="EEF0FF"/>
                </a:solidFill>
                <a:latin typeface="Google Sans"/>
              </a:rPr>
              <a:t>🖰</a:t>
            </a:r>
            <a:endParaRPr lang="en-US" sz="2400" dirty="0"/>
          </a:p>
        </p:txBody>
      </p:sp>
      <p:sp>
        <p:nvSpPr>
          <p:cNvPr id="35" name="TextBox 34">
            <a:extLst>
              <a:ext uri="{FF2B5EF4-FFF2-40B4-BE49-F238E27FC236}">
                <a16:creationId xmlns:a16="http://schemas.microsoft.com/office/drawing/2014/main" id="{341F848B-54B9-B6C2-82EC-0569EE281969}"/>
              </a:ext>
            </a:extLst>
          </p:cNvPr>
          <p:cNvSpPr txBox="1"/>
          <p:nvPr/>
        </p:nvSpPr>
        <p:spPr>
          <a:xfrm>
            <a:off x="10142220" y="3191349"/>
            <a:ext cx="1050034" cy="400110"/>
          </a:xfrm>
          <a:prstGeom prst="rect">
            <a:avLst/>
          </a:prstGeom>
          <a:noFill/>
        </p:spPr>
        <p:txBody>
          <a:bodyPr wrap="square">
            <a:spAutoFit/>
          </a:bodyPr>
          <a:lstStyle/>
          <a:p>
            <a:pPr algn="ctr"/>
            <a:r>
              <a:rPr lang="en-US" sz="2000" dirty="0">
                <a:solidFill>
                  <a:schemeClr val="bg2"/>
                </a:solidFill>
              </a:rPr>
              <a:t>(ET)</a:t>
            </a:r>
          </a:p>
        </p:txBody>
      </p:sp>
      <p:sp>
        <p:nvSpPr>
          <p:cNvPr id="7" name="TextBox 6">
            <a:extLst>
              <a:ext uri="{FF2B5EF4-FFF2-40B4-BE49-F238E27FC236}">
                <a16:creationId xmlns:a16="http://schemas.microsoft.com/office/drawing/2014/main" id="{A534885D-D1D5-FEAF-05F3-7DF0E5C0D29A}"/>
              </a:ext>
            </a:extLst>
          </p:cNvPr>
          <p:cNvSpPr txBox="1"/>
          <p:nvPr/>
        </p:nvSpPr>
        <p:spPr>
          <a:xfrm>
            <a:off x="11192254" y="3630160"/>
            <a:ext cx="1251204" cy="369332"/>
          </a:xfrm>
          <a:prstGeom prst="rect">
            <a:avLst/>
          </a:prstGeom>
          <a:noFill/>
        </p:spPr>
        <p:txBody>
          <a:bodyPr wrap="square">
            <a:spAutoFit/>
          </a:bodyPr>
          <a:lstStyle/>
          <a:p>
            <a:pPr algn="ctr"/>
            <a:r>
              <a:rPr lang="en-US" dirty="0">
                <a:solidFill>
                  <a:schemeClr val="tx2"/>
                </a:solidFill>
              </a:rPr>
              <a:t>1000ms</a:t>
            </a:r>
          </a:p>
        </p:txBody>
      </p:sp>
      <p:sp>
        <p:nvSpPr>
          <p:cNvPr id="11" name="TextBox 10">
            <a:extLst>
              <a:ext uri="{FF2B5EF4-FFF2-40B4-BE49-F238E27FC236}">
                <a16:creationId xmlns:a16="http://schemas.microsoft.com/office/drawing/2014/main" id="{86F32AB1-A7C1-1AA5-E46F-A02A3BD52139}"/>
              </a:ext>
            </a:extLst>
          </p:cNvPr>
          <p:cNvSpPr txBox="1"/>
          <p:nvPr/>
        </p:nvSpPr>
        <p:spPr>
          <a:xfrm>
            <a:off x="6098" y="2627215"/>
            <a:ext cx="652270" cy="584775"/>
          </a:xfrm>
          <a:prstGeom prst="rect">
            <a:avLst/>
          </a:prstGeom>
          <a:noFill/>
        </p:spPr>
        <p:txBody>
          <a:bodyPr wrap="square">
            <a:spAutoFit/>
          </a:bodyPr>
          <a:lstStyle/>
          <a:p>
            <a:pPr algn="ctr"/>
            <a:r>
              <a:rPr lang="en-US" sz="3200" dirty="0">
                <a:latin typeface="Brill" panose="020F0602050406030203" pitchFamily="34" charset="0"/>
              </a:rPr>
              <a:t>→</a:t>
            </a:r>
            <a:endParaRPr lang="en-US" sz="3200" dirty="0"/>
          </a:p>
        </p:txBody>
      </p:sp>
      <p:sp>
        <p:nvSpPr>
          <p:cNvPr id="14" name="TextBox 13">
            <a:extLst>
              <a:ext uri="{FF2B5EF4-FFF2-40B4-BE49-F238E27FC236}">
                <a16:creationId xmlns:a16="http://schemas.microsoft.com/office/drawing/2014/main" id="{F4A2BB51-F7EC-DE4C-36B2-99A0BE3B5DB6}"/>
              </a:ext>
            </a:extLst>
          </p:cNvPr>
          <p:cNvSpPr txBox="1"/>
          <p:nvPr/>
        </p:nvSpPr>
        <p:spPr>
          <a:xfrm>
            <a:off x="11554970" y="2632986"/>
            <a:ext cx="652270" cy="584775"/>
          </a:xfrm>
          <a:prstGeom prst="rect">
            <a:avLst/>
          </a:prstGeom>
          <a:noFill/>
        </p:spPr>
        <p:txBody>
          <a:bodyPr wrap="square">
            <a:spAutoFit/>
          </a:bodyPr>
          <a:lstStyle/>
          <a:p>
            <a:pPr algn="ctr"/>
            <a:r>
              <a:rPr lang="en-US" sz="3200" dirty="0">
                <a:latin typeface="Brill" panose="020F0602050406030203" pitchFamily="34" charset="0"/>
              </a:rPr>
              <a:t>→</a:t>
            </a:r>
            <a:endParaRPr lang="en-US" sz="3200" dirty="0"/>
          </a:p>
        </p:txBody>
      </p:sp>
    </p:spTree>
    <p:extLst>
      <p:ext uri="{BB962C8B-B14F-4D97-AF65-F5344CB8AC3E}">
        <p14:creationId xmlns:p14="http://schemas.microsoft.com/office/powerpoint/2010/main" val="40074530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C719388-2495-0BE3-409B-1E8DF718B627}"/>
            </a:ext>
          </a:extLst>
        </p:cNvPr>
        <p:cNvGrpSpPr/>
        <p:nvPr/>
      </p:nvGrpSpPr>
      <p:grpSpPr>
        <a:xfrm>
          <a:off x="0" y="0"/>
          <a:ext cx="0" cy="0"/>
          <a:chOff x="0" y="0"/>
          <a:chExt cx="0" cy="0"/>
        </a:xfrm>
      </p:grpSpPr>
      <p:cxnSp>
        <p:nvCxnSpPr>
          <p:cNvPr id="6" name="Connector: Elbow 5">
            <a:extLst>
              <a:ext uri="{FF2B5EF4-FFF2-40B4-BE49-F238E27FC236}">
                <a16:creationId xmlns:a16="http://schemas.microsoft.com/office/drawing/2014/main" id="{9B55CB97-9A5B-46D1-B38F-1917B7051DA8}"/>
              </a:ext>
            </a:extLst>
          </p:cNvPr>
          <p:cNvCxnSpPr>
            <a:cxnSpLocks/>
          </p:cNvCxnSpPr>
          <p:nvPr/>
        </p:nvCxnSpPr>
        <p:spPr>
          <a:xfrm flipH="1" flipV="1">
            <a:off x="658368" y="3435260"/>
            <a:ext cx="10937750" cy="6"/>
          </a:xfrm>
          <a:prstGeom prst="bentConnector5">
            <a:avLst>
              <a:gd name="adj1" fmla="val -2090"/>
              <a:gd name="adj2" fmla="val 14706700000"/>
              <a:gd name="adj3" fmla="val 102090"/>
            </a:avLst>
          </a:prstGeom>
          <a:ln w="1270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le: Rounded Corners 36">
            <a:extLst>
              <a:ext uri="{FF2B5EF4-FFF2-40B4-BE49-F238E27FC236}">
                <a16:creationId xmlns:a16="http://schemas.microsoft.com/office/drawing/2014/main" id="{EF7103CD-D1C1-75B8-1828-E3EF27EB899C}"/>
              </a:ext>
            </a:extLst>
          </p:cNvPr>
          <p:cNvSpPr/>
          <p:nvPr/>
        </p:nvSpPr>
        <p:spPr>
          <a:xfrm>
            <a:off x="5771013" y="2169391"/>
            <a:ext cx="1938528" cy="1307592"/>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solidFill>
                <a:schemeClr val="tx1"/>
              </a:solidFill>
              <a:latin typeface="Times New Roman" panose="02020603050405020304" pitchFamily="18" charset="0"/>
              <a:cs typeface="Times New Roman" panose="02020603050405020304" pitchFamily="18" charset="0"/>
            </a:endParaRPr>
          </a:p>
          <a:p>
            <a:pPr algn="ctr"/>
            <a:r>
              <a:rPr lang="en-US" dirty="0">
                <a:solidFill>
                  <a:schemeClr val="tx1"/>
                </a:solidFill>
                <a:latin typeface="Times New Roman" panose="02020603050405020304" pitchFamily="18" charset="0"/>
                <a:cs typeface="Times New Roman" panose="02020603050405020304" pitchFamily="18" charset="0"/>
              </a:rPr>
              <a:t>Sentence</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(SPR)</a:t>
            </a:r>
          </a:p>
        </p:txBody>
      </p:sp>
      <p:sp>
        <p:nvSpPr>
          <p:cNvPr id="33" name="Rectangle: Rounded Corners 32">
            <a:extLst>
              <a:ext uri="{FF2B5EF4-FFF2-40B4-BE49-F238E27FC236}">
                <a16:creationId xmlns:a16="http://schemas.microsoft.com/office/drawing/2014/main" id="{A3270C24-8533-4A60-D341-F13ED0798F0A}"/>
              </a:ext>
            </a:extLst>
          </p:cNvPr>
          <p:cNvSpPr/>
          <p:nvPr/>
        </p:nvSpPr>
        <p:spPr>
          <a:xfrm>
            <a:off x="5669413" y="2260831"/>
            <a:ext cx="1938528" cy="1307592"/>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solidFill>
                <a:schemeClr val="tx1"/>
              </a:solidFill>
              <a:latin typeface="Times New Roman" panose="02020603050405020304" pitchFamily="18" charset="0"/>
              <a:cs typeface="Times New Roman" panose="02020603050405020304" pitchFamily="18" charset="0"/>
            </a:endParaRPr>
          </a:p>
          <a:p>
            <a:pPr algn="ctr"/>
            <a:r>
              <a:rPr lang="en-US" dirty="0">
                <a:solidFill>
                  <a:schemeClr val="tx1"/>
                </a:solidFill>
                <a:latin typeface="Times New Roman" panose="02020603050405020304" pitchFamily="18" charset="0"/>
                <a:cs typeface="Times New Roman" panose="02020603050405020304" pitchFamily="18" charset="0"/>
              </a:rPr>
              <a:t>Sentence</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(SPR)</a:t>
            </a:r>
          </a:p>
        </p:txBody>
      </p:sp>
      <p:sp>
        <p:nvSpPr>
          <p:cNvPr id="32" name="Rectangle: Rounded Corners 31">
            <a:extLst>
              <a:ext uri="{FF2B5EF4-FFF2-40B4-BE49-F238E27FC236}">
                <a16:creationId xmlns:a16="http://schemas.microsoft.com/office/drawing/2014/main" id="{9B3E127A-3C55-2057-38B0-144AD60FAD69}"/>
              </a:ext>
            </a:extLst>
          </p:cNvPr>
          <p:cNvSpPr/>
          <p:nvPr/>
        </p:nvSpPr>
        <p:spPr>
          <a:xfrm>
            <a:off x="5561461" y="2364891"/>
            <a:ext cx="1938528" cy="1307592"/>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solidFill>
                <a:schemeClr val="tx1"/>
              </a:solidFill>
              <a:latin typeface="Times New Roman" panose="02020603050405020304" pitchFamily="18" charset="0"/>
              <a:cs typeface="Times New Roman" panose="02020603050405020304" pitchFamily="18" charset="0"/>
            </a:endParaRPr>
          </a:p>
          <a:p>
            <a:pPr algn="ctr"/>
            <a:r>
              <a:rPr lang="en-US" dirty="0">
                <a:solidFill>
                  <a:schemeClr val="tx1"/>
                </a:solidFill>
                <a:latin typeface="Times New Roman" panose="02020603050405020304" pitchFamily="18" charset="0"/>
                <a:cs typeface="Times New Roman" panose="02020603050405020304" pitchFamily="18" charset="0"/>
              </a:rPr>
              <a:t>Sentence</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(SPR)</a:t>
            </a:r>
          </a:p>
        </p:txBody>
      </p:sp>
      <p:sp>
        <p:nvSpPr>
          <p:cNvPr id="2" name="Slide Number Placeholder 1">
            <a:extLst>
              <a:ext uri="{FF2B5EF4-FFF2-40B4-BE49-F238E27FC236}">
                <a16:creationId xmlns:a16="http://schemas.microsoft.com/office/drawing/2014/main" id="{B2780DB3-49C9-8918-D048-130A8764C628}"/>
              </a:ext>
            </a:extLst>
          </p:cNvPr>
          <p:cNvSpPr>
            <a:spLocks noGrp="1"/>
          </p:cNvSpPr>
          <p:nvPr>
            <p:ph type="sldNum" sz="quarter" idx="12"/>
          </p:nvPr>
        </p:nvSpPr>
        <p:spPr>
          <a:xfrm>
            <a:off x="11292840" y="6639560"/>
            <a:ext cx="914400" cy="593725"/>
          </a:xfrm>
        </p:spPr>
        <p:txBody>
          <a:bodyPr>
            <a:normAutofit/>
          </a:bodyPr>
          <a:lstStyle/>
          <a:p>
            <a:fld id="{D57F1E4F-1CFF-5643-939E-217C01CDF565}" type="slidenum">
              <a:rPr lang="en-US" sz="3200" smtClean="0">
                <a:latin typeface="Times New Roman" panose="02020603050405020304" pitchFamily="18" charset="0"/>
                <a:cs typeface="Times New Roman" panose="02020603050405020304" pitchFamily="18" charset="0"/>
              </a:rPr>
              <a:pPr/>
              <a:t>27</a:t>
            </a:fld>
            <a:endParaRPr lang="en-US" sz="3200" dirty="0">
              <a:latin typeface="Times New Roman" panose="02020603050405020304" pitchFamily="18" charset="0"/>
              <a:cs typeface="Times New Roman" panose="02020603050405020304" pitchFamily="18" charset="0"/>
            </a:endParaRPr>
          </a:p>
        </p:txBody>
      </p:sp>
      <p:sp>
        <p:nvSpPr>
          <p:cNvPr id="5" name="Rectangle: Rounded Corners 4">
            <a:extLst>
              <a:ext uri="{FF2B5EF4-FFF2-40B4-BE49-F238E27FC236}">
                <a16:creationId xmlns:a16="http://schemas.microsoft.com/office/drawing/2014/main" id="{4F6A5E9B-5249-FD7D-BE05-FAA948D4AC2A}"/>
              </a:ext>
            </a:extLst>
          </p:cNvPr>
          <p:cNvSpPr/>
          <p:nvPr/>
        </p:nvSpPr>
        <p:spPr>
          <a:xfrm>
            <a:off x="658368" y="2789936"/>
            <a:ext cx="1938528" cy="1307592"/>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600">
              <a:latin typeface="Times New Roman" panose="02020603050405020304" pitchFamily="18" charset="0"/>
              <a:cs typeface="Times New Roman" panose="02020603050405020304" pitchFamily="18" charset="0"/>
            </a:endParaRPr>
          </a:p>
        </p:txBody>
      </p:sp>
      <p:sp>
        <p:nvSpPr>
          <p:cNvPr id="10" name="Rectangle: Rounded Corners 9">
            <a:extLst>
              <a:ext uri="{FF2B5EF4-FFF2-40B4-BE49-F238E27FC236}">
                <a16:creationId xmlns:a16="http://schemas.microsoft.com/office/drawing/2014/main" id="{B8360833-C71C-48D2-15F4-725E8AE9D516}"/>
              </a:ext>
            </a:extLst>
          </p:cNvPr>
          <p:cNvSpPr/>
          <p:nvPr/>
        </p:nvSpPr>
        <p:spPr>
          <a:xfrm>
            <a:off x="2906268" y="2789936"/>
            <a:ext cx="1938528" cy="1307592"/>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6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66C9B34B-E509-0C5D-9C2C-10019F2FE336}"/>
              </a:ext>
            </a:extLst>
          </p:cNvPr>
          <p:cNvSpPr txBox="1"/>
          <p:nvPr/>
        </p:nvSpPr>
        <p:spPr>
          <a:xfrm>
            <a:off x="1317301" y="4040849"/>
            <a:ext cx="618744" cy="400110"/>
          </a:xfrm>
          <a:prstGeom prst="rect">
            <a:avLst/>
          </a:prstGeom>
          <a:noFill/>
        </p:spPr>
        <p:txBody>
          <a:bodyPr wrap="square">
            <a:spAutoFit/>
          </a:bodyPr>
          <a:lstStyle/>
          <a:p>
            <a:pPr algn="ctr"/>
            <a:r>
              <a:rPr lang="hu-HU" sz="20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DF98CDC0-20AE-766E-B3FE-4F78F80F08EC}"/>
              </a:ext>
            </a:extLst>
          </p:cNvPr>
          <p:cNvSpPr txBox="1"/>
          <p:nvPr/>
        </p:nvSpPr>
        <p:spPr>
          <a:xfrm>
            <a:off x="3566160" y="3192579"/>
            <a:ext cx="618744" cy="461665"/>
          </a:xfrm>
          <a:prstGeom prst="rect">
            <a:avLst/>
          </a:prstGeom>
          <a:noFill/>
        </p:spPr>
        <p:txBody>
          <a:bodyPr wrap="square">
            <a:spAutoFit/>
          </a:bodyPr>
          <a:lstStyle/>
          <a:p>
            <a:pPr algn="ctr"/>
            <a:r>
              <a:rPr lang="en-US" sz="2400" b="1" dirty="0">
                <a:latin typeface="Times New Roman" panose="02020603050405020304" pitchFamily="18" charset="0"/>
                <a:cs typeface="Times New Roman" panose="02020603050405020304" pitchFamily="18" charset="0"/>
              </a:rPr>
              <a:t>+</a:t>
            </a:r>
          </a:p>
        </p:txBody>
      </p:sp>
      <p:sp>
        <p:nvSpPr>
          <p:cNvPr id="19" name="TextBox 18">
            <a:extLst>
              <a:ext uri="{FF2B5EF4-FFF2-40B4-BE49-F238E27FC236}">
                <a16:creationId xmlns:a16="http://schemas.microsoft.com/office/drawing/2014/main" id="{68CC0E58-7423-9219-2344-8803AAB00FB1}"/>
              </a:ext>
            </a:extLst>
          </p:cNvPr>
          <p:cNvSpPr txBox="1"/>
          <p:nvPr/>
        </p:nvSpPr>
        <p:spPr>
          <a:xfrm>
            <a:off x="5780655" y="4040849"/>
            <a:ext cx="618744" cy="400110"/>
          </a:xfrm>
          <a:prstGeom prst="rect">
            <a:avLst/>
          </a:prstGeom>
          <a:noFill/>
        </p:spPr>
        <p:txBody>
          <a:bodyPr wrap="square">
            <a:spAutoFit/>
          </a:bodyPr>
          <a:lstStyle/>
          <a:p>
            <a:pPr algn="ctr"/>
            <a:r>
              <a:rPr lang="hu-HU" sz="20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DF0C6ADD-878E-A1AB-6B01-83752540DBB6}"/>
              </a:ext>
            </a:extLst>
          </p:cNvPr>
          <p:cNvSpPr txBox="1"/>
          <p:nvPr/>
        </p:nvSpPr>
        <p:spPr>
          <a:xfrm>
            <a:off x="8037576" y="3156732"/>
            <a:ext cx="618744" cy="461665"/>
          </a:xfrm>
          <a:prstGeom prst="rect">
            <a:avLst/>
          </a:prstGeom>
          <a:noFill/>
        </p:spPr>
        <p:txBody>
          <a:bodyPr wrap="square" anchor="t">
            <a:spAutoFit/>
          </a:bodyPr>
          <a:lstStyle/>
          <a:p>
            <a:pPr algn="ctr"/>
            <a:r>
              <a:rPr lang="en-US" sz="2400" b="1" dirty="0">
                <a:latin typeface="Times New Roman" panose="02020603050405020304" pitchFamily="18" charset="0"/>
                <a:cs typeface="Times New Roman" panose="02020603050405020304" pitchFamily="18" charset="0"/>
              </a:rPr>
              <a:t>+</a:t>
            </a:r>
          </a:p>
        </p:txBody>
      </p:sp>
      <p:sp>
        <p:nvSpPr>
          <p:cNvPr id="27" name="Rectangle: Rounded Corners 26">
            <a:extLst>
              <a:ext uri="{FF2B5EF4-FFF2-40B4-BE49-F238E27FC236}">
                <a16:creationId xmlns:a16="http://schemas.microsoft.com/office/drawing/2014/main" id="{33644C4D-A7F1-4083-56FA-9F595F4FD9ED}"/>
              </a:ext>
            </a:extLst>
          </p:cNvPr>
          <p:cNvSpPr/>
          <p:nvPr/>
        </p:nvSpPr>
        <p:spPr>
          <a:xfrm>
            <a:off x="9657590" y="2789930"/>
            <a:ext cx="1938528" cy="1307592"/>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600">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C88E1A19-B0DF-6E88-B83D-910BBE12662A}"/>
              </a:ext>
            </a:extLst>
          </p:cNvPr>
          <p:cNvSpPr txBox="1"/>
          <p:nvPr/>
        </p:nvSpPr>
        <p:spPr>
          <a:xfrm>
            <a:off x="1098804" y="2783283"/>
            <a:ext cx="1050034" cy="369332"/>
          </a:xfrm>
          <a:prstGeom prst="rect">
            <a:avLst/>
          </a:prstGeom>
          <a:noFill/>
        </p:spPr>
        <p:txBody>
          <a:bodyPr wrap="square">
            <a:spAutoFit/>
          </a:bodyPr>
          <a:lstStyle/>
          <a:p>
            <a:pPr algn="ctr"/>
            <a:r>
              <a:rPr lang="en-US" dirty="0">
                <a:latin typeface="Times New Roman" panose="02020603050405020304" pitchFamily="18" charset="0"/>
                <a:cs typeface="Times New Roman" panose="02020603050405020304" pitchFamily="18" charset="0"/>
              </a:rPr>
              <a:t>Preview</a:t>
            </a:r>
          </a:p>
        </p:txBody>
      </p:sp>
      <p:sp>
        <p:nvSpPr>
          <p:cNvPr id="31" name="TextBox 30">
            <a:extLst>
              <a:ext uri="{FF2B5EF4-FFF2-40B4-BE49-F238E27FC236}">
                <a16:creationId xmlns:a16="http://schemas.microsoft.com/office/drawing/2014/main" id="{C6268624-C9E4-C8B4-9262-A004A6A4669D}"/>
              </a:ext>
            </a:extLst>
          </p:cNvPr>
          <p:cNvSpPr txBox="1"/>
          <p:nvPr/>
        </p:nvSpPr>
        <p:spPr>
          <a:xfrm>
            <a:off x="9657590" y="2787400"/>
            <a:ext cx="1938526" cy="369332"/>
          </a:xfrm>
          <a:prstGeom prst="rect">
            <a:avLst/>
          </a:prstGeom>
          <a:noFill/>
        </p:spPr>
        <p:txBody>
          <a:bodyPr wrap="square">
            <a:spAutoFit/>
          </a:bodyPr>
          <a:lstStyle/>
          <a:p>
            <a:pPr algn="ctr"/>
            <a:r>
              <a:rPr lang="en-US" dirty="0">
                <a:latin typeface="Times New Roman" panose="02020603050405020304" pitchFamily="18" charset="0"/>
                <a:cs typeface="Times New Roman" panose="02020603050405020304" pitchFamily="18" charset="0"/>
              </a:rPr>
              <a:t>Choice</a:t>
            </a:r>
          </a:p>
        </p:txBody>
      </p:sp>
      <p:sp>
        <p:nvSpPr>
          <p:cNvPr id="34" name="TextBox 33">
            <a:extLst>
              <a:ext uri="{FF2B5EF4-FFF2-40B4-BE49-F238E27FC236}">
                <a16:creationId xmlns:a16="http://schemas.microsoft.com/office/drawing/2014/main" id="{3D0A1EB4-9AB0-2511-5917-48D8E73B2E90}"/>
              </a:ext>
            </a:extLst>
          </p:cNvPr>
          <p:cNvSpPr txBox="1"/>
          <p:nvPr/>
        </p:nvSpPr>
        <p:spPr>
          <a:xfrm>
            <a:off x="10312146" y="4114948"/>
            <a:ext cx="618744" cy="400110"/>
          </a:xfrm>
          <a:prstGeom prst="rect">
            <a:avLst/>
          </a:prstGeom>
          <a:noFill/>
        </p:spPr>
        <p:txBody>
          <a:bodyPr wrap="square">
            <a:spAutoFit/>
          </a:bodyPr>
          <a:lstStyle/>
          <a:p>
            <a:pPr algn="ctr"/>
            <a:r>
              <a:rPr lang="hu-HU" sz="20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35" name="TextBox 34">
            <a:extLst>
              <a:ext uri="{FF2B5EF4-FFF2-40B4-BE49-F238E27FC236}">
                <a16:creationId xmlns:a16="http://schemas.microsoft.com/office/drawing/2014/main" id="{73B39A19-A47F-D1ED-B603-2C13038FEF54}"/>
              </a:ext>
            </a:extLst>
          </p:cNvPr>
          <p:cNvSpPr txBox="1"/>
          <p:nvPr/>
        </p:nvSpPr>
        <p:spPr>
          <a:xfrm>
            <a:off x="9657589" y="3716716"/>
            <a:ext cx="1938527" cy="373797"/>
          </a:xfrm>
          <a:prstGeom prst="rect">
            <a:avLst/>
          </a:prstGeom>
          <a:noFill/>
        </p:spPr>
        <p:txBody>
          <a:bodyPr wrap="square">
            <a:spAutoFit/>
          </a:bodyPr>
          <a:lstStyle/>
          <a:p>
            <a:pPr algn="ctr"/>
            <a:r>
              <a:rPr lang="en-US" dirty="0">
                <a:latin typeface="Times New Roman" panose="02020603050405020304" pitchFamily="18" charset="0"/>
                <a:cs typeface="Times New Roman" panose="02020603050405020304" pitchFamily="18" charset="0"/>
              </a:rPr>
              <a:t>(ET)</a:t>
            </a:r>
          </a:p>
        </p:txBody>
      </p:sp>
      <p:sp>
        <p:nvSpPr>
          <p:cNvPr id="14" name="TextBox 13">
            <a:extLst>
              <a:ext uri="{FF2B5EF4-FFF2-40B4-BE49-F238E27FC236}">
                <a16:creationId xmlns:a16="http://schemas.microsoft.com/office/drawing/2014/main" id="{4B3ECD1C-B7D6-296A-9ECE-FBF0AEBD6C84}"/>
              </a:ext>
            </a:extLst>
          </p:cNvPr>
          <p:cNvSpPr txBox="1"/>
          <p:nvPr/>
        </p:nvSpPr>
        <p:spPr>
          <a:xfrm>
            <a:off x="2489072" y="3151268"/>
            <a:ext cx="532513" cy="492443"/>
          </a:xfrm>
          <a:prstGeom prst="rect">
            <a:avLst/>
          </a:prstGeom>
          <a:noFill/>
          <a:ln>
            <a:noFill/>
          </a:ln>
        </p:spPr>
        <p:txBody>
          <a:bodyPr wrap="square">
            <a:spAutoFit/>
          </a:bodyPr>
          <a:lstStyle/>
          <a:p>
            <a:pPr algn="ctr"/>
            <a:r>
              <a:rPr lang="en-US" sz="2600" dirty="0">
                <a:solidFill>
                  <a:schemeClr val="tx2"/>
                </a:solidFill>
                <a:latin typeface="Times New Roman" panose="02020603050405020304" pitchFamily="18" charset="0"/>
                <a:cs typeface="Times New Roman" panose="02020603050405020304" pitchFamily="18" charset="0"/>
              </a:rPr>
              <a:t>→</a:t>
            </a:r>
          </a:p>
        </p:txBody>
      </p:sp>
      <p:cxnSp>
        <p:nvCxnSpPr>
          <p:cNvPr id="36" name="Straight Arrow Connector 35">
            <a:extLst>
              <a:ext uri="{FF2B5EF4-FFF2-40B4-BE49-F238E27FC236}">
                <a16:creationId xmlns:a16="http://schemas.microsoft.com/office/drawing/2014/main" id="{914565EA-17CD-66F2-BC3A-7682D69F51D5}"/>
              </a:ext>
            </a:extLst>
          </p:cNvPr>
          <p:cNvCxnSpPr>
            <a:cxnSpLocks/>
          </p:cNvCxnSpPr>
          <p:nvPr/>
        </p:nvCxnSpPr>
        <p:spPr>
          <a:xfrm flipV="1">
            <a:off x="466344" y="4495823"/>
            <a:ext cx="11382756" cy="2225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Rectangle: Rounded Corners 25">
            <a:extLst>
              <a:ext uri="{FF2B5EF4-FFF2-40B4-BE49-F238E27FC236}">
                <a16:creationId xmlns:a16="http://schemas.microsoft.com/office/drawing/2014/main" id="{42EF05F5-D384-4B40-C057-BBEB90F80DDA}"/>
              </a:ext>
            </a:extLst>
          </p:cNvPr>
          <p:cNvSpPr/>
          <p:nvPr/>
        </p:nvSpPr>
        <p:spPr>
          <a:xfrm>
            <a:off x="5467864" y="2465959"/>
            <a:ext cx="1938528" cy="1307592"/>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solidFill>
                <a:schemeClr val="tx1"/>
              </a:solidFill>
              <a:latin typeface="Times New Roman" panose="02020603050405020304" pitchFamily="18" charset="0"/>
              <a:cs typeface="Times New Roman" panose="02020603050405020304" pitchFamily="18" charset="0"/>
            </a:endParaRPr>
          </a:p>
          <a:p>
            <a:pPr algn="ctr"/>
            <a:r>
              <a:rPr lang="en-US" dirty="0">
                <a:solidFill>
                  <a:schemeClr val="tx1"/>
                </a:solidFill>
                <a:latin typeface="Times New Roman" panose="02020603050405020304" pitchFamily="18" charset="0"/>
                <a:cs typeface="Times New Roman" panose="02020603050405020304" pitchFamily="18" charset="0"/>
              </a:rPr>
              <a:t>Sentence</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(SPR)</a:t>
            </a:r>
          </a:p>
        </p:txBody>
      </p:sp>
      <p:sp>
        <p:nvSpPr>
          <p:cNvPr id="11" name="Rectangle: Rounded Corners 10">
            <a:extLst>
              <a:ext uri="{FF2B5EF4-FFF2-40B4-BE49-F238E27FC236}">
                <a16:creationId xmlns:a16="http://schemas.microsoft.com/office/drawing/2014/main" id="{D3FC7D91-56B7-AE47-91BD-2B40D3EEE225}"/>
              </a:ext>
            </a:extLst>
          </p:cNvPr>
          <p:cNvSpPr/>
          <p:nvPr/>
        </p:nvSpPr>
        <p:spPr>
          <a:xfrm>
            <a:off x="5370072" y="2574641"/>
            <a:ext cx="1938528" cy="1307592"/>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solidFill>
                <a:schemeClr val="tx1"/>
              </a:solidFill>
              <a:latin typeface="Times New Roman" panose="02020603050405020304" pitchFamily="18" charset="0"/>
              <a:cs typeface="Times New Roman" panose="02020603050405020304" pitchFamily="18" charset="0"/>
            </a:endParaRPr>
          </a:p>
          <a:p>
            <a:pPr algn="ctr"/>
            <a:r>
              <a:rPr lang="en-US" dirty="0">
                <a:solidFill>
                  <a:schemeClr val="tx1"/>
                </a:solidFill>
                <a:latin typeface="Times New Roman" panose="02020603050405020304" pitchFamily="18" charset="0"/>
                <a:cs typeface="Times New Roman" panose="02020603050405020304" pitchFamily="18" charset="0"/>
              </a:rPr>
              <a:t>Sentence</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(SPR)</a:t>
            </a:r>
          </a:p>
        </p:txBody>
      </p:sp>
      <p:sp>
        <p:nvSpPr>
          <p:cNvPr id="9" name="Rectangle: Rounded Corners 8">
            <a:extLst>
              <a:ext uri="{FF2B5EF4-FFF2-40B4-BE49-F238E27FC236}">
                <a16:creationId xmlns:a16="http://schemas.microsoft.com/office/drawing/2014/main" id="{1C6811DB-F6C9-16B2-E14D-E524D300F777}"/>
              </a:ext>
            </a:extLst>
          </p:cNvPr>
          <p:cNvSpPr/>
          <p:nvPr/>
        </p:nvSpPr>
        <p:spPr>
          <a:xfrm>
            <a:off x="5251960" y="2681381"/>
            <a:ext cx="1938528" cy="1307592"/>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solidFill>
                <a:schemeClr val="tx1"/>
              </a:solidFill>
              <a:latin typeface="Times New Roman" panose="02020603050405020304" pitchFamily="18" charset="0"/>
              <a:cs typeface="Times New Roman" panose="02020603050405020304" pitchFamily="18" charset="0"/>
            </a:endParaRPr>
          </a:p>
          <a:p>
            <a:pPr algn="ctr"/>
            <a:r>
              <a:rPr lang="en-US" dirty="0">
                <a:solidFill>
                  <a:schemeClr val="tx1"/>
                </a:solidFill>
                <a:latin typeface="Times New Roman" panose="02020603050405020304" pitchFamily="18" charset="0"/>
                <a:cs typeface="Times New Roman" panose="02020603050405020304" pitchFamily="18" charset="0"/>
              </a:rPr>
              <a:t>Sentence</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(SPR)</a:t>
            </a:r>
          </a:p>
        </p:txBody>
      </p:sp>
      <p:sp>
        <p:nvSpPr>
          <p:cNvPr id="18" name="Rectangle: Rounded Corners 17">
            <a:extLst>
              <a:ext uri="{FF2B5EF4-FFF2-40B4-BE49-F238E27FC236}">
                <a16:creationId xmlns:a16="http://schemas.microsoft.com/office/drawing/2014/main" id="{D5560261-EAD5-8EFB-56B7-65A398E22E4D}"/>
              </a:ext>
            </a:extLst>
          </p:cNvPr>
          <p:cNvSpPr/>
          <p:nvPr/>
        </p:nvSpPr>
        <p:spPr>
          <a:xfrm>
            <a:off x="5154168" y="2789931"/>
            <a:ext cx="1938528" cy="1307592"/>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solidFill>
                <a:schemeClr val="tx1"/>
              </a:solidFill>
              <a:latin typeface="Times New Roman" panose="02020603050405020304" pitchFamily="18" charset="0"/>
              <a:cs typeface="Times New Roman" panose="02020603050405020304" pitchFamily="18" charset="0"/>
            </a:endParaRPr>
          </a:p>
          <a:p>
            <a:pPr algn="ctr"/>
            <a:r>
              <a:rPr lang="en-US" dirty="0">
                <a:solidFill>
                  <a:schemeClr val="tx1"/>
                </a:solidFill>
                <a:latin typeface="Times New Roman" panose="02020603050405020304" pitchFamily="18" charset="0"/>
                <a:cs typeface="Times New Roman" panose="02020603050405020304" pitchFamily="18" charset="0"/>
              </a:rPr>
              <a:t>Sentence</a:t>
            </a:r>
            <a:br>
              <a:rPr lang="en-US" dirty="0">
                <a:solidFill>
                  <a:schemeClr val="tx1"/>
                </a:solidFill>
                <a:latin typeface="Times New Roman" panose="02020603050405020304" pitchFamily="18" charset="0"/>
                <a:cs typeface="Times New Roman" panose="02020603050405020304" pitchFamily="18" charset="0"/>
              </a:rPr>
            </a:br>
            <a:r>
              <a:rPr lang="en-US" dirty="0">
                <a:solidFill>
                  <a:schemeClr val="tx1"/>
                </a:solidFill>
                <a:latin typeface="Times New Roman" panose="02020603050405020304" pitchFamily="18" charset="0"/>
                <a:cs typeface="Times New Roman" panose="02020603050405020304" pitchFamily="18" charset="0"/>
              </a:rPr>
              <a:t>(SPR)</a:t>
            </a:r>
            <a:br>
              <a:rPr lang="en-US" dirty="0">
                <a:solidFill>
                  <a:schemeClr val="tx1"/>
                </a:solidFill>
                <a:latin typeface="Times New Roman" panose="02020603050405020304" pitchFamily="18" charset="0"/>
                <a:cs typeface="Times New Roman" panose="02020603050405020304" pitchFamily="18" charset="0"/>
              </a:rPr>
            </a:br>
            <a:endParaRPr lang="en-US" dirty="0">
              <a:solidFill>
                <a:schemeClr val="tx1"/>
              </a:solidFill>
              <a:latin typeface="Times New Roman" panose="02020603050405020304" pitchFamily="18" charset="0"/>
              <a:cs typeface="Times New Roman" panose="02020603050405020304" pitchFamily="18" charset="0"/>
            </a:endParaRPr>
          </a:p>
        </p:txBody>
      </p:sp>
      <p:sp>
        <p:nvSpPr>
          <p:cNvPr id="21" name="Rectangle: Rounded Corners 20">
            <a:extLst>
              <a:ext uri="{FF2B5EF4-FFF2-40B4-BE49-F238E27FC236}">
                <a16:creationId xmlns:a16="http://schemas.microsoft.com/office/drawing/2014/main" id="{7A4974A6-90BA-A2A5-E495-50212652F46B}"/>
              </a:ext>
            </a:extLst>
          </p:cNvPr>
          <p:cNvSpPr/>
          <p:nvPr/>
        </p:nvSpPr>
        <p:spPr>
          <a:xfrm>
            <a:off x="7405879" y="2789931"/>
            <a:ext cx="1938528" cy="1307592"/>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600" dirty="0">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363A5C8D-1F4E-3FFE-F903-97F8FB454479}"/>
              </a:ext>
            </a:extLst>
          </p:cNvPr>
          <p:cNvSpPr txBox="1"/>
          <p:nvPr/>
        </p:nvSpPr>
        <p:spPr>
          <a:xfrm>
            <a:off x="8061960" y="3192579"/>
            <a:ext cx="618744" cy="461665"/>
          </a:xfrm>
          <a:prstGeom prst="rect">
            <a:avLst/>
          </a:prstGeom>
          <a:noFill/>
        </p:spPr>
        <p:txBody>
          <a:bodyPr wrap="square">
            <a:spAutoFit/>
          </a:bodyPr>
          <a:lstStyle/>
          <a:p>
            <a:pPr algn="ctr"/>
            <a:r>
              <a:rPr lang="en-US" sz="2400" b="1" dirty="0">
                <a:latin typeface="Times New Roman" panose="02020603050405020304" pitchFamily="18" charset="0"/>
                <a:cs typeface="Times New Roman" panose="02020603050405020304" pitchFamily="18" charset="0"/>
              </a:rPr>
              <a:t>+</a:t>
            </a:r>
          </a:p>
        </p:txBody>
      </p:sp>
      <p:sp>
        <p:nvSpPr>
          <p:cNvPr id="39" name="TextBox 38">
            <a:extLst>
              <a:ext uri="{FF2B5EF4-FFF2-40B4-BE49-F238E27FC236}">
                <a16:creationId xmlns:a16="http://schemas.microsoft.com/office/drawing/2014/main" id="{9C1E97E1-1A53-B1E1-7A05-3715D4A020AA}"/>
              </a:ext>
            </a:extLst>
          </p:cNvPr>
          <p:cNvSpPr txBox="1"/>
          <p:nvPr/>
        </p:nvSpPr>
        <p:spPr>
          <a:xfrm>
            <a:off x="8593668" y="1943700"/>
            <a:ext cx="3002448" cy="584775"/>
          </a:xfrm>
          <a:prstGeom prst="rect">
            <a:avLst/>
          </a:prstGeom>
          <a:noFill/>
        </p:spPr>
        <p:txBody>
          <a:bodyPr wrap="square">
            <a:spAutoFit/>
          </a:bodyPr>
          <a:lstStyle/>
          <a:p>
            <a:pPr algn="r"/>
            <a:r>
              <a:rPr lang="en-US" sz="1600" dirty="0">
                <a:latin typeface="Times New Roman" panose="02020603050405020304" pitchFamily="18" charset="0"/>
                <a:cs typeface="Times New Roman" panose="02020603050405020304" pitchFamily="18" charset="0"/>
              </a:rPr>
              <a:t>= spacebar to advance</a:t>
            </a:r>
            <a:br>
              <a:rPr lang="en-US" sz="1600" dirty="0">
                <a:latin typeface="Times New Roman" panose="02020603050405020304" pitchFamily="18" charset="0"/>
                <a:cs typeface="Times New Roman" panose="02020603050405020304" pitchFamily="18" charset="0"/>
              </a:rPr>
            </a:br>
            <a:r>
              <a:rPr lang="hu-HU" sz="1600" dirty="0">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 = mouse click to chose</a:t>
            </a:r>
          </a:p>
        </p:txBody>
      </p:sp>
      <p:sp>
        <p:nvSpPr>
          <p:cNvPr id="41" name="Rectangle: Rounded Corners 40">
            <a:extLst>
              <a:ext uri="{FF2B5EF4-FFF2-40B4-BE49-F238E27FC236}">
                <a16:creationId xmlns:a16="http://schemas.microsoft.com/office/drawing/2014/main" id="{8206870A-F4CF-D32B-924C-EF7564C34683}"/>
              </a:ext>
            </a:extLst>
          </p:cNvPr>
          <p:cNvSpPr/>
          <p:nvPr/>
        </p:nvSpPr>
        <p:spPr>
          <a:xfrm>
            <a:off x="879475" y="3156732"/>
            <a:ext cx="590550" cy="573419"/>
          </a:xfrm>
          <a:prstGeom prst="roundRect">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bg2"/>
                </a:solidFill>
                <a:latin typeface="Times New Roman" panose="02020603050405020304" pitchFamily="18" charset="0"/>
                <a:cs typeface="Times New Roman" panose="02020603050405020304" pitchFamily="18" charset="0"/>
              </a:rPr>
              <a:t>A</a:t>
            </a:r>
          </a:p>
        </p:txBody>
      </p:sp>
      <p:sp>
        <p:nvSpPr>
          <p:cNvPr id="42" name="Rectangle: Rounded Corners 41">
            <a:extLst>
              <a:ext uri="{FF2B5EF4-FFF2-40B4-BE49-F238E27FC236}">
                <a16:creationId xmlns:a16="http://schemas.microsoft.com/office/drawing/2014/main" id="{9555B828-3056-87DA-F431-E1BD34D1E236}"/>
              </a:ext>
            </a:extLst>
          </p:cNvPr>
          <p:cNvSpPr/>
          <p:nvPr/>
        </p:nvSpPr>
        <p:spPr>
          <a:xfrm>
            <a:off x="1779397" y="3150755"/>
            <a:ext cx="590550" cy="573419"/>
          </a:xfrm>
          <a:prstGeom prst="roundRect">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bg2"/>
                </a:solidFill>
                <a:latin typeface="Times New Roman" panose="02020603050405020304" pitchFamily="18" charset="0"/>
                <a:cs typeface="Times New Roman" panose="02020603050405020304" pitchFamily="18" charset="0"/>
              </a:rPr>
              <a:t>B</a:t>
            </a:r>
          </a:p>
        </p:txBody>
      </p:sp>
      <p:sp>
        <p:nvSpPr>
          <p:cNvPr id="47" name="Rectangle: Rounded Corners 46">
            <a:extLst>
              <a:ext uri="{FF2B5EF4-FFF2-40B4-BE49-F238E27FC236}">
                <a16:creationId xmlns:a16="http://schemas.microsoft.com/office/drawing/2014/main" id="{2050A496-F76D-EED5-9DB5-EEABF65A8A9E}"/>
              </a:ext>
            </a:extLst>
          </p:cNvPr>
          <p:cNvSpPr/>
          <p:nvPr/>
        </p:nvSpPr>
        <p:spPr>
          <a:xfrm>
            <a:off x="9878187" y="3157170"/>
            <a:ext cx="590550" cy="573419"/>
          </a:xfrm>
          <a:prstGeom prst="roundRect">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bg2"/>
                </a:solidFill>
                <a:latin typeface="Times New Roman" panose="02020603050405020304" pitchFamily="18" charset="0"/>
                <a:cs typeface="Times New Roman" panose="02020603050405020304" pitchFamily="18" charset="0"/>
              </a:rPr>
              <a:t>A</a:t>
            </a:r>
          </a:p>
        </p:txBody>
      </p:sp>
      <p:sp>
        <p:nvSpPr>
          <p:cNvPr id="48" name="Rectangle: Rounded Corners 47">
            <a:extLst>
              <a:ext uri="{FF2B5EF4-FFF2-40B4-BE49-F238E27FC236}">
                <a16:creationId xmlns:a16="http://schemas.microsoft.com/office/drawing/2014/main" id="{3B702397-827F-59E5-4D37-AAF0AF5F8C97}"/>
              </a:ext>
            </a:extLst>
          </p:cNvPr>
          <p:cNvSpPr/>
          <p:nvPr/>
        </p:nvSpPr>
        <p:spPr>
          <a:xfrm>
            <a:off x="10778109" y="3151193"/>
            <a:ext cx="590550" cy="573419"/>
          </a:xfrm>
          <a:prstGeom prst="roundRect">
            <a:avLst/>
          </a:prstGeom>
          <a:solidFill>
            <a:schemeClr val="tx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solidFill>
                  <a:schemeClr val="bg2"/>
                </a:solidFill>
                <a:latin typeface="Times New Roman" panose="02020603050405020304" pitchFamily="18" charset="0"/>
                <a:cs typeface="Times New Roman" panose="02020603050405020304" pitchFamily="18" charset="0"/>
              </a:rPr>
              <a:t>B</a:t>
            </a:r>
          </a:p>
        </p:txBody>
      </p:sp>
      <p:sp>
        <p:nvSpPr>
          <p:cNvPr id="49" name="TextBox 48">
            <a:extLst>
              <a:ext uri="{FF2B5EF4-FFF2-40B4-BE49-F238E27FC236}">
                <a16:creationId xmlns:a16="http://schemas.microsoft.com/office/drawing/2014/main" id="{CFE5056F-6DAF-A51A-D8A0-F9CC3A05D188}"/>
              </a:ext>
            </a:extLst>
          </p:cNvPr>
          <p:cNvSpPr txBox="1"/>
          <p:nvPr/>
        </p:nvSpPr>
        <p:spPr>
          <a:xfrm>
            <a:off x="658368" y="1957133"/>
            <a:ext cx="4450210" cy="584775"/>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SPR = Self-Paced Reading</a:t>
            </a:r>
          </a:p>
          <a:p>
            <a:r>
              <a:rPr lang="en-US" sz="1600" dirty="0">
                <a:latin typeface="Times New Roman" panose="02020603050405020304" pitchFamily="18" charset="0"/>
                <a:cs typeface="Times New Roman" panose="02020603050405020304" pitchFamily="18" charset="0"/>
              </a:rPr>
              <a:t>ET = Eye-Tracking</a:t>
            </a:r>
          </a:p>
        </p:txBody>
      </p:sp>
      <p:sp>
        <p:nvSpPr>
          <p:cNvPr id="53" name="TextBox 52">
            <a:extLst>
              <a:ext uri="{FF2B5EF4-FFF2-40B4-BE49-F238E27FC236}">
                <a16:creationId xmlns:a16="http://schemas.microsoft.com/office/drawing/2014/main" id="{0534EA3E-6F43-7D2D-BCA0-F0E8E7CCBA67}"/>
              </a:ext>
            </a:extLst>
          </p:cNvPr>
          <p:cNvSpPr txBox="1"/>
          <p:nvPr/>
        </p:nvSpPr>
        <p:spPr>
          <a:xfrm>
            <a:off x="4593267" y="4152192"/>
            <a:ext cx="817882" cy="307777"/>
          </a:xfrm>
          <a:prstGeom prst="rect">
            <a:avLst/>
          </a:prstGeom>
          <a:noFill/>
        </p:spPr>
        <p:txBody>
          <a:bodyPr wrap="square" anchor="b">
            <a:spAutoFit/>
          </a:bodyPr>
          <a:lstStyle/>
          <a:p>
            <a:pPr algn="ctr"/>
            <a:r>
              <a:rPr lang="en-US" sz="1400" dirty="0">
                <a:latin typeface="Times New Roman" panose="02020603050405020304" pitchFamily="18" charset="0"/>
                <a:cs typeface="Times New Roman" panose="02020603050405020304" pitchFamily="18" charset="0"/>
              </a:rPr>
              <a:t>1000ms</a:t>
            </a:r>
          </a:p>
        </p:txBody>
      </p:sp>
      <p:sp>
        <p:nvSpPr>
          <p:cNvPr id="54" name="TextBox 53">
            <a:extLst>
              <a:ext uri="{FF2B5EF4-FFF2-40B4-BE49-F238E27FC236}">
                <a16:creationId xmlns:a16="http://schemas.microsoft.com/office/drawing/2014/main" id="{1AD72A78-59A5-D323-D175-96598112FFD6}"/>
              </a:ext>
            </a:extLst>
          </p:cNvPr>
          <p:cNvSpPr txBox="1"/>
          <p:nvPr/>
        </p:nvSpPr>
        <p:spPr>
          <a:xfrm>
            <a:off x="6848219" y="4152192"/>
            <a:ext cx="817882" cy="307777"/>
          </a:xfrm>
          <a:prstGeom prst="rect">
            <a:avLst/>
          </a:prstGeom>
          <a:noFill/>
        </p:spPr>
        <p:txBody>
          <a:bodyPr wrap="square" anchor="b">
            <a:spAutoFit/>
          </a:bodyPr>
          <a:lstStyle/>
          <a:p>
            <a:pPr algn="ctr"/>
            <a:r>
              <a:rPr lang="en-US" sz="1400" dirty="0">
                <a:latin typeface="Times New Roman" panose="02020603050405020304" pitchFamily="18" charset="0"/>
                <a:cs typeface="Times New Roman" panose="02020603050405020304" pitchFamily="18" charset="0"/>
              </a:rPr>
              <a:t>1000ms</a:t>
            </a:r>
          </a:p>
        </p:txBody>
      </p:sp>
      <p:sp>
        <p:nvSpPr>
          <p:cNvPr id="56" name="TextBox 55">
            <a:extLst>
              <a:ext uri="{FF2B5EF4-FFF2-40B4-BE49-F238E27FC236}">
                <a16:creationId xmlns:a16="http://schemas.microsoft.com/office/drawing/2014/main" id="{A06CF241-F6DD-B380-433E-22E1093B2EAC}"/>
              </a:ext>
            </a:extLst>
          </p:cNvPr>
          <p:cNvSpPr txBox="1"/>
          <p:nvPr/>
        </p:nvSpPr>
        <p:spPr>
          <a:xfrm>
            <a:off x="7782938" y="4083685"/>
            <a:ext cx="1176788" cy="400110"/>
          </a:xfrm>
          <a:prstGeom prst="rect">
            <a:avLst/>
          </a:prstGeom>
          <a:noFill/>
        </p:spPr>
        <p:txBody>
          <a:bodyPr wrap="square" anchor="b">
            <a:spAutoFit/>
          </a:bodyPr>
          <a:lstStyle/>
          <a:p>
            <a:pPr algn="ctr"/>
            <a:r>
              <a:rPr lang="en-US" sz="2000" dirty="0">
                <a:latin typeface="Times New Roman" panose="02020603050405020304" pitchFamily="18" charset="0"/>
                <a:cs typeface="Times New Roman" panose="02020603050405020304" pitchFamily="18" charset="0"/>
              </a:rPr>
              <a:t>1000ms</a:t>
            </a:r>
          </a:p>
        </p:txBody>
      </p:sp>
      <p:sp>
        <p:nvSpPr>
          <p:cNvPr id="57" name="TextBox 56">
            <a:extLst>
              <a:ext uri="{FF2B5EF4-FFF2-40B4-BE49-F238E27FC236}">
                <a16:creationId xmlns:a16="http://schemas.microsoft.com/office/drawing/2014/main" id="{C8ABA965-C091-34FF-A273-1268038E0C47}"/>
              </a:ext>
            </a:extLst>
          </p:cNvPr>
          <p:cNvSpPr txBox="1"/>
          <p:nvPr/>
        </p:nvSpPr>
        <p:spPr>
          <a:xfrm>
            <a:off x="2342569" y="4152192"/>
            <a:ext cx="817882" cy="307777"/>
          </a:xfrm>
          <a:prstGeom prst="rect">
            <a:avLst/>
          </a:prstGeom>
          <a:noFill/>
        </p:spPr>
        <p:txBody>
          <a:bodyPr wrap="square" anchor="b">
            <a:spAutoFit/>
          </a:bodyPr>
          <a:lstStyle/>
          <a:p>
            <a:pPr algn="ctr"/>
            <a:r>
              <a:rPr lang="en-US" sz="1400" dirty="0">
                <a:latin typeface="Times New Roman" panose="02020603050405020304" pitchFamily="18" charset="0"/>
                <a:cs typeface="Times New Roman" panose="02020603050405020304" pitchFamily="18" charset="0"/>
              </a:rPr>
              <a:t>1000ms</a:t>
            </a:r>
          </a:p>
        </p:txBody>
      </p:sp>
      <p:sp>
        <p:nvSpPr>
          <p:cNvPr id="58" name="TextBox 57">
            <a:extLst>
              <a:ext uri="{FF2B5EF4-FFF2-40B4-BE49-F238E27FC236}">
                <a16:creationId xmlns:a16="http://schemas.microsoft.com/office/drawing/2014/main" id="{AF03B4BA-5DAC-1ABA-C08C-ADF86864A373}"/>
              </a:ext>
            </a:extLst>
          </p:cNvPr>
          <p:cNvSpPr txBox="1"/>
          <p:nvPr/>
        </p:nvSpPr>
        <p:spPr>
          <a:xfrm>
            <a:off x="3288465" y="4083685"/>
            <a:ext cx="1176788" cy="400110"/>
          </a:xfrm>
          <a:prstGeom prst="rect">
            <a:avLst/>
          </a:prstGeom>
          <a:noFill/>
        </p:spPr>
        <p:txBody>
          <a:bodyPr wrap="square" anchor="b">
            <a:spAutoFit/>
          </a:bodyPr>
          <a:lstStyle/>
          <a:p>
            <a:pPr algn="ctr"/>
            <a:r>
              <a:rPr lang="en-US" sz="2000" dirty="0">
                <a:latin typeface="Times New Roman" panose="02020603050405020304" pitchFamily="18" charset="0"/>
                <a:cs typeface="Times New Roman" panose="02020603050405020304" pitchFamily="18" charset="0"/>
              </a:rPr>
              <a:t>1000ms</a:t>
            </a:r>
          </a:p>
        </p:txBody>
      </p:sp>
      <p:sp>
        <p:nvSpPr>
          <p:cNvPr id="59" name="TextBox 58">
            <a:extLst>
              <a:ext uri="{FF2B5EF4-FFF2-40B4-BE49-F238E27FC236}">
                <a16:creationId xmlns:a16="http://schemas.microsoft.com/office/drawing/2014/main" id="{B77D236C-F233-A8E5-C15D-1AEA4F839655}"/>
              </a:ext>
            </a:extLst>
          </p:cNvPr>
          <p:cNvSpPr txBox="1"/>
          <p:nvPr/>
        </p:nvSpPr>
        <p:spPr>
          <a:xfrm>
            <a:off x="9135873" y="4157643"/>
            <a:ext cx="817882" cy="307777"/>
          </a:xfrm>
          <a:prstGeom prst="rect">
            <a:avLst/>
          </a:prstGeom>
          <a:noFill/>
        </p:spPr>
        <p:txBody>
          <a:bodyPr wrap="square" anchor="b">
            <a:spAutoFit/>
          </a:bodyPr>
          <a:lstStyle/>
          <a:p>
            <a:pPr algn="ctr"/>
            <a:r>
              <a:rPr lang="en-US" sz="1400" dirty="0">
                <a:latin typeface="Times New Roman" panose="02020603050405020304" pitchFamily="18" charset="0"/>
                <a:cs typeface="Times New Roman" panose="02020603050405020304" pitchFamily="18" charset="0"/>
              </a:rPr>
              <a:t>1000ms</a:t>
            </a:r>
          </a:p>
        </p:txBody>
      </p:sp>
      <p:sp>
        <p:nvSpPr>
          <p:cNvPr id="60" name="TextBox 59">
            <a:extLst>
              <a:ext uri="{FF2B5EF4-FFF2-40B4-BE49-F238E27FC236}">
                <a16:creationId xmlns:a16="http://schemas.microsoft.com/office/drawing/2014/main" id="{3786E147-8922-EE31-3F04-F6EEBAE410F6}"/>
              </a:ext>
            </a:extLst>
          </p:cNvPr>
          <p:cNvSpPr txBox="1"/>
          <p:nvPr/>
        </p:nvSpPr>
        <p:spPr>
          <a:xfrm>
            <a:off x="11304014" y="4148563"/>
            <a:ext cx="817882" cy="307777"/>
          </a:xfrm>
          <a:prstGeom prst="rect">
            <a:avLst/>
          </a:prstGeom>
          <a:noFill/>
        </p:spPr>
        <p:txBody>
          <a:bodyPr wrap="square" anchor="b">
            <a:spAutoFit/>
          </a:bodyPr>
          <a:lstStyle/>
          <a:p>
            <a:pPr algn="ctr"/>
            <a:r>
              <a:rPr lang="en-US" sz="1400" dirty="0">
                <a:latin typeface="Times New Roman" panose="02020603050405020304" pitchFamily="18" charset="0"/>
                <a:cs typeface="Times New Roman" panose="02020603050405020304" pitchFamily="18" charset="0"/>
              </a:rPr>
              <a:t>1000ms</a:t>
            </a:r>
          </a:p>
        </p:txBody>
      </p:sp>
      <p:sp>
        <p:nvSpPr>
          <p:cNvPr id="66" name="TextBox 65">
            <a:extLst>
              <a:ext uri="{FF2B5EF4-FFF2-40B4-BE49-F238E27FC236}">
                <a16:creationId xmlns:a16="http://schemas.microsoft.com/office/drawing/2014/main" id="{3732A6B1-EA4D-DEC2-FB20-83437BB53E6C}"/>
              </a:ext>
            </a:extLst>
          </p:cNvPr>
          <p:cNvSpPr txBox="1"/>
          <p:nvPr/>
        </p:nvSpPr>
        <p:spPr>
          <a:xfrm>
            <a:off x="4735959" y="3161801"/>
            <a:ext cx="532513" cy="492443"/>
          </a:xfrm>
          <a:prstGeom prst="rect">
            <a:avLst/>
          </a:prstGeom>
          <a:noFill/>
          <a:ln>
            <a:noFill/>
          </a:ln>
        </p:spPr>
        <p:txBody>
          <a:bodyPr wrap="square">
            <a:spAutoFit/>
          </a:bodyPr>
          <a:lstStyle/>
          <a:p>
            <a:pPr algn="ctr"/>
            <a:r>
              <a:rPr lang="en-US" sz="2600" dirty="0">
                <a:solidFill>
                  <a:schemeClr val="tx2"/>
                </a:solidFill>
                <a:latin typeface="Times New Roman" panose="02020603050405020304" pitchFamily="18" charset="0"/>
                <a:cs typeface="Times New Roman" panose="02020603050405020304" pitchFamily="18" charset="0"/>
              </a:rPr>
              <a:t>→</a:t>
            </a:r>
          </a:p>
        </p:txBody>
      </p:sp>
      <p:sp>
        <p:nvSpPr>
          <p:cNvPr id="67" name="TextBox 66">
            <a:extLst>
              <a:ext uri="{FF2B5EF4-FFF2-40B4-BE49-F238E27FC236}">
                <a16:creationId xmlns:a16="http://schemas.microsoft.com/office/drawing/2014/main" id="{51E8709C-6E18-0B70-C6C6-F48FCE5D398C}"/>
              </a:ext>
            </a:extLst>
          </p:cNvPr>
          <p:cNvSpPr txBox="1"/>
          <p:nvPr/>
        </p:nvSpPr>
        <p:spPr>
          <a:xfrm>
            <a:off x="6980687" y="3161801"/>
            <a:ext cx="532513" cy="492443"/>
          </a:xfrm>
          <a:prstGeom prst="rect">
            <a:avLst/>
          </a:prstGeom>
          <a:noFill/>
          <a:ln>
            <a:noFill/>
          </a:ln>
        </p:spPr>
        <p:txBody>
          <a:bodyPr wrap="square">
            <a:spAutoFit/>
          </a:bodyPr>
          <a:lstStyle/>
          <a:p>
            <a:pPr algn="ctr"/>
            <a:r>
              <a:rPr lang="en-US" sz="2600" dirty="0">
                <a:solidFill>
                  <a:schemeClr val="tx2"/>
                </a:solidFill>
                <a:latin typeface="Times New Roman" panose="02020603050405020304" pitchFamily="18" charset="0"/>
                <a:cs typeface="Times New Roman" panose="02020603050405020304" pitchFamily="18" charset="0"/>
              </a:rPr>
              <a:t>→</a:t>
            </a:r>
          </a:p>
        </p:txBody>
      </p:sp>
      <p:sp>
        <p:nvSpPr>
          <p:cNvPr id="68" name="TextBox 67">
            <a:extLst>
              <a:ext uri="{FF2B5EF4-FFF2-40B4-BE49-F238E27FC236}">
                <a16:creationId xmlns:a16="http://schemas.microsoft.com/office/drawing/2014/main" id="{ECA29458-D7F5-EAB3-6516-0D9A4A4828AB}"/>
              </a:ext>
            </a:extLst>
          </p:cNvPr>
          <p:cNvSpPr txBox="1"/>
          <p:nvPr/>
        </p:nvSpPr>
        <p:spPr>
          <a:xfrm>
            <a:off x="9235884" y="3157170"/>
            <a:ext cx="532513" cy="492443"/>
          </a:xfrm>
          <a:prstGeom prst="rect">
            <a:avLst/>
          </a:prstGeom>
          <a:noFill/>
          <a:ln>
            <a:noFill/>
          </a:ln>
        </p:spPr>
        <p:txBody>
          <a:bodyPr wrap="square">
            <a:spAutoFit/>
          </a:bodyPr>
          <a:lstStyle/>
          <a:p>
            <a:pPr algn="ctr"/>
            <a:r>
              <a:rPr lang="en-US" sz="2600" dirty="0">
                <a:solidFill>
                  <a:schemeClr val="tx2"/>
                </a:solidFill>
                <a:latin typeface="Times New Roman" panose="02020603050405020304" pitchFamily="18" charset="0"/>
                <a:cs typeface="Times New Roman" panose="02020603050405020304" pitchFamily="18" charset="0"/>
              </a:rPr>
              <a:t>→</a:t>
            </a:r>
          </a:p>
        </p:txBody>
      </p:sp>
      <p:sp>
        <p:nvSpPr>
          <p:cNvPr id="70" name="TextBox 69">
            <a:extLst>
              <a:ext uri="{FF2B5EF4-FFF2-40B4-BE49-F238E27FC236}">
                <a16:creationId xmlns:a16="http://schemas.microsoft.com/office/drawing/2014/main" id="{C67327B1-962A-4B08-C9A1-BB4A00C2E138}"/>
              </a:ext>
            </a:extLst>
          </p:cNvPr>
          <p:cNvSpPr txBox="1"/>
          <p:nvPr/>
        </p:nvSpPr>
        <p:spPr>
          <a:xfrm>
            <a:off x="9344408" y="1848901"/>
            <a:ext cx="383792" cy="369332"/>
          </a:xfrm>
          <a:prstGeom prst="rect">
            <a:avLst/>
          </a:prstGeom>
          <a:noFill/>
        </p:spPr>
        <p:txBody>
          <a:bodyPr wrap="square">
            <a:spAutoFit/>
          </a:bodyPr>
          <a:lstStyle/>
          <a:p>
            <a:r>
              <a:rPr lang="hu-HU" sz="1800" dirty="0">
                <a:latin typeface="Times New Roman" panose="02020603050405020304" pitchFamily="18" charset="0"/>
                <a:cs typeface="Times New Roman" panose="02020603050405020304" pitchFamily="18" charset="0"/>
              </a:rPr>
              <a:t>␣</a:t>
            </a:r>
            <a:endParaRPr lang="en-US" dirty="0"/>
          </a:p>
        </p:txBody>
      </p:sp>
    </p:spTree>
    <p:extLst>
      <p:ext uri="{BB962C8B-B14F-4D97-AF65-F5344CB8AC3E}">
        <p14:creationId xmlns:p14="http://schemas.microsoft.com/office/powerpoint/2010/main" val="4238959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18E0336-BD63-1957-5B03-03C82956C1BD}"/>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28</a:t>
            </a:fld>
            <a:endParaRPr lang="en-US" dirty="0"/>
          </a:p>
        </p:txBody>
      </p:sp>
      <p:sp>
        <p:nvSpPr>
          <p:cNvPr id="3" name="Title 2">
            <a:extLst>
              <a:ext uri="{FF2B5EF4-FFF2-40B4-BE49-F238E27FC236}">
                <a16:creationId xmlns:a16="http://schemas.microsoft.com/office/drawing/2014/main" id="{A498CB36-9F19-C46B-4257-A3F39B8C0E60}"/>
              </a:ext>
            </a:extLst>
          </p:cNvPr>
          <p:cNvSpPr>
            <a:spLocks noGrp="1"/>
          </p:cNvSpPr>
          <p:nvPr>
            <p:ph type="title"/>
          </p:nvPr>
        </p:nvSpPr>
        <p:spPr/>
        <p:txBody>
          <a:bodyPr>
            <a:normAutofit fontScale="90000"/>
          </a:bodyPr>
          <a:lstStyle/>
          <a:p>
            <a:r>
              <a:rPr lang="en-US" dirty="0"/>
              <a:t>Participants</a:t>
            </a:r>
          </a:p>
        </p:txBody>
      </p:sp>
      <p:sp>
        <p:nvSpPr>
          <p:cNvPr id="4" name="Content Placeholder 3">
            <a:extLst>
              <a:ext uri="{FF2B5EF4-FFF2-40B4-BE49-F238E27FC236}">
                <a16:creationId xmlns:a16="http://schemas.microsoft.com/office/drawing/2014/main" id="{5CC6FB7D-8385-6F5E-836E-AAF57B6FD8A9}"/>
              </a:ext>
            </a:extLst>
          </p:cNvPr>
          <p:cNvSpPr>
            <a:spLocks noGrp="1"/>
          </p:cNvSpPr>
          <p:nvPr>
            <p:ph idx="1"/>
          </p:nvPr>
        </p:nvSpPr>
        <p:spPr/>
        <p:txBody>
          <a:bodyPr/>
          <a:lstStyle/>
          <a:p>
            <a:r>
              <a:rPr lang="en-US" dirty="0"/>
              <a:t>Via Prolific</a:t>
            </a:r>
          </a:p>
          <a:p>
            <a:pPr lvl="1"/>
            <a:r>
              <a:rPr lang="en-US" dirty="0"/>
              <a:t>Screener: First language: Hungarian</a:t>
            </a:r>
          </a:p>
          <a:p>
            <a:r>
              <a:rPr lang="en-US" dirty="0"/>
              <a:t>35 participants recruited</a:t>
            </a:r>
          </a:p>
          <a:p>
            <a:pPr lvl="1"/>
            <a:r>
              <a:rPr lang="en-US" dirty="0"/>
              <a:t>Cleaning: 1 did not submit, 1 gave no ET data, 1 took too long, 1 failed AC, etc.</a:t>
            </a:r>
          </a:p>
          <a:p>
            <a:r>
              <a:rPr lang="en-US" dirty="0"/>
              <a:t>Took them around 25-30 minutes</a:t>
            </a:r>
          </a:p>
          <a:p>
            <a:r>
              <a:rPr lang="en-US" dirty="0"/>
              <a:t>30 valid answers/3 groups </a:t>
            </a:r>
            <a:r>
              <a:rPr lang="en-US" dirty="0">
                <a:latin typeface="Brill" panose="020F0602050406030203" pitchFamily="34" charset="0"/>
              </a:rPr>
              <a:t>→ every stimuli has </a:t>
            </a:r>
            <a:r>
              <a:rPr lang="en-US" b="1" dirty="0">
                <a:latin typeface="Brill" panose="020F0602050406030203" pitchFamily="34" charset="0"/>
              </a:rPr>
              <a:t>10</a:t>
            </a:r>
            <a:r>
              <a:rPr lang="en-US" dirty="0">
                <a:latin typeface="Brill" panose="020F0602050406030203" pitchFamily="34" charset="0"/>
              </a:rPr>
              <a:t> responses = </a:t>
            </a:r>
          </a:p>
          <a:p>
            <a:r>
              <a:rPr lang="en-US" dirty="0">
                <a:latin typeface="Brill" panose="020F0602050406030203" pitchFamily="34" charset="0"/>
              </a:rPr>
              <a:t>540 inputs.</a:t>
            </a:r>
          </a:p>
          <a:p>
            <a:r>
              <a:rPr lang="en-US" dirty="0">
                <a:latin typeface="Brill" panose="020F0602050406030203" pitchFamily="34" charset="0"/>
              </a:rPr>
              <a:t>Many people (40~45%) had technical problems.</a:t>
            </a:r>
            <a:endParaRPr lang="en-US" dirty="0"/>
          </a:p>
        </p:txBody>
      </p:sp>
    </p:spTree>
    <p:extLst>
      <p:ext uri="{BB962C8B-B14F-4D97-AF65-F5344CB8AC3E}">
        <p14:creationId xmlns:p14="http://schemas.microsoft.com/office/powerpoint/2010/main" val="2311693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a computer&#10;&#10;AI-generated content may be incorrect.">
            <a:extLst>
              <a:ext uri="{FF2B5EF4-FFF2-40B4-BE49-F238E27FC236}">
                <a16:creationId xmlns:a16="http://schemas.microsoft.com/office/drawing/2014/main" id="{F07F38B1-400F-FDCD-0561-94032B913B85}"/>
              </a:ext>
            </a:extLst>
          </p:cNvPr>
          <p:cNvPicPr>
            <a:picLocks noChangeAspect="1"/>
          </p:cNvPicPr>
          <p:nvPr/>
        </p:nvPicPr>
        <p:blipFill>
          <a:blip r:embed="rId2"/>
          <a:srcRect l="4875" r="5215" b="14063"/>
          <a:stretch>
            <a:fillRect/>
          </a:stretch>
        </p:blipFill>
        <p:spPr>
          <a:xfrm>
            <a:off x="-31785" y="2198914"/>
            <a:ext cx="12186232" cy="4659086"/>
          </a:xfrm>
          <a:prstGeom prst="rect">
            <a:avLst/>
          </a:prstGeom>
        </p:spPr>
      </p:pic>
      <p:sp>
        <p:nvSpPr>
          <p:cNvPr id="2" name="Slide Number Placeholder 1">
            <a:extLst>
              <a:ext uri="{FF2B5EF4-FFF2-40B4-BE49-F238E27FC236}">
                <a16:creationId xmlns:a16="http://schemas.microsoft.com/office/drawing/2014/main" id="{33B5F4D0-4D6C-BA43-B8CD-61F42A57E4E8}"/>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29</a:t>
            </a:fld>
            <a:endParaRPr lang="en-US" dirty="0"/>
          </a:p>
        </p:txBody>
      </p:sp>
      <p:sp>
        <p:nvSpPr>
          <p:cNvPr id="3" name="Title 2">
            <a:extLst>
              <a:ext uri="{FF2B5EF4-FFF2-40B4-BE49-F238E27FC236}">
                <a16:creationId xmlns:a16="http://schemas.microsoft.com/office/drawing/2014/main" id="{092A75C8-8732-6A28-A07E-334619A27974}"/>
              </a:ext>
            </a:extLst>
          </p:cNvPr>
          <p:cNvSpPr>
            <a:spLocks noGrp="1"/>
          </p:cNvSpPr>
          <p:nvPr>
            <p:ph type="title"/>
          </p:nvPr>
        </p:nvSpPr>
        <p:spPr/>
        <p:txBody>
          <a:bodyPr>
            <a:normAutofit fontScale="90000"/>
          </a:bodyPr>
          <a:lstStyle/>
          <a:p>
            <a:r>
              <a:rPr lang="en-US" dirty="0"/>
              <a:t>Results: Expectations &amp; Sanity check</a:t>
            </a:r>
          </a:p>
        </p:txBody>
      </p:sp>
      <p:sp>
        <p:nvSpPr>
          <p:cNvPr id="7" name="TextBox 6">
            <a:extLst>
              <a:ext uri="{FF2B5EF4-FFF2-40B4-BE49-F238E27FC236}">
                <a16:creationId xmlns:a16="http://schemas.microsoft.com/office/drawing/2014/main" id="{EA5DAF36-1C58-A2CA-E423-8F144B6C5CE2}"/>
              </a:ext>
            </a:extLst>
          </p:cNvPr>
          <p:cNvSpPr txBox="1"/>
          <p:nvPr/>
        </p:nvSpPr>
        <p:spPr>
          <a:xfrm>
            <a:off x="7854813" y="4063972"/>
            <a:ext cx="1144942" cy="1862048"/>
          </a:xfrm>
          <a:prstGeom prst="rect">
            <a:avLst/>
          </a:prstGeom>
          <a:noFill/>
        </p:spPr>
        <p:txBody>
          <a:bodyPr wrap="square" rtlCol="0">
            <a:spAutoFit/>
          </a:bodyPr>
          <a:lstStyle/>
          <a:p>
            <a:pPr algn="ctr"/>
            <a:r>
              <a:rPr lang="en-US" sz="11500" dirty="0">
                <a:solidFill>
                  <a:schemeClr val="accent1"/>
                </a:solidFill>
              </a:rPr>
              <a:t>?</a:t>
            </a:r>
          </a:p>
        </p:txBody>
      </p:sp>
      <p:sp>
        <p:nvSpPr>
          <p:cNvPr id="8" name="Rectangle: Rounded Corners 7">
            <a:extLst>
              <a:ext uri="{FF2B5EF4-FFF2-40B4-BE49-F238E27FC236}">
                <a16:creationId xmlns:a16="http://schemas.microsoft.com/office/drawing/2014/main" id="{E58CB8D2-B1C9-82DB-A262-C42DEA2D583B}"/>
              </a:ext>
            </a:extLst>
          </p:cNvPr>
          <p:cNvSpPr/>
          <p:nvPr/>
        </p:nvSpPr>
        <p:spPr>
          <a:xfrm>
            <a:off x="4985657" y="3222171"/>
            <a:ext cx="6901543" cy="3026229"/>
          </a:xfrm>
          <a:prstGeom prst="roundRect">
            <a:avLst/>
          </a:prstGeom>
          <a:noFill/>
          <a:ln w="381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p:spTree>
    <p:extLst>
      <p:ext uri="{BB962C8B-B14F-4D97-AF65-F5344CB8AC3E}">
        <p14:creationId xmlns:p14="http://schemas.microsoft.com/office/powerpoint/2010/main" val="3395735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5F843B7-BC78-F3E1-CDD1-C41EC9399C1C}"/>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30</a:t>
            </a:fld>
            <a:endParaRPr lang="en-US" dirty="0"/>
          </a:p>
        </p:txBody>
      </p:sp>
      <p:sp>
        <p:nvSpPr>
          <p:cNvPr id="3" name="Title 2">
            <a:extLst>
              <a:ext uri="{FF2B5EF4-FFF2-40B4-BE49-F238E27FC236}">
                <a16:creationId xmlns:a16="http://schemas.microsoft.com/office/drawing/2014/main" id="{AED8C514-59BD-404A-8381-A7A48B9A17FE}"/>
              </a:ext>
            </a:extLst>
          </p:cNvPr>
          <p:cNvSpPr>
            <a:spLocks noGrp="1"/>
          </p:cNvSpPr>
          <p:nvPr>
            <p:ph type="title"/>
          </p:nvPr>
        </p:nvSpPr>
        <p:spPr/>
        <p:txBody>
          <a:bodyPr>
            <a:normAutofit fontScale="90000"/>
          </a:bodyPr>
          <a:lstStyle/>
          <a:p>
            <a:r>
              <a:rPr lang="en-US" dirty="0"/>
              <a:t>Reading Times: Raw</a:t>
            </a:r>
          </a:p>
        </p:txBody>
      </p:sp>
      <p:pic>
        <p:nvPicPr>
          <p:cNvPr id="6" name="Picture 5" descr="A screenshot of a graph&#10;&#10;AI-generated content may be incorrect.">
            <a:extLst>
              <a:ext uri="{FF2B5EF4-FFF2-40B4-BE49-F238E27FC236}">
                <a16:creationId xmlns:a16="http://schemas.microsoft.com/office/drawing/2014/main" id="{3792B54F-57B1-DE80-BDF3-AA5AD08CC191}"/>
              </a:ext>
            </a:extLst>
          </p:cNvPr>
          <p:cNvPicPr>
            <a:picLocks noChangeAspect="1"/>
          </p:cNvPicPr>
          <p:nvPr/>
        </p:nvPicPr>
        <p:blipFill>
          <a:blip r:embed="rId2"/>
          <a:srcRect l="2321" r="1965"/>
          <a:stretch>
            <a:fillRect/>
          </a:stretch>
        </p:blipFill>
        <p:spPr>
          <a:xfrm>
            <a:off x="-3498" y="1752601"/>
            <a:ext cx="12216492" cy="5105400"/>
          </a:xfrm>
          <a:prstGeom prst="rect">
            <a:avLst/>
          </a:prstGeom>
        </p:spPr>
      </p:pic>
    </p:spTree>
    <p:extLst>
      <p:ext uri="{BB962C8B-B14F-4D97-AF65-F5344CB8AC3E}">
        <p14:creationId xmlns:p14="http://schemas.microsoft.com/office/powerpoint/2010/main" val="15664717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86AEE-6088-02DC-901D-F7AC6F7C957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8B9960-B14E-18A9-E493-2A42A6BDD6A5}"/>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31</a:t>
            </a:fld>
            <a:endParaRPr lang="en-US" dirty="0"/>
          </a:p>
        </p:txBody>
      </p:sp>
      <p:sp>
        <p:nvSpPr>
          <p:cNvPr id="3" name="Title 2">
            <a:extLst>
              <a:ext uri="{FF2B5EF4-FFF2-40B4-BE49-F238E27FC236}">
                <a16:creationId xmlns:a16="http://schemas.microsoft.com/office/drawing/2014/main" id="{72C815C5-2E36-4F74-B3EB-EE35A3BD8A09}"/>
              </a:ext>
            </a:extLst>
          </p:cNvPr>
          <p:cNvSpPr>
            <a:spLocks noGrp="1"/>
          </p:cNvSpPr>
          <p:nvPr>
            <p:ph type="title"/>
          </p:nvPr>
        </p:nvSpPr>
        <p:spPr/>
        <p:txBody>
          <a:bodyPr>
            <a:normAutofit fontScale="90000"/>
          </a:bodyPr>
          <a:lstStyle/>
          <a:p>
            <a:r>
              <a:rPr lang="en-US" dirty="0"/>
              <a:t>Reading Times: Means &amp; Comparison</a:t>
            </a:r>
          </a:p>
        </p:txBody>
      </p:sp>
      <p:pic>
        <p:nvPicPr>
          <p:cNvPr id="7" name="Picture 6" descr="A screenshot of a graph&#10;&#10;AI-generated content may be incorrect.">
            <a:extLst>
              <a:ext uri="{FF2B5EF4-FFF2-40B4-BE49-F238E27FC236}">
                <a16:creationId xmlns:a16="http://schemas.microsoft.com/office/drawing/2014/main" id="{486C2CD5-3870-B613-9CB4-5A9F8A18C728}"/>
              </a:ext>
            </a:extLst>
          </p:cNvPr>
          <p:cNvPicPr>
            <a:picLocks noChangeAspect="1"/>
          </p:cNvPicPr>
          <p:nvPr/>
        </p:nvPicPr>
        <p:blipFill>
          <a:blip r:embed="rId2"/>
          <a:srcRect l="3929"/>
          <a:stretch>
            <a:fillRect/>
          </a:stretch>
        </p:blipFill>
        <p:spPr>
          <a:xfrm>
            <a:off x="137340" y="1838960"/>
            <a:ext cx="12054659" cy="5019040"/>
          </a:xfrm>
          <a:prstGeom prst="rect">
            <a:avLst/>
          </a:prstGeom>
        </p:spPr>
      </p:pic>
    </p:spTree>
    <p:extLst>
      <p:ext uri="{BB962C8B-B14F-4D97-AF65-F5344CB8AC3E}">
        <p14:creationId xmlns:p14="http://schemas.microsoft.com/office/powerpoint/2010/main" val="4755984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screenshot of a graph&#10;&#10;AI-generated content may be incorrect.">
            <a:extLst>
              <a:ext uri="{FF2B5EF4-FFF2-40B4-BE49-F238E27FC236}">
                <a16:creationId xmlns:a16="http://schemas.microsoft.com/office/drawing/2014/main" id="{41B4A3AC-0492-A6E7-2266-390C9DB87BA2}"/>
              </a:ext>
            </a:extLst>
          </p:cNvPr>
          <p:cNvPicPr>
            <a:picLocks noChangeAspect="1"/>
          </p:cNvPicPr>
          <p:nvPr/>
        </p:nvPicPr>
        <p:blipFill>
          <a:blip r:embed="rId2"/>
          <a:srcRect l="7257" t="8571" r="7257" b="12572"/>
          <a:stretch>
            <a:fillRect/>
          </a:stretch>
        </p:blipFill>
        <p:spPr>
          <a:xfrm>
            <a:off x="472794" y="1173626"/>
            <a:ext cx="11316513" cy="4175614"/>
          </a:xfrm>
          <a:prstGeom prst="rect">
            <a:avLst/>
          </a:prstGeom>
        </p:spPr>
      </p:pic>
      <p:sp>
        <p:nvSpPr>
          <p:cNvPr id="2" name="Slide Number Placeholder 1">
            <a:extLst>
              <a:ext uri="{FF2B5EF4-FFF2-40B4-BE49-F238E27FC236}">
                <a16:creationId xmlns:a16="http://schemas.microsoft.com/office/drawing/2014/main" id="{8EB385B0-F7B4-CAF6-35B0-484132E7C3D1}"/>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32</a:t>
            </a:fld>
            <a:endParaRPr lang="en-US" dirty="0"/>
          </a:p>
        </p:txBody>
      </p:sp>
      <p:sp>
        <p:nvSpPr>
          <p:cNvPr id="3" name="Title 2">
            <a:extLst>
              <a:ext uri="{FF2B5EF4-FFF2-40B4-BE49-F238E27FC236}">
                <a16:creationId xmlns:a16="http://schemas.microsoft.com/office/drawing/2014/main" id="{DC9EE0C7-9A2E-F072-625F-2DA927C587EB}"/>
              </a:ext>
            </a:extLst>
          </p:cNvPr>
          <p:cNvSpPr>
            <a:spLocks noGrp="1"/>
          </p:cNvSpPr>
          <p:nvPr>
            <p:ph type="title"/>
          </p:nvPr>
        </p:nvSpPr>
        <p:spPr/>
        <p:txBody>
          <a:bodyPr>
            <a:normAutofit fontScale="90000"/>
          </a:bodyPr>
          <a:lstStyle/>
          <a:p>
            <a:r>
              <a:rPr lang="en-US" dirty="0"/>
              <a:t>Behavioral Results: Choices</a:t>
            </a:r>
          </a:p>
        </p:txBody>
      </p:sp>
      <p:sp>
        <p:nvSpPr>
          <p:cNvPr id="4" name="Content Placeholder 3">
            <a:extLst>
              <a:ext uri="{FF2B5EF4-FFF2-40B4-BE49-F238E27FC236}">
                <a16:creationId xmlns:a16="http://schemas.microsoft.com/office/drawing/2014/main" id="{14EFFE6A-DDFC-FFA5-509A-FB66B6AB90BD}"/>
              </a:ext>
            </a:extLst>
          </p:cNvPr>
          <p:cNvSpPr>
            <a:spLocks noGrp="1"/>
          </p:cNvSpPr>
          <p:nvPr>
            <p:ph idx="1"/>
          </p:nvPr>
        </p:nvSpPr>
        <p:spPr>
          <a:xfrm>
            <a:off x="472793" y="5349240"/>
            <a:ext cx="11246413" cy="1508760"/>
          </a:xfrm>
        </p:spPr>
        <p:txBody>
          <a:bodyPr>
            <a:normAutofit/>
          </a:bodyPr>
          <a:lstStyle/>
          <a:p>
            <a:pPr>
              <a:lnSpc>
                <a:spcPct val="120000"/>
              </a:lnSpc>
              <a:spcBef>
                <a:spcPts val="0"/>
              </a:spcBef>
            </a:pPr>
            <a:r>
              <a:rPr lang="en-US" sz="2400" dirty="0"/>
              <a:t>People treated typical focus sentences just like the ‘only’-restricted, explicitly exclusive ones.</a:t>
            </a:r>
          </a:p>
          <a:p>
            <a:pPr>
              <a:lnSpc>
                <a:spcPct val="120000"/>
              </a:lnSpc>
              <a:spcBef>
                <a:spcPts val="0"/>
              </a:spcBef>
            </a:pPr>
            <a:r>
              <a:rPr lang="en-US" sz="2400" dirty="0" err="1"/>
              <a:t>Contrastivity</a:t>
            </a:r>
            <a:r>
              <a:rPr lang="en-US" sz="2400" dirty="0"/>
              <a:t> in the sentences (‘amongst others’) did not forbid the exhaustive type choice. </a:t>
            </a:r>
          </a:p>
        </p:txBody>
      </p:sp>
    </p:spTree>
    <p:extLst>
      <p:ext uri="{BB962C8B-B14F-4D97-AF65-F5344CB8AC3E}">
        <p14:creationId xmlns:p14="http://schemas.microsoft.com/office/powerpoint/2010/main" val="11835452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 shot of a computer&#10;&#10;AI-generated content may be incorrect.">
            <a:extLst>
              <a:ext uri="{FF2B5EF4-FFF2-40B4-BE49-F238E27FC236}">
                <a16:creationId xmlns:a16="http://schemas.microsoft.com/office/drawing/2014/main" id="{4C933072-4577-3875-32FA-52F570AF9B0C}"/>
              </a:ext>
            </a:extLst>
          </p:cNvPr>
          <p:cNvPicPr>
            <a:picLocks noChangeAspect="1"/>
          </p:cNvPicPr>
          <p:nvPr/>
        </p:nvPicPr>
        <p:blipFill>
          <a:blip r:embed="rId2"/>
          <a:srcRect t="1289" b="66667"/>
          <a:stretch>
            <a:fillRect/>
          </a:stretch>
        </p:blipFill>
        <p:spPr>
          <a:xfrm>
            <a:off x="4164969" y="37396"/>
            <a:ext cx="2849466" cy="6695871"/>
          </a:xfrm>
          <a:prstGeom prst="rect">
            <a:avLst/>
          </a:prstGeom>
        </p:spPr>
      </p:pic>
      <p:pic>
        <p:nvPicPr>
          <p:cNvPr id="9" name="Picture 8" descr="A screen shot of a computer&#10;&#10;AI-generated content may be incorrect.">
            <a:extLst>
              <a:ext uri="{FF2B5EF4-FFF2-40B4-BE49-F238E27FC236}">
                <a16:creationId xmlns:a16="http://schemas.microsoft.com/office/drawing/2014/main" id="{AA40DE6C-16E1-8B4A-E29D-E89BDF7CCA7C}"/>
              </a:ext>
            </a:extLst>
          </p:cNvPr>
          <p:cNvPicPr>
            <a:picLocks noChangeAspect="1"/>
          </p:cNvPicPr>
          <p:nvPr/>
        </p:nvPicPr>
        <p:blipFill>
          <a:blip r:embed="rId2"/>
          <a:srcRect t="33651" b="33492"/>
          <a:stretch>
            <a:fillRect/>
          </a:stretch>
        </p:blipFill>
        <p:spPr>
          <a:xfrm>
            <a:off x="6842430" y="-7857"/>
            <a:ext cx="2849466" cy="6865857"/>
          </a:xfrm>
          <a:prstGeom prst="rect">
            <a:avLst/>
          </a:prstGeom>
        </p:spPr>
      </p:pic>
      <p:pic>
        <p:nvPicPr>
          <p:cNvPr id="10" name="Picture 9" descr="A screen shot of a computer&#10;&#10;AI-generated content may be incorrect.">
            <a:extLst>
              <a:ext uri="{FF2B5EF4-FFF2-40B4-BE49-F238E27FC236}">
                <a16:creationId xmlns:a16="http://schemas.microsoft.com/office/drawing/2014/main" id="{955D21C4-AC6B-B7FB-05C8-3015F995BF38}"/>
              </a:ext>
            </a:extLst>
          </p:cNvPr>
          <p:cNvPicPr>
            <a:picLocks noChangeAspect="1"/>
          </p:cNvPicPr>
          <p:nvPr/>
        </p:nvPicPr>
        <p:blipFill>
          <a:blip r:embed="rId2"/>
          <a:srcRect t="66246"/>
          <a:stretch>
            <a:fillRect/>
          </a:stretch>
        </p:blipFill>
        <p:spPr>
          <a:xfrm>
            <a:off x="9436691" y="-7857"/>
            <a:ext cx="2770549" cy="6858000"/>
          </a:xfrm>
          <a:prstGeom prst="rect">
            <a:avLst/>
          </a:prstGeom>
        </p:spPr>
      </p:pic>
      <p:sp>
        <p:nvSpPr>
          <p:cNvPr id="2" name="Slide Number Placeholder 1">
            <a:extLst>
              <a:ext uri="{FF2B5EF4-FFF2-40B4-BE49-F238E27FC236}">
                <a16:creationId xmlns:a16="http://schemas.microsoft.com/office/drawing/2014/main" id="{A09C6E72-85B6-874C-EF63-2C82F49D5A29}"/>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33</a:t>
            </a:fld>
            <a:endParaRPr lang="en-US" dirty="0"/>
          </a:p>
        </p:txBody>
      </p:sp>
      <p:sp>
        <p:nvSpPr>
          <p:cNvPr id="3" name="Title 2">
            <a:extLst>
              <a:ext uri="{FF2B5EF4-FFF2-40B4-BE49-F238E27FC236}">
                <a16:creationId xmlns:a16="http://schemas.microsoft.com/office/drawing/2014/main" id="{B8E5BBBE-9539-A109-324A-98F98BCD5FCE}"/>
              </a:ext>
            </a:extLst>
          </p:cNvPr>
          <p:cNvSpPr>
            <a:spLocks noGrp="1"/>
          </p:cNvSpPr>
          <p:nvPr>
            <p:ph type="title"/>
          </p:nvPr>
        </p:nvSpPr>
        <p:spPr>
          <a:xfrm>
            <a:off x="1261872" y="384049"/>
            <a:ext cx="9692640" cy="1207676"/>
          </a:xfrm>
        </p:spPr>
        <p:txBody>
          <a:bodyPr>
            <a:normAutofit/>
          </a:bodyPr>
          <a:lstStyle/>
          <a:p>
            <a:r>
              <a:rPr lang="en-US" sz="4000" dirty="0"/>
              <a:t>Eye-Tracking</a:t>
            </a:r>
            <a:br>
              <a:rPr lang="en-US" sz="4000" dirty="0"/>
            </a:br>
            <a:endParaRPr lang="en-US" sz="4000" dirty="0"/>
          </a:p>
        </p:txBody>
      </p:sp>
      <p:sp>
        <p:nvSpPr>
          <p:cNvPr id="4" name="Content Placeholder 3">
            <a:extLst>
              <a:ext uri="{FF2B5EF4-FFF2-40B4-BE49-F238E27FC236}">
                <a16:creationId xmlns:a16="http://schemas.microsoft.com/office/drawing/2014/main" id="{B397352C-30E6-BDE5-B0CF-AD56744B5FEC}"/>
              </a:ext>
            </a:extLst>
          </p:cNvPr>
          <p:cNvSpPr>
            <a:spLocks noGrp="1"/>
          </p:cNvSpPr>
          <p:nvPr>
            <p:ph idx="1"/>
          </p:nvPr>
        </p:nvSpPr>
        <p:spPr>
          <a:xfrm>
            <a:off x="1261871" y="1698170"/>
            <a:ext cx="2903098" cy="4794069"/>
          </a:xfrm>
        </p:spPr>
        <p:txBody>
          <a:bodyPr/>
          <a:lstStyle/>
          <a:p>
            <a:r>
              <a:rPr lang="en-US" dirty="0"/>
              <a:t>Data as </a:t>
            </a:r>
            <a:br>
              <a:rPr lang="en-US" dirty="0"/>
            </a:br>
            <a:r>
              <a:rPr lang="en-US" dirty="0"/>
              <a:t>stacked dwell time segments</a:t>
            </a:r>
            <a:br>
              <a:rPr lang="en-US" dirty="0"/>
            </a:br>
            <a:r>
              <a:rPr lang="en-US" dirty="0"/>
              <a:t>…</a:t>
            </a:r>
          </a:p>
          <a:p>
            <a:endParaRPr lang="en-US" dirty="0"/>
          </a:p>
          <a:p>
            <a:endParaRPr lang="en-US" dirty="0"/>
          </a:p>
          <a:p>
            <a:r>
              <a:rPr lang="en-US" dirty="0">
                <a:solidFill>
                  <a:schemeClr val="accent6"/>
                </a:solidFill>
              </a:rPr>
              <a:t>Blue</a:t>
            </a:r>
            <a:r>
              <a:rPr lang="en-US" dirty="0"/>
              <a:t> = Left AOI</a:t>
            </a:r>
          </a:p>
          <a:p>
            <a:r>
              <a:rPr lang="en-US" dirty="0">
                <a:solidFill>
                  <a:schemeClr val="accent1"/>
                </a:solidFill>
              </a:rPr>
              <a:t>Green</a:t>
            </a:r>
            <a:r>
              <a:rPr lang="en-US" dirty="0"/>
              <a:t> = Right AOI</a:t>
            </a:r>
          </a:p>
        </p:txBody>
      </p:sp>
    </p:spTree>
    <p:extLst>
      <p:ext uri="{BB962C8B-B14F-4D97-AF65-F5344CB8AC3E}">
        <p14:creationId xmlns:p14="http://schemas.microsoft.com/office/powerpoint/2010/main" val="25560476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AA755A8-22FD-3C6D-DDCD-939AFCF84309}"/>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34</a:t>
            </a:fld>
            <a:endParaRPr lang="en-US" dirty="0"/>
          </a:p>
        </p:txBody>
      </p:sp>
      <p:sp>
        <p:nvSpPr>
          <p:cNvPr id="3" name="Title 2">
            <a:extLst>
              <a:ext uri="{FF2B5EF4-FFF2-40B4-BE49-F238E27FC236}">
                <a16:creationId xmlns:a16="http://schemas.microsoft.com/office/drawing/2014/main" id="{4EE945DB-995E-3F0B-9973-7942D33078F6}"/>
              </a:ext>
            </a:extLst>
          </p:cNvPr>
          <p:cNvSpPr>
            <a:spLocks noGrp="1"/>
          </p:cNvSpPr>
          <p:nvPr>
            <p:ph type="title"/>
          </p:nvPr>
        </p:nvSpPr>
        <p:spPr/>
        <p:txBody>
          <a:bodyPr>
            <a:normAutofit fontScale="90000"/>
          </a:bodyPr>
          <a:lstStyle/>
          <a:p>
            <a:r>
              <a:rPr lang="en-US" dirty="0"/>
              <a:t>Eye-Tracking: Cleaning &amp; Classification</a:t>
            </a:r>
          </a:p>
        </p:txBody>
      </p:sp>
      <p:sp>
        <p:nvSpPr>
          <p:cNvPr id="4" name="Content Placeholder 3">
            <a:extLst>
              <a:ext uri="{FF2B5EF4-FFF2-40B4-BE49-F238E27FC236}">
                <a16:creationId xmlns:a16="http://schemas.microsoft.com/office/drawing/2014/main" id="{3D0266F2-DF35-D7E3-9EF9-D6286D56D9E9}"/>
              </a:ext>
            </a:extLst>
          </p:cNvPr>
          <p:cNvSpPr>
            <a:spLocks noGrp="1"/>
          </p:cNvSpPr>
          <p:nvPr>
            <p:ph idx="1"/>
          </p:nvPr>
        </p:nvSpPr>
        <p:spPr>
          <a:xfrm>
            <a:off x="1261871" y="1473200"/>
            <a:ext cx="9893809" cy="5019040"/>
          </a:xfrm>
        </p:spPr>
        <p:txBody>
          <a:bodyPr/>
          <a:lstStyle/>
          <a:p>
            <a:r>
              <a:rPr lang="en-US" dirty="0"/>
              <a:t>We have simple, static AOIs; relatively clean gaze data</a:t>
            </a:r>
          </a:p>
          <a:p>
            <a:r>
              <a:rPr lang="hu-HU" b="1" dirty="0" err="1"/>
              <a:t>Identification</a:t>
            </a:r>
            <a:r>
              <a:rPr lang="hu-HU" b="1" dirty="0"/>
              <a:t> </a:t>
            </a:r>
            <a:r>
              <a:rPr lang="hu-HU" b="1" dirty="0" err="1"/>
              <a:t>by</a:t>
            </a:r>
            <a:r>
              <a:rPr lang="hu-HU" b="1" dirty="0"/>
              <a:t> </a:t>
            </a:r>
            <a:r>
              <a:rPr lang="hu-HU" b="1" dirty="0" err="1"/>
              <a:t>Dispersion-Threshold</a:t>
            </a:r>
            <a:r>
              <a:rPr lang="hu-HU" b="1" dirty="0"/>
              <a:t> (I</a:t>
            </a:r>
            <a:r>
              <a:rPr lang="en-US" b="1" dirty="0"/>
              <a:t>-</a:t>
            </a:r>
            <a:r>
              <a:rPr lang="hu-HU" b="1" dirty="0"/>
              <a:t>DT)</a:t>
            </a:r>
            <a:r>
              <a:rPr lang="en-US" b="1" dirty="0"/>
              <a:t> </a:t>
            </a:r>
            <a:r>
              <a:rPr lang="en-US" dirty="0"/>
              <a:t>algorithm</a:t>
            </a:r>
          </a:p>
          <a:p>
            <a:pPr lvl="1"/>
            <a:r>
              <a:rPr lang="en-US" dirty="0"/>
              <a:t>Good for low- to mid-frequency eye trackers; static stimuli; simple</a:t>
            </a:r>
          </a:p>
          <a:p>
            <a:pPr lvl="1"/>
            <a:r>
              <a:rPr lang="en-US"/>
              <a:t>Cleans noise/jitter </a:t>
            </a:r>
            <a:endParaRPr lang="en-US" dirty="0"/>
          </a:p>
          <a:p>
            <a:r>
              <a:rPr lang="en-US" dirty="0"/>
              <a:t>Merge/remove very short fixations and rapid saccades that arise from tracker inaccuracies and are not real gazes</a:t>
            </a:r>
          </a:p>
          <a:p>
            <a:pPr lvl="1"/>
            <a:r>
              <a:rPr lang="en-US" dirty="0"/>
              <a:t>Threshold: </a:t>
            </a:r>
            <a:r>
              <a:rPr lang="en-US" dirty="0">
                <a:solidFill>
                  <a:schemeClr val="accent2"/>
                </a:solidFill>
              </a:rPr>
              <a:t>100ms</a:t>
            </a:r>
            <a:r>
              <a:rPr lang="en-US" dirty="0"/>
              <a:t> or less (can be adjusted)</a:t>
            </a:r>
          </a:p>
          <a:p>
            <a:endParaRPr lang="en-US" dirty="0"/>
          </a:p>
          <a:p>
            <a:endParaRPr lang="en-US" dirty="0"/>
          </a:p>
          <a:p>
            <a:endParaRPr lang="en-US" dirty="0"/>
          </a:p>
        </p:txBody>
      </p:sp>
    </p:spTree>
    <p:extLst>
      <p:ext uri="{BB962C8B-B14F-4D97-AF65-F5344CB8AC3E}">
        <p14:creationId xmlns:p14="http://schemas.microsoft.com/office/powerpoint/2010/main" val="2765333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screenshot of a computer&#10;&#10;AI-generated content may be incorrect.">
            <a:extLst>
              <a:ext uri="{FF2B5EF4-FFF2-40B4-BE49-F238E27FC236}">
                <a16:creationId xmlns:a16="http://schemas.microsoft.com/office/drawing/2014/main" id="{524D1477-6C14-9AC8-4A09-D110550EB190}"/>
              </a:ext>
            </a:extLst>
          </p:cNvPr>
          <p:cNvPicPr>
            <a:picLocks noChangeAspect="1"/>
          </p:cNvPicPr>
          <p:nvPr/>
        </p:nvPicPr>
        <p:blipFill>
          <a:blip r:embed="rId2"/>
          <a:srcRect t="11270" r="12063" b="2539"/>
          <a:stretch>
            <a:fillRect/>
          </a:stretch>
        </p:blipFill>
        <p:spPr>
          <a:xfrm>
            <a:off x="6361611" y="1128440"/>
            <a:ext cx="5845629" cy="5729560"/>
          </a:xfrm>
          <a:prstGeom prst="rect">
            <a:avLst/>
          </a:prstGeom>
        </p:spPr>
      </p:pic>
      <p:pic>
        <p:nvPicPr>
          <p:cNvPr id="12" name="Picture 11" descr="A screenshot of a computer&#10;&#10;AI-generated content may be incorrect.">
            <a:extLst>
              <a:ext uri="{FF2B5EF4-FFF2-40B4-BE49-F238E27FC236}">
                <a16:creationId xmlns:a16="http://schemas.microsoft.com/office/drawing/2014/main" id="{9FA5818A-D425-5CD3-7E34-DA0863D934C9}"/>
              </a:ext>
            </a:extLst>
          </p:cNvPr>
          <p:cNvPicPr>
            <a:picLocks noChangeAspect="1"/>
          </p:cNvPicPr>
          <p:nvPr/>
        </p:nvPicPr>
        <p:blipFill>
          <a:blip r:embed="rId3"/>
          <a:srcRect t="10564" r="11737" b="3113"/>
          <a:stretch>
            <a:fillRect/>
          </a:stretch>
        </p:blipFill>
        <p:spPr>
          <a:xfrm>
            <a:off x="0" y="1128440"/>
            <a:ext cx="5858284" cy="5729560"/>
          </a:xfrm>
          <a:prstGeom prst="rect">
            <a:avLst/>
          </a:prstGeom>
        </p:spPr>
      </p:pic>
      <p:sp>
        <p:nvSpPr>
          <p:cNvPr id="2" name="Slide Number Placeholder 1">
            <a:extLst>
              <a:ext uri="{FF2B5EF4-FFF2-40B4-BE49-F238E27FC236}">
                <a16:creationId xmlns:a16="http://schemas.microsoft.com/office/drawing/2014/main" id="{92CEF6CA-C1B4-A163-F5CD-06E936BB5244}"/>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35</a:t>
            </a:fld>
            <a:endParaRPr lang="en-US" dirty="0"/>
          </a:p>
        </p:txBody>
      </p:sp>
      <p:sp>
        <p:nvSpPr>
          <p:cNvPr id="3" name="Title 2">
            <a:extLst>
              <a:ext uri="{FF2B5EF4-FFF2-40B4-BE49-F238E27FC236}">
                <a16:creationId xmlns:a16="http://schemas.microsoft.com/office/drawing/2014/main" id="{36543BA2-CDF4-F1A3-9A0D-58F57F8046F4}"/>
              </a:ext>
            </a:extLst>
          </p:cNvPr>
          <p:cNvSpPr>
            <a:spLocks noGrp="1"/>
          </p:cNvSpPr>
          <p:nvPr>
            <p:ph type="title"/>
          </p:nvPr>
        </p:nvSpPr>
        <p:spPr>
          <a:xfrm>
            <a:off x="827314" y="365761"/>
            <a:ext cx="10127198" cy="684106"/>
          </a:xfrm>
        </p:spPr>
        <p:txBody>
          <a:bodyPr>
            <a:normAutofit fontScale="90000"/>
          </a:bodyPr>
          <a:lstStyle/>
          <a:p>
            <a:r>
              <a:rPr lang="en-US" dirty="0"/>
              <a:t>Raw						    Classified</a:t>
            </a:r>
          </a:p>
        </p:txBody>
      </p:sp>
    </p:spTree>
    <p:extLst>
      <p:ext uri="{BB962C8B-B14F-4D97-AF65-F5344CB8AC3E}">
        <p14:creationId xmlns:p14="http://schemas.microsoft.com/office/powerpoint/2010/main" val="39698291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2E17B-9BAA-89E5-4745-0E1C1E41023B}"/>
            </a:ext>
          </a:extLst>
        </p:cNvPr>
        <p:cNvGrpSpPr/>
        <p:nvPr/>
      </p:nvGrpSpPr>
      <p:grpSpPr>
        <a:xfrm>
          <a:off x="0" y="0"/>
          <a:ext cx="0" cy="0"/>
          <a:chOff x="0" y="0"/>
          <a:chExt cx="0" cy="0"/>
        </a:xfrm>
      </p:grpSpPr>
      <p:pic>
        <p:nvPicPr>
          <p:cNvPr id="10" name="Picture 9" descr="A screenshot of a computer&#10;&#10;AI-generated content may be incorrect.">
            <a:extLst>
              <a:ext uri="{FF2B5EF4-FFF2-40B4-BE49-F238E27FC236}">
                <a16:creationId xmlns:a16="http://schemas.microsoft.com/office/drawing/2014/main" id="{6B94DEB2-68D3-E174-AC3A-0BDB069F736C}"/>
              </a:ext>
            </a:extLst>
          </p:cNvPr>
          <p:cNvPicPr>
            <a:picLocks noChangeAspect="1"/>
          </p:cNvPicPr>
          <p:nvPr/>
        </p:nvPicPr>
        <p:blipFill>
          <a:blip r:embed="rId2"/>
          <a:srcRect t="11270" r="12063" b="2539"/>
          <a:stretch>
            <a:fillRect/>
          </a:stretch>
        </p:blipFill>
        <p:spPr>
          <a:xfrm>
            <a:off x="6361611" y="1128440"/>
            <a:ext cx="5845629" cy="5729560"/>
          </a:xfrm>
          <a:prstGeom prst="rect">
            <a:avLst/>
          </a:prstGeom>
        </p:spPr>
      </p:pic>
      <p:pic>
        <p:nvPicPr>
          <p:cNvPr id="12" name="Picture 11" descr="A screenshot of a computer&#10;&#10;AI-generated content may be incorrect.">
            <a:extLst>
              <a:ext uri="{FF2B5EF4-FFF2-40B4-BE49-F238E27FC236}">
                <a16:creationId xmlns:a16="http://schemas.microsoft.com/office/drawing/2014/main" id="{5682A3C5-91A2-24A9-A64D-BA13B1E7435A}"/>
              </a:ext>
            </a:extLst>
          </p:cNvPr>
          <p:cNvPicPr>
            <a:picLocks noChangeAspect="1"/>
          </p:cNvPicPr>
          <p:nvPr/>
        </p:nvPicPr>
        <p:blipFill>
          <a:blip r:embed="rId3"/>
          <a:srcRect t="10564" r="11737" b="3113"/>
          <a:stretch>
            <a:fillRect/>
          </a:stretch>
        </p:blipFill>
        <p:spPr>
          <a:xfrm>
            <a:off x="0" y="1128440"/>
            <a:ext cx="5858284" cy="5729560"/>
          </a:xfrm>
          <a:prstGeom prst="rect">
            <a:avLst/>
          </a:prstGeom>
        </p:spPr>
      </p:pic>
      <p:sp>
        <p:nvSpPr>
          <p:cNvPr id="2" name="Slide Number Placeholder 1">
            <a:extLst>
              <a:ext uri="{FF2B5EF4-FFF2-40B4-BE49-F238E27FC236}">
                <a16:creationId xmlns:a16="http://schemas.microsoft.com/office/drawing/2014/main" id="{BA276C80-307D-546D-B8A8-6FADBE3A60FC}"/>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36</a:t>
            </a:fld>
            <a:endParaRPr lang="en-US" dirty="0"/>
          </a:p>
        </p:txBody>
      </p:sp>
      <p:sp>
        <p:nvSpPr>
          <p:cNvPr id="3" name="Title 2">
            <a:extLst>
              <a:ext uri="{FF2B5EF4-FFF2-40B4-BE49-F238E27FC236}">
                <a16:creationId xmlns:a16="http://schemas.microsoft.com/office/drawing/2014/main" id="{37476211-C098-3BDD-EF53-62D72D02208A}"/>
              </a:ext>
            </a:extLst>
          </p:cNvPr>
          <p:cNvSpPr>
            <a:spLocks noGrp="1"/>
          </p:cNvSpPr>
          <p:nvPr>
            <p:ph type="title"/>
          </p:nvPr>
        </p:nvSpPr>
        <p:spPr>
          <a:xfrm>
            <a:off x="827314" y="365761"/>
            <a:ext cx="10127198" cy="684106"/>
          </a:xfrm>
        </p:spPr>
        <p:txBody>
          <a:bodyPr>
            <a:normAutofit fontScale="90000"/>
          </a:bodyPr>
          <a:lstStyle/>
          <a:p>
            <a:r>
              <a:rPr lang="en-US" dirty="0"/>
              <a:t>Raw						    Classified</a:t>
            </a:r>
          </a:p>
        </p:txBody>
      </p:sp>
      <p:sp>
        <p:nvSpPr>
          <p:cNvPr id="5" name="TextBox 4">
            <a:extLst>
              <a:ext uri="{FF2B5EF4-FFF2-40B4-BE49-F238E27FC236}">
                <a16:creationId xmlns:a16="http://schemas.microsoft.com/office/drawing/2014/main" id="{403AA71B-8B3B-7CB4-42DA-627984DA75FB}"/>
              </a:ext>
            </a:extLst>
          </p:cNvPr>
          <p:cNvSpPr txBox="1"/>
          <p:nvPr/>
        </p:nvSpPr>
        <p:spPr>
          <a:xfrm>
            <a:off x="3742180" y="6172200"/>
            <a:ext cx="5085046" cy="646331"/>
          </a:xfrm>
          <a:prstGeom prst="rect">
            <a:avLst/>
          </a:prstGeom>
          <a:noFill/>
        </p:spPr>
        <p:txBody>
          <a:bodyPr wrap="none" rtlCol="0">
            <a:spAutoFit/>
          </a:bodyPr>
          <a:lstStyle/>
          <a:p>
            <a:r>
              <a:rPr lang="en-US" sz="3600" dirty="0">
                <a:solidFill>
                  <a:schemeClr val="accent4"/>
                </a:solidFill>
              </a:rPr>
              <a:t>Need to be double-checked!</a:t>
            </a:r>
          </a:p>
        </p:txBody>
      </p:sp>
    </p:spTree>
    <p:extLst>
      <p:ext uri="{BB962C8B-B14F-4D97-AF65-F5344CB8AC3E}">
        <p14:creationId xmlns:p14="http://schemas.microsoft.com/office/powerpoint/2010/main" val="2369541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B0A29-CEBE-6F79-806A-FAF73BD5784D}"/>
            </a:ext>
          </a:extLst>
        </p:cNvPr>
        <p:cNvGrpSpPr/>
        <p:nvPr/>
      </p:nvGrpSpPr>
      <p:grpSpPr>
        <a:xfrm>
          <a:off x="0" y="0"/>
          <a:ext cx="0" cy="0"/>
          <a:chOff x="0" y="0"/>
          <a:chExt cx="0" cy="0"/>
        </a:xfrm>
      </p:grpSpPr>
      <p:pic>
        <p:nvPicPr>
          <p:cNvPr id="10" name="Picture 9" descr="A screenshot of a computer&#10;&#10;AI-generated content may be incorrect.">
            <a:extLst>
              <a:ext uri="{FF2B5EF4-FFF2-40B4-BE49-F238E27FC236}">
                <a16:creationId xmlns:a16="http://schemas.microsoft.com/office/drawing/2014/main" id="{712AE24C-58FD-D692-DD55-183CB9225EAC}"/>
              </a:ext>
            </a:extLst>
          </p:cNvPr>
          <p:cNvPicPr>
            <a:picLocks noChangeAspect="1"/>
          </p:cNvPicPr>
          <p:nvPr/>
        </p:nvPicPr>
        <p:blipFill>
          <a:blip r:embed="rId2"/>
          <a:srcRect t="11270" r="12063" b="2539"/>
          <a:stretch>
            <a:fillRect/>
          </a:stretch>
        </p:blipFill>
        <p:spPr>
          <a:xfrm>
            <a:off x="5214258" y="3868"/>
            <a:ext cx="6992984" cy="6854133"/>
          </a:xfrm>
          <a:prstGeom prst="rect">
            <a:avLst/>
          </a:prstGeom>
        </p:spPr>
      </p:pic>
      <p:sp>
        <p:nvSpPr>
          <p:cNvPr id="2" name="Slide Number Placeholder 1">
            <a:extLst>
              <a:ext uri="{FF2B5EF4-FFF2-40B4-BE49-F238E27FC236}">
                <a16:creationId xmlns:a16="http://schemas.microsoft.com/office/drawing/2014/main" id="{6A3911A4-41DC-237F-B789-E8BCF62055CB}"/>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37</a:t>
            </a:fld>
            <a:endParaRPr lang="en-US" dirty="0"/>
          </a:p>
        </p:txBody>
      </p:sp>
      <p:sp>
        <p:nvSpPr>
          <p:cNvPr id="3" name="Title 2">
            <a:extLst>
              <a:ext uri="{FF2B5EF4-FFF2-40B4-BE49-F238E27FC236}">
                <a16:creationId xmlns:a16="http://schemas.microsoft.com/office/drawing/2014/main" id="{9586A2E7-3800-FD57-6CBE-520D806BF643}"/>
              </a:ext>
            </a:extLst>
          </p:cNvPr>
          <p:cNvSpPr>
            <a:spLocks noGrp="1"/>
          </p:cNvSpPr>
          <p:nvPr>
            <p:ph type="title"/>
          </p:nvPr>
        </p:nvSpPr>
        <p:spPr>
          <a:xfrm>
            <a:off x="827314" y="365761"/>
            <a:ext cx="10127198" cy="684106"/>
          </a:xfrm>
        </p:spPr>
        <p:txBody>
          <a:bodyPr>
            <a:normAutofit fontScale="90000"/>
          </a:bodyPr>
          <a:lstStyle/>
          <a:p>
            <a:r>
              <a:rPr lang="en-US" dirty="0"/>
              <a:t>						</a:t>
            </a:r>
          </a:p>
        </p:txBody>
      </p:sp>
      <p:pic>
        <p:nvPicPr>
          <p:cNvPr id="4" name="Picture 3" descr="A banana on a white surface&#10;&#10;AI-generated content may be incorrect.">
            <a:extLst>
              <a:ext uri="{FF2B5EF4-FFF2-40B4-BE49-F238E27FC236}">
                <a16:creationId xmlns:a16="http://schemas.microsoft.com/office/drawing/2014/main" id="{11D1F256-D234-F821-88C6-E8F58473825E}"/>
              </a:ext>
            </a:extLst>
          </p:cNvPr>
          <p:cNvPicPr>
            <a:picLocks noChangeAspect="1"/>
          </p:cNvPicPr>
          <p:nvPr/>
        </p:nvPicPr>
        <p:blipFill>
          <a:blip r:embed="rId3"/>
          <a:stretch>
            <a:fillRect/>
          </a:stretch>
        </p:blipFill>
        <p:spPr>
          <a:xfrm>
            <a:off x="447616" y="365761"/>
            <a:ext cx="2653505" cy="2653505"/>
          </a:xfrm>
          <a:prstGeom prst="rect">
            <a:avLst/>
          </a:prstGeom>
          <a:ln>
            <a:noFill/>
          </a:ln>
          <a:effectLst>
            <a:outerShdw blurRad="292100" dist="139700" dir="2700000" algn="tl" rotWithShape="0">
              <a:srgbClr val="333333">
                <a:alpha val="65000"/>
              </a:srgbClr>
            </a:outerShdw>
          </a:effectLst>
        </p:spPr>
      </p:pic>
      <p:pic>
        <p:nvPicPr>
          <p:cNvPr id="6" name="Picture 5" descr="A banana and grapes next to a red apple&#10;&#10;AI-generated content may be incorrect.">
            <a:extLst>
              <a:ext uri="{FF2B5EF4-FFF2-40B4-BE49-F238E27FC236}">
                <a16:creationId xmlns:a16="http://schemas.microsoft.com/office/drawing/2014/main" id="{A9031C4F-C677-0F58-E4A6-BD3DB42E1365}"/>
              </a:ext>
            </a:extLst>
          </p:cNvPr>
          <p:cNvPicPr>
            <a:picLocks noChangeAspect="1"/>
          </p:cNvPicPr>
          <p:nvPr/>
        </p:nvPicPr>
        <p:blipFill>
          <a:blip r:embed="rId4"/>
          <a:stretch>
            <a:fillRect/>
          </a:stretch>
        </p:blipFill>
        <p:spPr>
          <a:xfrm>
            <a:off x="447616" y="3838734"/>
            <a:ext cx="2653505" cy="2653505"/>
          </a:xfrm>
          <a:prstGeom prst="rect">
            <a:avLst/>
          </a:prstGeom>
          <a:ln>
            <a:noFill/>
          </a:ln>
          <a:effectLst>
            <a:outerShdw blurRad="292100" dist="139700" dir="2700000" algn="tl" rotWithShape="0">
              <a:srgbClr val="333333">
                <a:alpha val="65000"/>
              </a:srgbClr>
            </a:outerShdw>
          </a:effectLst>
        </p:spPr>
      </p:pic>
      <p:sp>
        <p:nvSpPr>
          <p:cNvPr id="7" name="Title 2">
            <a:extLst>
              <a:ext uri="{FF2B5EF4-FFF2-40B4-BE49-F238E27FC236}">
                <a16:creationId xmlns:a16="http://schemas.microsoft.com/office/drawing/2014/main" id="{7D760D0D-2834-D7A0-BB17-949EF4FECAE0}"/>
              </a:ext>
            </a:extLst>
          </p:cNvPr>
          <p:cNvSpPr txBox="1">
            <a:spLocks/>
          </p:cNvSpPr>
          <p:nvPr/>
        </p:nvSpPr>
        <p:spPr>
          <a:xfrm>
            <a:off x="3695480" y="518161"/>
            <a:ext cx="7091391" cy="684106"/>
          </a:xfrm>
          <a:prstGeom prst="rect">
            <a:avLst/>
          </a:prstGeom>
        </p:spPr>
        <p:txBody>
          <a:bodyPr vert="horz" lIns="91440" tIns="45720" rIns="91440" bIns="45720" rtlCol="0" anchor="b">
            <a:normAutofit fontScale="97500" lnSpcReduction="10000"/>
          </a:bodyPr>
          <a:lst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a:lstStyle>
          <a:p>
            <a:r>
              <a:rPr lang="en-US" dirty="0"/>
              <a:t>Item 1</a:t>
            </a:r>
          </a:p>
        </p:txBody>
      </p:sp>
    </p:spTree>
    <p:extLst>
      <p:ext uri="{BB962C8B-B14F-4D97-AF65-F5344CB8AC3E}">
        <p14:creationId xmlns:p14="http://schemas.microsoft.com/office/powerpoint/2010/main" val="16162190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a computer&#10;&#10;AI-generated content may be incorrect.">
            <a:extLst>
              <a:ext uri="{FF2B5EF4-FFF2-40B4-BE49-F238E27FC236}">
                <a16:creationId xmlns:a16="http://schemas.microsoft.com/office/drawing/2014/main" id="{C93F0BE2-C735-5A2C-8E17-B5789ABF7AE0}"/>
              </a:ext>
            </a:extLst>
          </p:cNvPr>
          <p:cNvPicPr>
            <a:picLocks noChangeAspect="1"/>
          </p:cNvPicPr>
          <p:nvPr/>
        </p:nvPicPr>
        <p:blipFill>
          <a:blip r:embed="rId2"/>
          <a:srcRect l="3174" r="13111"/>
          <a:stretch>
            <a:fillRect/>
          </a:stretch>
        </p:blipFill>
        <p:spPr>
          <a:xfrm>
            <a:off x="6368142" y="0"/>
            <a:ext cx="5741126" cy="6858000"/>
          </a:xfrm>
          <a:prstGeom prst="rect">
            <a:avLst/>
          </a:prstGeom>
        </p:spPr>
      </p:pic>
      <p:sp>
        <p:nvSpPr>
          <p:cNvPr id="2" name="Slide Number Placeholder 1">
            <a:extLst>
              <a:ext uri="{FF2B5EF4-FFF2-40B4-BE49-F238E27FC236}">
                <a16:creationId xmlns:a16="http://schemas.microsoft.com/office/drawing/2014/main" id="{18A7D5C4-5D9E-3A38-17A8-90ADD4531275}"/>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38</a:t>
            </a:fld>
            <a:endParaRPr lang="en-US" dirty="0"/>
          </a:p>
        </p:txBody>
      </p:sp>
      <p:sp>
        <p:nvSpPr>
          <p:cNvPr id="3" name="Title 2">
            <a:extLst>
              <a:ext uri="{FF2B5EF4-FFF2-40B4-BE49-F238E27FC236}">
                <a16:creationId xmlns:a16="http://schemas.microsoft.com/office/drawing/2014/main" id="{562AC902-B8DF-00C0-B1F7-A33EA07349B2}"/>
              </a:ext>
            </a:extLst>
          </p:cNvPr>
          <p:cNvSpPr>
            <a:spLocks noGrp="1"/>
          </p:cNvSpPr>
          <p:nvPr>
            <p:ph type="title"/>
          </p:nvPr>
        </p:nvSpPr>
        <p:spPr/>
        <p:txBody>
          <a:bodyPr>
            <a:normAutofit fontScale="90000"/>
          </a:bodyPr>
          <a:lstStyle/>
          <a:p>
            <a:r>
              <a:rPr lang="en-US" dirty="0"/>
              <a:t>Analyzing ET data</a:t>
            </a:r>
          </a:p>
        </p:txBody>
      </p:sp>
      <p:sp>
        <p:nvSpPr>
          <p:cNvPr id="4" name="Content Placeholder 3">
            <a:extLst>
              <a:ext uri="{FF2B5EF4-FFF2-40B4-BE49-F238E27FC236}">
                <a16:creationId xmlns:a16="http://schemas.microsoft.com/office/drawing/2014/main" id="{4A203931-D9DD-BCB6-376D-96956F8D26C7}"/>
              </a:ext>
            </a:extLst>
          </p:cNvPr>
          <p:cNvSpPr>
            <a:spLocks noGrp="1"/>
          </p:cNvSpPr>
          <p:nvPr>
            <p:ph idx="1"/>
          </p:nvPr>
        </p:nvSpPr>
        <p:spPr/>
        <p:txBody>
          <a:bodyPr/>
          <a:lstStyle/>
          <a:p>
            <a:r>
              <a:rPr lang="en-US" dirty="0"/>
              <a:t>Dominant side (left – right)</a:t>
            </a:r>
          </a:p>
          <a:p>
            <a:r>
              <a:rPr lang="en-US" b="1" dirty="0"/>
              <a:t>Total dwell time</a:t>
            </a:r>
          </a:p>
          <a:p>
            <a:r>
              <a:rPr lang="en-US" dirty="0"/>
              <a:t>Proportion of dwell times (left – right)</a:t>
            </a:r>
          </a:p>
          <a:p>
            <a:r>
              <a:rPr lang="en-US" dirty="0"/>
              <a:t>No. of fixations (total; left – right)</a:t>
            </a:r>
          </a:p>
          <a:p>
            <a:r>
              <a:rPr lang="en-US" dirty="0"/>
              <a:t>No. of revisits (left – right)</a:t>
            </a:r>
          </a:p>
          <a:p>
            <a:r>
              <a:rPr lang="en-US" b="1" dirty="0"/>
              <a:t>No. of transitions (total)</a:t>
            </a:r>
          </a:p>
          <a:p>
            <a:endParaRPr lang="en-US" dirty="0"/>
          </a:p>
          <a:p>
            <a:endParaRPr lang="en-US" dirty="0"/>
          </a:p>
        </p:txBody>
      </p:sp>
    </p:spTree>
    <p:extLst>
      <p:ext uri="{BB962C8B-B14F-4D97-AF65-F5344CB8AC3E}">
        <p14:creationId xmlns:p14="http://schemas.microsoft.com/office/powerpoint/2010/main" val="3401211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C8FF56-1F16-B8D9-D193-3DB3C70A4144}"/>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39</a:t>
            </a:fld>
            <a:endParaRPr lang="en-US" dirty="0"/>
          </a:p>
        </p:txBody>
      </p:sp>
      <p:sp>
        <p:nvSpPr>
          <p:cNvPr id="3" name="Title 2">
            <a:extLst>
              <a:ext uri="{FF2B5EF4-FFF2-40B4-BE49-F238E27FC236}">
                <a16:creationId xmlns:a16="http://schemas.microsoft.com/office/drawing/2014/main" id="{47345CC9-8000-36DC-C4A2-81057176CDB9}"/>
              </a:ext>
            </a:extLst>
          </p:cNvPr>
          <p:cNvSpPr>
            <a:spLocks noGrp="1"/>
          </p:cNvSpPr>
          <p:nvPr>
            <p:ph type="title"/>
          </p:nvPr>
        </p:nvSpPr>
        <p:spPr/>
        <p:txBody>
          <a:bodyPr>
            <a:normAutofit fontScale="90000"/>
          </a:bodyPr>
          <a:lstStyle/>
          <a:p>
            <a:r>
              <a:rPr lang="en-US" dirty="0"/>
              <a:t>Next step: Statistical analysis</a:t>
            </a:r>
          </a:p>
        </p:txBody>
      </p:sp>
      <p:sp>
        <p:nvSpPr>
          <p:cNvPr id="4" name="Content Placeholder 3">
            <a:extLst>
              <a:ext uri="{FF2B5EF4-FFF2-40B4-BE49-F238E27FC236}">
                <a16:creationId xmlns:a16="http://schemas.microsoft.com/office/drawing/2014/main" id="{F5949E58-2434-9F63-DAF1-B4AE2112596E}"/>
              </a:ext>
            </a:extLst>
          </p:cNvPr>
          <p:cNvSpPr>
            <a:spLocks noGrp="1"/>
          </p:cNvSpPr>
          <p:nvPr>
            <p:ph idx="1"/>
          </p:nvPr>
        </p:nvSpPr>
        <p:spPr>
          <a:xfrm>
            <a:off x="1170432" y="1473200"/>
            <a:ext cx="11021568" cy="5019040"/>
          </a:xfrm>
        </p:spPr>
        <p:txBody>
          <a:bodyPr>
            <a:normAutofit fontScale="92500" lnSpcReduction="20000"/>
          </a:bodyPr>
          <a:lstStyle/>
          <a:p>
            <a:r>
              <a:rPr lang="en-US" dirty="0"/>
              <a:t>Fit some mixed model to find what influences the choice.</a:t>
            </a:r>
          </a:p>
          <a:p>
            <a:pPr lvl="1"/>
            <a:r>
              <a:rPr lang="en-US" b="1" dirty="0"/>
              <a:t>Fixed effects</a:t>
            </a:r>
            <a:r>
              <a:rPr lang="en-US" dirty="0"/>
              <a:t>: total dwell time; no. of transitions; dominant side(?); condition</a:t>
            </a:r>
          </a:p>
          <a:p>
            <a:pPr lvl="1"/>
            <a:r>
              <a:rPr lang="en-US" b="1" dirty="0"/>
              <a:t>Random effects</a:t>
            </a:r>
            <a:r>
              <a:rPr lang="en-US" dirty="0"/>
              <a:t>: item/sentence(?); participant</a:t>
            </a:r>
          </a:p>
          <a:p>
            <a:pPr marL="2880" indent="0">
              <a:buNone/>
            </a:pPr>
            <a:r>
              <a:rPr lang="en-US" b="1" dirty="0">
                <a:solidFill>
                  <a:schemeClr val="accent2"/>
                </a:solidFill>
                <a:cs typeface="Cascadia Mono" panose="020B0609020000020004" pitchFamily="49" charset="0"/>
              </a:rPr>
              <a:t>choice ~ </a:t>
            </a:r>
            <a:r>
              <a:rPr lang="en-US" b="1" dirty="0" err="1">
                <a:solidFill>
                  <a:schemeClr val="accent2"/>
                </a:solidFill>
                <a:cs typeface="Cascadia Mono" panose="020B0609020000020004" pitchFamily="49" charset="0"/>
              </a:rPr>
              <a:t>dwell_time</a:t>
            </a:r>
            <a:r>
              <a:rPr lang="en-US" b="1" dirty="0">
                <a:solidFill>
                  <a:schemeClr val="accent2"/>
                </a:solidFill>
                <a:cs typeface="Cascadia Mono" panose="020B0609020000020004" pitchFamily="49" charset="0"/>
              </a:rPr>
              <a:t> </a:t>
            </a:r>
            <a:r>
              <a:rPr lang="hu-HU" b="1" dirty="0">
                <a:solidFill>
                  <a:schemeClr val="accent2"/>
                </a:solidFill>
                <a:cs typeface="Cascadia Mono" panose="020B0609020000020004" pitchFamily="49" charset="0"/>
              </a:rPr>
              <a:t>+</a:t>
            </a:r>
            <a:r>
              <a:rPr lang="en-US" b="1" dirty="0">
                <a:solidFill>
                  <a:schemeClr val="accent2"/>
                </a:solidFill>
                <a:cs typeface="Cascadia Mono" panose="020B0609020000020004" pitchFamily="49" charset="0"/>
              </a:rPr>
              <a:t> </a:t>
            </a:r>
            <a:r>
              <a:rPr lang="hu-HU" b="1" dirty="0" err="1">
                <a:solidFill>
                  <a:schemeClr val="accent2"/>
                </a:solidFill>
                <a:cs typeface="Cascadia Mono" panose="020B0609020000020004" pitchFamily="49" charset="0"/>
              </a:rPr>
              <a:t>transitions</a:t>
            </a:r>
            <a:r>
              <a:rPr lang="hu-HU" b="1" dirty="0">
                <a:solidFill>
                  <a:schemeClr val="accent2"/>
                </a:solidFill>
                <a:cs typeface="Cascadia Mono" panose="020B0609020000020004" pitchFamily="49" charset="0"/>
              </a:rPr>
              <a:t> + (1|participant) + (1|item)")</a:t>
            </a:r>
            <a:endParaRPr lang="en-US" b="1" dirty="0">
              <a:solidFill>
                <a:schemeClr val="accent2"/>
              </a:solidFill>
              <a:cs typeface="Cascadia Mono" panose="020B0609020000020004" pitchFamily="49" charset="0"/>
            </a:endParaRPr>
          </a:p>
          <a:p>
            <a:r>
              <a:rPr lang="en-US" dirty="0"/>
              <a:t>Adding in condition? Or only check for </a:t>
            </a:r>
            <a:r>
              <a:rPr lang="en-US" b="1" dirty="0"/>
              <a:t>focus</a:t>
            </a:r>
            <a:r>
              <a:rPr lang="en-US" dirty="0"/>
              <a:t> condition? How to do this right?</a:t>
            </a:r>
          </a:p>
          <a:p>
            <a:pPr marL="2880" indent="0">
              <a:buNone/>
            </a:pPr>
            <a:r>
              <a:rPr lang="en-US" b="1" dirty="0">
                <a:solidFill>
                  <a:schemeClr val="accent2"/>
                </a:solidFill>
                <a:cs typeface="Cascadia Mono" panose="020B0609020000020004" pitchFamily="49" charset="0"/>
              </a:rPr>
              <a:t>choice ~ </a:t>
            </a:r>
            <a:r>
              <a:rPr lang="en-US" b="1" u="sng" dirty="0">
                <a:solidFill>
                  <a:schemeClr val="accent2"/>
                </a:solidFill>
                <a:cs typeface="Cascadia Mono" panose="020B0609020000020004" pitchFamily="49" charset="0"/>
              </a:rPr>
              <a:t>condition</a:t>
            </a:r>
            <a:r>
              <a:rPr lang="en-US" b="1" dirty="0">
                <a:solidFill>
                  <a:schemeClr val="accent2"/>
                </a:solidFill>
                <a:cs typeface="Cascadia Mono" panose="020B0609020000020004" pitchFamily="49" charset="0"/>
              </a:rPr>
              <a:t> + </a:t>
            </a:r>
            <a:r>
              <a:rPr lang="en-US" b="1" dirty="0" err="1">
                <a:solidFill>
                  <a:schemeClr val="accent2"/>
                </a:solidFill>
                <a:cs typeface="Cascadia Mono" panose="020B0609020000020004" pitchFamily="49" charset="0"/>
              </a:rPr>
              <a:t>dwell_time</a:t>
            </a:r>
            <a:r>
              <a:rPr lang="en-US" b="1" dirty="0">
                <a:solidFill>
                  <a:schemeClr val="accent2"/>
                </a:solidFill>
                <a:cs typeface="Cascadia Mono" panose="020B0609020000020004" pitchFamily="49" charset="0"/>
              </a:rPr>
              <a:t> </a:t>
            </a:r>
            <a:r>
              <a:rPr lang="hu-HU" b="1" dirty="0">
                <a:solidFill>
                  <a:schemeClr val="accent2"/>
                </a:solidFill>
                <a:cs typeface="Cascadia Mono" panose="020B0609020000020004" pitchFamily="49" charset="0"/>
              </a:rPr>
              <a:t>+</a:t>
            </a:r>
            <a:r>
              <a:rPr lang="en-US" b="1" dirty="0">
                <a:solidFill>
                  <a:schemeClr val="accent2"/>
                </a:solidFill>
                <a:cs typeface="Cascadia Mono" panose="020B0609020000020004" pitchFamily="49" charset="0"/>
              </a:rPr>
              <a:t> </a:t>
            </a:r>
            <a:r>
              <a:rPr lang="hu-HU" b="1" dirty="0" err="1">
                <a:solidFill>
                  <a:schemeClr val="accent2"/>
                </a:solidFill>
                <a:cs typeface="Cascadia Mono" panose="020B0609020000020004" pitchFamily="49" charset="0"/>
              </a:rPr>
              <a:t>transitions</a:t>
            </a:r>
            <a:r>
              <a:rPr lang="hu-HU" b="1" dirty="0">
                <a:solidFill>
                  <a:schemeClr val="accent2"/>
                </a:solidFill>
                <a:cs typeface="Cascadia Mono" panose="020B0609020000020004" pitchFamily="49" charset="0"/>
              </a:rPr>
              <a:t> + (1|participant) + (1|item)")</a:t>
            </a:r>
            <a:endParaRPr lang="en-US" dirty="0">
              <a:solidFill>
                <a:schemeClr val="accent4"/>
              </a:solidFill>
            </a:endParaRPr>
          </a:p>
          <a:p>
            <a:pPr marL="2880" indent="0">
              <a:buNone/>
            </a:pPr>
            <a:r>
              <a:rPr lang="en-US" dirty="0">
                <a:solidFill>
                  <a:schemeClr val="accent5"/>
                </a:solidFill>
              </a:rPr>
              <a:t>RQ: How people interpret the pre-verbal focus</a:t>
            </a:r>
            <a:r>
              <a:rPr lang="hu-HU" dirty="0">
                <a:solidFill>
                  <a:schemeClr val="accent5"/>
                </a:solidFill>
              </a:rPr>
              <a:t> in </a:t>
            </a:r>
            <a:r>
              <a:rPr lang="hu-HU" dirty="0" err="1">
                <a:solidFill>
                  <a:schemeClr val="accent5"/>
                </a:solidFill>
              </a:rPr>
              <a:t>Hungarian</a:t>
            </a:r>
            <a:r>
              <a:rPr lang="en-US" dirty="0">
                <a:solidFill>
                  <a:schemeClr val="accent5"/>
                </a:solidFill>
              </a:rPr>
              <a:t> re. exclusivity?</a:t>
            </a:r>
          </a:p>
          <a:p>
            <a:pPr marL="2880" indent="0">
              <a:buNone/>
            </a:pPr>
            <a:r>
              <a:rPr lang="en-US" dirty="0">
                <a:solidFill>
                  <a:schemeClr val="accent4"/>
                </a:solidFill>
              </a:rPr>
              <a:t>What is our specific question here? What are we trying to understand?</a:t>
            </a:r>
          </a:p>
          <a:p>
            <a:pPr marL="2880" indent="0">
              <a:buNone/>
            </a:pPr>
            <a:r>
              <a:rPr lang="en-US" dirty="0">
                <a:solidFill>
                  <a:schemeClr val="accent4"/>
                </a:solidFill>
              </a:rPr>
              <a:t>How to utilize ET data to interpret the pre-verbal focus</a:t>
            </a:r>
            <a:r>
              <a:rPr lang="hu-HU" dirty="0">
                <a:solidFill>
                  <a:schemeClr val="accent4"/>
                </a:solidFill>
              </a:rPr>
              <a:t> in </a:t>
            </a:r>
            <a:r>
              <a:rPr lang="hu-HU" dirty="0" err="1">
                <a:solidFill>
                  <a:schemeClr val="accent4"/>
                </a:solidFill>
              </a:rPr>
              <a:t>Hungarian</a:t>
            </a:r>
            <a:r>
              <a:rPr lang="en-US" dirty="0">
                <a:solidFill>
                  <a:schemeClr val="accent4"/>
                </a:solidFill>
              </a:rPr>
              <a:t>?</a:t>
            </a:r>
            <a:endParaRPr lang="hu-HU" dirty="0">
              <a:cs typeface="Cascadia Mono" panose="020B0609020000020004" pitchFamily="49" charset="0"/>
            </a:endParaRPr>
          </a:p>
          <a:p>
            <a:pPr marL="2880" indent="0">
              <a:buNone/>
            </a:pPr>
            <a:endParaRPr lang="en-US" dirty="0"/>
          </a:p>
        </p:txBody>
      </p:sp>
    </p:spTree>
    <p:extLst>
      <p:ext uri="{BB962C8B-B14F-4D97-AF65-F5344CB8AC3E}">
        <p14:creationId xmlns:p14="http://schemas.microsoft.com/office/powerpoint/2010/main" val="151229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3462C-F8B0-623B-6502-C77F6A612CDD}"/>
              </a:ext>
            </a:extLst>
          </p:cNvPr>
          <p:cNvSpPr>
            <a:spLocks noGrp="1"/>
          </p:cNvSpPr>
          <p:nvPr>
            <p:ph type="title"/>
          </p:nvPr>
        </p:nvSpPr>
        <p:spPr/>
        <p:txBody>
          <a:bodyPr>
            <a:normAutofit/>
          </a:bodyPr>
          <a:lstStyle/>
          <a:p>
            <a:r>
              <a:rPr lang="en-US" sz="7200" dirty="0"/>
              <a:t>Thank you, </a:t>
            </a:r>
          </a:p>
        </p:txBody>
      </p:sp>
      <p:sp>
        <p:nvSpPr>
          <p:cNvPr id="3" name="Text Placeholder 2">
            <a:extLst>
              <a:ext uri="{FF2B5EF4-FFF2-40B4-BE49-F238E27FC236}">
                <a16:creationId xmlns:a16="http://schemas.microsoft.com/office/drawing/2014/main" id="{854514E0-4024-FAE7-BF84-6A66CF05A389}"/>
              </a:ext>
            </a:extLst>
          </p:cNvPr>
          <p:cNvSpPr>
            <a:spLocks noGrp="1"/>
          </p:cNvSpPr>
          <p:nvPr>
            <p:ph type="body" idx="1"/>
          </p:nvPr>
        </p:nvSpPr>
        <p:spPr/>
        <p:txBody>
          <a:bodyPr>
            <a:normAutofit/>
          </a:bodyPr>
          <a:lstStyle/>
          <a:p>
            <a:r>
              <a:rPr lang="en-US" sz="3600" dirty="0"/>
              <a:t>Now help me discuss :)</a:t>
            </a:r>
          </a:p>
        </p:txBody>
      </p:sp>
      <p:sp>
        <p:nvSpPr>
          <p:cNvPr id="4" name="Slide Number Placeholder 3">
            <a:extLst>
              <a:ext uri="{FF2B5EF4-FFF2-40B4-BE49-F238E27FC236}">
                <a16:creationId xmlns:a16="http://schemas.microsoft.com/office/drawing/2014/main" id="{8FFCA26F-809A-36A8-E955-52CF8D4192C0}"/>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40</a:t>
            </a:fld>
            <a:endParaRPr lang="en-US" dirty="0"/>
          </a:p>
        </p:txBody>
      </p:sp>
    </p:spTree>
    <p:extLst>
      <p:ext uri="{BB962C8B-B14F-4D97-AF65-F5344CB8AC3E}">
        <p14:creationId xmlns:p14="http://schemas.microsoft.com/office/powerpoint/2010/main" val="26452374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448AABF-008B-0705-8549-BC326A39B7EF}"/>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41</a:t>
            </a:fld>
            <a:endParaRPr lang="en-US" dirty="0"/>
          </a:p>
        </p:txBody>
      </p:sp>
      <p:sp>
        <p:nvSpPr>
          <p:cNvPr id="3" name="Title 2">
            <a:extLst>
              <a:ext uri="{FF2B5EF4-FFF2-40B4-BE49-F238E27FC236}">
                <a16:creationId xmlns:a16="http://schemas.microsoft.com/office/drawing/2014/main" id="{86BB92C7-78C3-5ED4-55DE-38DCD432D711}"/>
              </a:ext>
            </a:extLst>
          </p:cNvPr>
          <p:cNvSpPr>
            <a:spLocks noGrp="1"/>
          </p:cNvSpPr>
          <p:nvPr>
            <p:ph type="title"/>
          </p:nvPr>
        </p:nvSpPr>
        <p:spPr/>
        <p:txBody>
          <a:bodyPr>
            <a:normAutofit fontScale="90000"/>
          </a:bodyPr>
          <a:lstStyle/>
          <a:p>
            <a:endParaRPr lang="en-US"/>
          </a:p>
        </p:txBody>
      </p:sp>
      <p:sp>
        <p:nvSpPr>
          <p:cNvPr id="4" name="Content Placeholder 3">
            <a:extLst>
              <a:ext uri="{FF2B5EF4-FFF2-40B4-BE49-F238E27FC236}">
                <a16:creationId xmlns:a16="http://schemas.microsoft.com/office/drawing/2014/main" id="{2BEB1C4F-A965-7236-A5F6-80B08D21DE8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6496661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60146-A04E-7C75-312D-CEF9DF697CB6}"/>
              </a:ext>
            </a:extLst>
          </p:cNvPr>
          <p:cNvSpPr>
            <a:spLocks noGrp="1"/>
          </p:cNvSpPr>
          <p:nvPr>
            <p:ph type="title"/>
          </p:nvPr>
        </p:nvSpPr>
        <p:spPr>
          <a:xfrm>
            <a:off x="1261872" y="365760"/>
            <a:ext cx="9692640" cy="658707"/>
          </a:xfrm>
        </p:spPr>
        <p:txBody>
          <a:bodyPr>
            <a:normAutofit fontScale="90000"/>
          </a:bodyPr>
          <a:lstStyle/>
          <a:p>
            <a:r>
              <a:rPr lang="en-US" dirty="0"/>
              <a:t>Two experiments</a:t>
            </a:r>
            <a:endParaRPr lang="hu-HU" dirty="0"/>
          </a:p>
        </p:txBody>
      </p:sp>
      <p:sp>
        <p:nvSpPr>
          <p:cNvPr id="3" name="Content Placeholder 2">
            <a:extLst>
              <a:ext uri="{FF2B5EF4-FFF2-40B4-BE49-F238E27FC236}">
                <a16:creationId xmlns:a16="http://schemas.microsoft.com/office/drawing/2014/main" id="{04AB75DE-FF2B-28BD-5AEA-EFAA0D1301EA}"/>
              </a:ext>
            </a:extLst>
          </p:cNvPr>
          <p:cNvSpPr>
            <a:spLocks noGrp="1"/>
          </p:cNvSpPr>
          <p:nvPr>
            <p:ph idx="4294967295"/>
          </p:nvPr>
        </p:nvSpPr>
        <p:spPr>
          <a:xfrm>
            <a:off x="1261872" y="1405466"/>
            <a:ext cx="9692640" cy="5086773"/>
          </a:xfrm>
        </p:spPr>
        <p:txBody>
          <a:bodyPr/>
          <a:lstStyle/>
          <a:p>
            <a:pPr marL="457200" indent="-457200">
              <a:buFont typeface="+mj-lt"/>
              <a:buAutoNum type="arabicPeriod"/>
            </a:pPr>
            <a:r>
              <a:rPr lang="en-US" dirty="0"/>
              <a:t>Hungarian focus constructions – exclusivity vs. </a:t>
            </a:r>
            <a:r>
              <a:rPr lang="en-US" dirty="0" err="1"/>
              <a:t>contrastivity</a:t>
            </a:r>
            <a:endParaRPr lang="en-US" dirty="0"/>
          </a:p>
          <a:p>
            <a:pPr marL="857250" lvl="1" indent="-457200"/>
            <a:r>
              <a:rPr lang="en-US" dirty="0"/>
              <a:t>Testing if Hungarian focus is exhaustive by default, or if it can be contrastive.</a:t>
            </a:r>
          </a:p>
        </p:txBody>
      </p:sp>
      <p:sp>
        <p:nvSpPr>
          <p:cNvPr id="4" name="Slide Number Placeholder 3">
            <a:extLst>
              <a:ext uri="{FF2B5EF4-FFF2-40B4-BE49-F238E27FC236}">
                <a16:creationId xmlns:a16="http://schemas.microsoft.com/office/drawing/2014/main" id="{82D5739D-F13D-26DA-B0A1-3E5174855DF8}"/>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42</a:t>
            </a:fld>
            <a:endParaRPr lang="en-US" dirty="0"/>
          </a:p>
        </p:txBody>
      </p:sp>
    </p:spTree>
    <p:extLst>
      <p:ext uri="{BB962C8B-B14F-4D97-AF65-F5344CB8AC3E}">
        <p14:creationId xmlns:p14="http://schemas.microsoft.com/office/powerpoint/2010/main" val="38291027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B306836-928A-9AFA-2579-A783C37907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5AC8EE-623F-6CBB-81CF-368A1C059F67}"/>
              </a:ext>
            </a:extLst>
          </p:cNvPr>
          <p:cNvSpPr>
            <a:spLocks noGrp="1"/>
          </p:cNvSpPr>
          <p:nvPr>
            <p:ph type="title"/>
          </p:nvPr>
        </p:nvSpPr>
        <p:spPr>
          <a:xfrm>
            <a:off x="1261872" y="365760"/>
            <a:ext cx="9692640" cy="658707"/>
          </a:xfrm>
        </p:spPr>
        <p:txBody>
          <a:bodyPr>
            <a:normAutofit fontScale="90000"/>
          </a:bodyPr>
          <a:lstStyle/>
          <a:p>
            <a:r>
              <a:rPr lang="en-US" dirty="0"/>
              <a:t>Two experiments: 1</a:t>
            </a:r>
            <a:endParaRPr lang="hu-HU" dirty="0"/>
          </a:p>
        </p:txBody>
      </p:sp>
      <p:sp>
        <p:nvSpPr>
          <p:cNvPr id="3" name="Content Placeholder 2">
            <a:extLst>
              <a:ext uri="{FF2B5EF4-FFF2-40B4-BE49-F238E27FC236}">
                <a16:creationId xmlns:a16="http://schemas.microsoft.com/office/drawing/2014/main" id="{9A072D59-537B-DCAA-426A-FD250A64A97C}"/>
              </a:ext>
            </a:extLst>
          </p:cNvPr>
          <p:cNvSpPr>
            <a:spLocks noGrp="1"/>
          </p:cNvSpPr>
          <p:nvPr>
            <p:ph idx="4294967295"/>
          </p:nvPr>
        </p:nvSpPr>
        <p:spPr>
          <a:xfrm>
            <a:off x="1261872" y="1405466"/>
            <a:ext cx="9692640" cy="5086773"/>
          </a:xfrm>
        </p:spPr>
        <p:txBody>
          <a:bodyPr/>
          <a:lstStyle/>
          <a:p>
            <a:pPr marL="457200" indent="-457200">
              <a:buFont typeface="+mj-lt"/>
              <a:buAutoNum type="arabicPeriod"/>
            </a:pPr>
            <a:r>
              <a:rPr lang="en-US" dirty="0"/>
              <a:t>Hungarian focus constructions – exclusivity vs. </a:t>
            </a:r>
            <a:r>
              <a:rPr lang="en-US" dirty="0" err="1"/>
              <a:t>contrastivity</a:t>
            </a:r>
            <a:endParaRPr lang="en-US" dirty="0"/>
          </a:p>
          <a:p>
            <a:pPr marL="857250" lvl="1" indent="-457200"/>
            <a:r>
              <a:rPr lang="en-US" dirty="0"/>
              <a:t>Testing if Hungarian focus is exhaustive by default, or if it can be contrastive.</a:t>
            </a:r>
          </a:p>
          <a:p>
            <a:pPr marL="857250" lvl="1" indent="-457200"/>
            <a:r>
              <a:rPr lang="en-US" dirty="0"/>
              <a:t>3 conditions, 18 items</a:t>
            </a:r>
          </a:p>
          <a:p>
            <a:pPr marL="0" indent="0">
              <a:buNone/>
            </a:pPr>
            <a:endParaRPr lang="en-US" dirty="0"/>
          </a:p>
        </p:txBody>
      </p:sp>
      <p:sp>
        <p:nvSpPr>
          <p:cNvPr id="4" name="Slide Number Placeholder 3">
            <a:extLst>
              <a:ext uri="{FF2B5EF4-FFF2-40B4-BE49-F238E27FC236}">
                <a16:creationId xmlns:a16="http://schemas.microsoft.com/office/drawing/2014/main" id="{7DEC8F5F-0A18-8154-5778-16D101A4A1DE}"/>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43</a:t>
            </a:fld>
            <a:endParaRPr lang="en-US" dirty="0"/>
          </a:p>
        </p:txBody>
      </p:sp>
    </p:spTree>
    <p:extLst>
      <p:ext uri="{BB962C8B-B14F-4D97-AF65-F5344CB8AC3E}">
        <p14:creationId xmlns:p14="http://schemas.microsoft.com/office/powerpoint/2010/main" val="9565630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0C1510D-D186-4066-F6D9-7D88362D10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51C770-3FE6-EDFC-38FD-01611FFA728E}"/>
              </a:ext>
            </a:extLst>
          </p:cNvPr>
          <p:cNvSpPr>
            <a:spLocks noGrp="1"/>
          </p:cNvSpPr>
          <p:nvPr>
            <p:ph type="title"/>
          </p:nvPr>
        </p:nvSpPr>
        <p:spPr>
          <a:xfrm>
            <a:off x="1261872" y="365760"/>
            <a:ext cx="9692640" cy="658707"/>
          </a:xfrm>
        </p:spPr>
        <p:txBody>
          <a:bodyPr>
            <a:normAutofit fontScale="90000"/>
          </a:bodyPr>
          <a:lstStyle/>
          <a:p>
            <a:r>
              <a:rPr lang="en-US" dirty="0"/>
              <a:t>Two experiments: 1</a:t>
            </a:r>
            <a:endParaRPr lang="hu-HU" dirty="0"/>
          </a:p>
        </p:txBody>
      </p:sp>
      <p:sp>
        <p:nvSpPr>
          <p:cNvPr id="3" name="Content Placeholder 2">
            <a:extLst>
              <a:ext uri="{FF2B5EF4-FFF2-40B4-BE49-F238E27FC236}">
                <a16:creationId xmlns:a16="http://schemas.microsoft.com/office/drawing/2014/main" id="{487C6A88-E1FA-2BDC-C527-96F17541BDA5}"/>
              </a:ext>
            </a:extLst>
          </p:cNvPr>
          <p:cNvSpPr>
            <a:spLocks noGrp="1"/>
          </p:cNvSpPr>
          <p:nvPr>
            <p:ph idx="4294967295"/>
          </p:nvPr>
        </p:nvSpPr>
        <p:spPr>
          <a:xfrm>
            <a:off x="1261872" y="1405466"/>
            <a:ext cx="9692640" cy="5086773"/>
          </a:xfrm>
        </p:spPr>
        <p:txBody>
          <a:bodyPr/>
          <a:lstStyle/>
          <a:p>
            <a:pPr marL="457200" indent="-457200">
              <a:buFont typeface="+mj-lt"/>
              <a:buAutoNum type="arabicPeriod"/>
            </a:pPr>
            <a:r>
              <a:rPr lang="en-US" dirty="0">
                <a:solidFill>
                  <a:schemeClr val="tx1">
                    <a:lumMod val="75000"/>
                  </a:schemeClr>
                </a:solidFill>
              </a:rPr>
              <a:t>Hungarian focus constructions – exclusivity vs. </a:t>
            </a:r>
            <a:r>
              <a:rPr lang="en-US" dirty="0" err="1">
                <a:solidFill>
                  <a:schemeClr val="tx1">
                    <a:lumMod val="75000"/>
                  </a:schemeClr>
                </a:solidFill>
              </a:rPr>
              <a:t>contrastivity</a:t>
            </a:r>
            <a:endParaRPr lang="en-US" dirty="0">
              <a:solidFill>
                <a:schemeClr val="tx1">
                  <a:lumMod val="75000"/>
                </a:schemeClr>
              </a:solidFill>
            </a:endParaRPr>
          </a:p>
          <a:p>
            <a:pPr marL="857250" lvl="1" indent="-457200"/>
            <a:r>
              <a:rPr lang="en-US" dirty="0">
                <a:solidFill>
                  <a:schemeClr val="tx1">
                    <a:lumMod val="75000"/>
                  </a:schemeClr>
                </a:solidFill>
              </a:rPr>
              <a:t>Testing if Hungarian focus is exhaustive by default, or if it can be contrastive.</a:t>
            </a:r>
          </a:p>
          <a:p>
            <a:pPr marL="0" indent="0">
              <a:buNone/>
            </a:pPr>
            <a:endParaRPr lang="en-US" dirty="0"/>
          </a:p>
        </p:txBody>
      </p:sp>
      <p:sp>
        <p:nvSpPr>
          <p:cNvPr id="9" name="TextBox 8">
            <a:extLst>
              <a:ext uri="{FF2B5EF4-FFF2-40B4-BE49-F238E27FC236}">
                <a16:creationId xmlns:a16="http://schemas.microsoft.com/office/drawing/2014/main" id="{035205F9-966B-109A-E3AD-F4A0589CB086}"/>
              </a:ext>
            </a:extLst>
          </p:cNvPr>
          <p:cNvSpPr txBox="1"/>
          <p:nvPr/>
        </p:nvSpPr>
        <p:spPr>
          <a:xfrm>
            <a:off x="1773936" y="3429000"/>
            <a:ext cx="10055287" cy="3139321"/>
          </a:xfrm>
          <a:prstGeom prst="rect">
            <a:avLst/>
          </a:prstGeom>
          <a:noFill/>
        </p:spPr>
        <p:txBody>
          <a:bodyPr wrap="square">
            <a:spAutoFit/>
          </a:bodyPr>
          <a:lstStyle/>
          <a:p>
            <a:r>
              <a:rPr lang="hu-HU" b="1" dirty="0"/>
              <a:t>Ami	</a:t>
            </a:r>
            <a:r>
              <a:rPr lang="en-US" b="1" dirty="0"/>
              <a:t>		</a:t>
            </a:r>
            <a:r>
              <a:rPr lang="hu-HU" b="1" dirty="0"/>
              <a:t>a gyümölcsöket	</a:t>
            </a:r>
            <a:r>
              <a:rPr lang="en-US" b="1" dirty="0"/>
              <a:t>	</a:t>
            </a:r>
            <a:r>
              <a:rPr lang="hu-HU" b="1" dirty="0"/>
              <a:t>illeti	</a:t>
            </a:r>
            <a:r>
              <a:rPr lang="en-US" b="1" dirty="0"/>
              <a:t>	</a:t>
            </a:r>
            <a:r>
              <a:rPr lang="hu-HU" b="1" dirty="0"/>
              <a:t>Anna	csak	</a:t>
            </a:r>
            <a:r>
              <a:rPr lang="en-US" b="1" dirty="0"/>
              <a:t>	</a:t>
            </a:r>
            <a:r>
              <a:rPr lang="hu-HU" b="1" u="sng" dirty="0"/>
              <a:t>egy banánt</a:t>
            </a:r>
            <a:r>
              <a:rPr lang="hu-HU" b="1" dirty="0"/>
              <a:t>	</a:t>
            </a:r>
            <a:r>
              <a:rPr lang="en-US" b="1" dirty="0"/>
              <a:t>	</a:t>
            </a:r>
            <a:r>
              <a:rPr lang="hu-HU" b="1" dirty="0"/>
              <a:t>evett.</a:t>
            </a:r>
          </a:p>
          <a:p>
            <a:r>
              <a:rPr lang="hu-HU" dirty="0" err="1"/>
              <a:t>which</a:t>
            </a:r>
            <a:r>
              <a:rPr lang="hu-HU" dirty="0"/>
              <a:t> (</a:t>
            </a:r>
            <a:r>
              <a:rPr lang="hu-HU" dirty="0" err="1"/>
              <a:t>relative</a:t>
            </a:r>
            <a:r>
              <a:rPr lang="hu-HU" dirty="0"/>
              <a:t>)	</a:t>
            </a:r>
            <a:r>
              <a:rPr lang="hu-HU" dirty="0" err="1"/>
              <a:t>the</a:t>
            </a:r>
            <a:r>
              <a:rPr lang="hu-HU" dirty="0"/>
              <a:t> </a:t>
            </a:r>
            <a:r>
              <a:rPr lang="hu-HU" dirty="0" err="1"/>
              <a:t>fruits</a:t>
            </a:r>
            <a:r>
              <a:rPr lang="hu-HU" dirty="0"/>
              <a:t>-ACC	</a:t>
            </a:r>
            <a:r>
              <a:rPr lang="hu-HU" dirty="0" err="1"/>
              <a:t>regards</a:t>
            </a:r>
            <a:r>
              <a:rPr lang="hu-HU" dirty="0"/>
              <a:t>	Anna	</a:t>
            </a:r>
            <a:r>
              <a:rPr lang="hu-HU" dirty="0" err="1"/>
              <a:t>only</a:t>
            </a:r>
            <a:r>
              <a:rPr lang="hu-HU" dirty="0"/>
              <a:t>	</a:t>
            </a:r>
            <a:r>
              <a:rPr lang="en-US" dirty="0"/>
              <a:t>	</a:t>
            </a:r>
            <a:r>
              <a:rPr lang="hu-HU" dirty="0"/>
              <a:t>a </a:t>
            </a:r>
            <a:r>
              <a:rPr lang="hu-HU" dirty="0" err="1"/>
              <a:t>banana</a:t>
            </a:r>
            <a:r>
              <a:rPr lang="hu-HU" dirty="0"/>
              <a:t>-ACC	ate-3SG</a:t>
            </a:r>
          </a:p>
          <a:p>
            <a:r>
              <a:rPr lang="hu-HU" i="1" dirty="0" err="1"/>
              <a:t>Regarding</a:t>
            </a:r>
            <a:r>
              <a:rPr lang="hu-HU" i="1" dirty="0"/>
              <a:t> </a:t>
            </a:r>
            <a:r>
              <a:rPr lang="hu-HU" i="1" dirty="0" err="1"/>
              <a:t>fruits</a:t>
            </a:r>
            <a:r>
              <a:rPr lang="hu-HU" i="1" dirty="0"/>
              <a:t>, Anna </a:t>
            </a:r>
            <a:r>
              <a:rPr lang="hu-HU" i="1" dirty="0" err="1"/>
              <a:t>ate</a:t>
            </a:r>
            <a:r>
              <a:rPr lang="hu-HU" i="1" dirty="0"/>
              <a:t> </a:t>
            </a:r>
            <a:r>
              <a:rPr lang="hu-HU" i="1" dirty="0" err="1"/>
              <a:t>only</a:t>
            </a:r>
            <a:r>
              <a:rPr lang="hu-HU" i="1" dirty="0"/>
              <a:t> a </a:t>
            </a:r>
            <a:r>
              <a:rPr lang="hu-HU" i="1" dirty="0" err="1"/>
              <a:t>banana</a:t>
            </a:r>
            <a:r>
              <a:rPr lang="hu-HU" i="1" dirty="0"/>
              <a:t>.	</a:t>
            </a:r>
            <a:r>
              <a:rPr lang="hu-HU" dirty="0"/>
              <a:t>	</a:t>
            </a:r>
            <a:endParaRPr lang="en-US" dirty="0"/>
          </a:p>
          <a:p>
            <a:r>
              <a:rPr lang="hu-HU" dirty="0"/>
              <a:t>				</a:t>
            </a:r>
          </a:p>
          <a:p>
            <a:r>
              <a:rPr lang="hu-HU" b="1" dirty="0">
                <a:effectLst>
                  <a:outerShdw blurRad="38100" dist="38100" dir="2700000" algn="tl">
                    <a:srgbClr val="000000">
                      <a:alpha val="43137"/>
                    </a:srgbClr>
                  </a:outerShdw>
                </a:effectLst>
              </a:rPr>
              <a:t>Ami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a gyümölcsöket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illeti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Anna	tegnap</a:t>
            </a:r>
            <a:r>
              <a:rPr lang="en-US" b="1" dirty="0">
                <a:effectLst>
                  <a:outerShdw blurRad="38100" dist="38100" dir="2700000" algn="tl">
                    <a:srgbClr val="000000">
                      <a:alpha val="43137"/>
                    </a:srgbClr>
                  </a:outerShdw>
                </a:effectLst>
              </a:rPr>
              <a:t>		</a:t>
            </a:r>
            <a:r>
              <a:rPr lang="hu-HU" b="1" u="sng" dirty="0">
                <a:effectLst>
                  <a:outerShdw blurRad="38100" dist="38100" dir="2700000" algn="tl">
                    <a:srgbClr val="000000">
                      <a:alpha val="43137"/>
                    </a:srgbClr>
                  </a:outerShdw>
                </a:effectLst>
              </a:rPr>
              <a:t>egy banánt</a:t>
            </a:r>
            <a:r>
              <a:rPr lang="hu-HU" b="1" dirty="0">
                <a:effectLst>
                  <a:outerShdw blurRad="38100" dist="38100" dir="2700000" algn="tl">
                    <a:srgbClr val="000000">
                      <a:alpha val="43137"/>
                    </a:srgbClr>
                  </a:outerShdw>
                </a:effectLst>
              </a:rPr>
              <a:t>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evett.</a:t>
            </a:r>
          </a:p>
          <a:p>
            <a:r>
              <a:rPr lang="hu-HU" dirty="0" err="1">
                <a:effectLst>
                  <a:outerShdw blurRad="38100" dist="38100" dir="2700000" algn="tl">
                    <a:srgbClr val="000000">
                      <a:alpha val="43137"/>
                    </a:srgbClr>
                  </a:outerShdw>
                </a:effectLst>
              </a:rPr>
              <a:t>which</a:t>
            </a:r>
            <a:r>
              <a:rPr lang="hu-HU" dirty="0">
                <a:effectLst>
                  <a:outerShdw blurRad="38100" dist="38100" dir="2700000" algn="tl">
                    <a:srgbClr val="000000">
                      <a:alpha val="43137"/>
                    </a:srgbClr>
                  </a:outerShdw>
                </a:effectLst>
              </a:rPr>
              <a:t> (</a:t>
            </a:r>
            <a:r>
              <a:rPr lang="hu-HU" dirty="0" err="1">
                <a:effectLst>
                  <a:outerShdw blurRad="38100" dist="38100" dir="2700000" algn="tl">
                    <a:srgbClr val="000000">
                      <a:alpha val="43137"/>
                    </a:srgbClr>
                  </a:outerShdw>
                </a:effectLst>
              </a:rPr>
              <a:t>relative</a:t>
            </a:r>
            <a:r>
              <a:rPr lang="hu-HU" dirty="0">
                <a:effectLst>
                  <a:outerShdw blurRad="38100" dist="38100" dir="2700000" algn="tl">
                    <a:srgbClr val="000000">
                      <a:alpha val="43137"/>
                    </a:srgbClr>
                  </a:outerShdw>
                </a:effectLst>
              </a:rPr>
              <a:t>)	</a:t>
            </a:r>
            <a:r>
              <a:rPr lang="hu-HU" dirty="0" err="1">
                <a:effectLst>
                  <a:outerShdw blurRad="38100" dist="38100" dir="2700000" algn="tl">
                    <a:srgbClr val="000000">
                      <a:alpha val="43137"/>
                    </a:srgbClr>
                  </a:outerShdw>
                </a:effectLst>
              </a:rPr>
              <a:t>the</a:t>
            </a:r>
            <a:r>
              <a:rPr lang="hu-HU" dirty="0">
                <a:effectLst>
                  <a:outerShdw blurRad="38100" dist="38100" dir="2700000" algn="tl">
                    <a:srgbClr val="000000">
                      <a:alpha val="43137"/>
                    </a:srgbClr>
                  </a:outerShdw>
                </a:effectLst>
              </a:rPr>
              <a:t> </a:t>
            </a:r>
            <a:r>
              <a:rPr lang="hu-HU" dirty="0" err="1">
                <a:effectLst>
                  <a:outerShdw blurRad="38100" dist="38100" dir="2700000" algn="tl">
                    <a:srgbClr val="000000">
                      <a:alpha val="43137"/>
                    </a:srgbClr>
                  </a:outerShdw>
                </a:effectLst>
              </a:rPr>
              <a:t>fruits</a:t>
            </a:r>
            <a:r>
              <a:rPr lang="hu-HU" dirty="0">
                <a:effectLst>
                  <a:outerShdw blurRad="38100" dist="38100" dir="2700000" algn="tl">
                    <a:srgbClr val="000000">
                      <a:alpha val="43137"/>
                    </a:srgbClr>
                  </a:outerShdw>
                </a:effectLst>
              </a:rPr>
              <a:t>-ACC	</a:t>
            </a:r>
            <a:r>
              <a:rPr lang="hu-HU" dirty="0" err="1">
                <a:effectLst>
                  <a:outerShdw blurRad="38100" dist="38100" dir="2700000" algn="tl">
                    <a:srgbClr val="000000">
                      <a:alpha val="43137"/>
                    </a:srgbClr>
                  </a:outerShdw>
                </a:effectLst>
              </a:rPr>
              <a:t>regards</a:t>
            </a:r>
            <a:r>
              <a:rPr lang="hu-HU" dirty="0">
                <a:effectLst>
                  <a:outerShdw blurRad="38100" dist="38100" dir="2700000" algn="tl">
                    <a:srgbClr val="000000">
                      <a:alpha val="43137"/>
                    </a:srgbClr>
                  </a:outerShdw>
                </a:effectLst>
              </a:rPr>
              <a:t>	Anna	</a:t>
            </a:r>
            <a:r>
              <a:rPr lang="hu-HU" dirty="0" err="1">
                <a:effectLst>
                  <a:outerShdw blurRad="38100" dist="38100" dir="2700000" algn="tl">
                    <a:srgbClr val="000000">
                      <a:alpha val="43137"/>
                    </a:srgbClr>
                  </a:outerShdw>
                </a:effectLst>
              </a:rPr>
              <a:t>yesterday</a:t>
            </a:r>
            <a:r>
              <a:rPr lang="en-US" dirty="0">
                <a:effectLst>
                  <a:outerShdw blurRad="38100" dist="38100" dir="2700000" algn="tl">
                    <a:srgbClr val="000000">
                      <a:alpha val="43137"/>
                    </a:srgbClr>
                  </a:outerShdw>
                </a:effectLst>
              </a:rPr>
              <a:t>	</a:t>
            </a:r>
            <a:r>
              <a:rPr lang="hu-HU" dirty="0">
                <a:effectLst>
                  <a:outerShdw blurRad="38100" dist="38100" dir="2700000" algn="tl">
                    <a:srgbClr val="000000">
                      <a:alpha val="43137"/>
                    </a:srgbClr>
                  </a:outerShdw>
                </a:effectLst>
              </a:rPr>
              <a:t>a </a:t>
            </a:r>
            <a:r>
              <a:rPr lang="hu-HU" dirty="0" err="1">
                <a:effectLst>
                  <a:outerShdw blurRad="38100" dist="38100" dir="2700000" algn="tl">
                    <a:srgbClr val="000000">
                      <a:alpha val="43137"/>
                    </a:srgbClr>
                  </a:outerShdw>
                </a:effectLst>
              </a:rPr>
              <a:t>banana</a:t>
            </a:r>
            <a:r>
              <a:rPr lang="hu-HU" dirty="0">
                <a:effectLst>
                  <a:outerShdw blurRad="38100" dist="38100" dir="2700000" algn="tl">
                    <a:srgbClr val="000000">
                      <a:alpha val="43137"/>
                    </a:srgbClr>
                  </a:outerShdw>
                </a:effectLst>
              </a:rPr>
              <a:t>-ACC	ate-3SG</a:t>
            </a:r>
          </a:p>
          <a:p>
            <a:r>
              <a:rPr lang="hu-HU" i="1" dirty="0" err="1">
                <a:effectLst>
                  <a:outerShdw blurRad="38100" dist="38100" dir="2700000" algn="tl">
                    <a:srgbClr val="000000">
                      <a:alpha val="43137"/>
                    </a:srgbClr>
                  </a:outerShdw>
                </a:effectLst>
              </a:rPr>
              <a:t>Regarding</a:t>
            </a:r>
            <a:r>
              <a:rPr lang="hu-HU" i="1" dirty="0">
                <a:effectLst>
                  <a:outerShdw blurRad="38100" dist="38100" dir="2700000" algn="tl">
                    <a:srgbClr val="000000">
                      <a:alpha val="43137"/>
                    </a:srgbClr>
                  </a:outerShdw>
                </a:effectLst>
              </a:rPr>
              <a:t> </a:t>
            </a:r>
            <a:r>
              <a:rPr lang="hu-HU" i="1" dirty="0" err="1">
                <a:effectLst>
                  <a:outerShdw blurRad="38100" dist="38100" dir="2700000" algn="tl">
                    <a:srgbClr val="000000">
                      <a:alpha val="43137"/>
                    </a:srgbClr>
                  </a:outerShdw>
                </a:effectLst>
              </a:rPr>
              <a:t>fruits</a:t>
            </a:r>
            <a:r>
              <a:rPr lang="hu-HU" i="1" dirty="0">
                <a:effectLst>
                  <a:outerShdw blurRad="38100" dist="38100" dir="2700000" algn="tl">
                    <a:srgbClr val="000000">
                      <a:alpha val="43137"/>
                    </a:srgbClr>
                  </a:outerShdw>
                </a:effectLst>
              </a:rPr>
              <a:t>, Anna </a:t>
            </a:r>
            <a:r>
              <a:rPr lang="hu-HU" i="1" dirty="0" err="1">
                <a:effectLst>
                  <a:outerShdw blurRad="38100" dist="38100" dir="2700000" algn="tl">
                    <a:srgbClr val="000000">
                      <a:alpha val="43137"/>
                    </a:srgbClr>
                  </a:outerShdw>
                </a:effectLst>
              </a:rPr>
              <a:t>ate</a:t>
            </a:r>
            <a:r>
              <a:rPr lang="hu-HU" i="1" dirty="0">
                <a:effectLst>
                  <a:outerShdw blurRad="38100" dist="38100" dir="2700000" algn="tl">
                    <a:srgbClr val="000000">
                      <a:alpha val="43137"/>
                    </a:srgbClr>
                  </a:outerShdw>
                </a:effectLst>
              </a:rPr>
              <a:t> a </a:t>
            </a:r>
            <a:r>
              <a:rPr lang="hu-HU" i="1" dirty="0" err="1">
                <a:effectLst>
                  <a:outerShdw blurRad="38100" dist="38100" dir="2700000" algn="tl">
                    <a:srgbClr val="000000">
                      <a:alpha val="43137"/>
                    </a:srgbClr>
                  </a:outerShdw>
                </a:effectLst>
              </a:rPr>
              <a:t>banana</a:t>
            </a:r>
            <a:r>
              <a:rPr lang="hu-HU" i="1" dirty="0">
                <a:effectLst>
                  <a:outerShdw blurRad="38100" dist="38100" dir="2700000" algn="tl">
                    <a:srgbClr val="000000">
                      <a:alpha val="43137"/>
                    </a:srgbClr>
                  </a:outerShdw>
                </a:effectLst>
              </a:rPr>
              <a:t> </a:t>
            </a:r>
            <a:r>
              <a:rPr lang="hu-HU" i="1" dirty="0" err="1">
                <a:effectLst>
                  <a:outerShdw blurRad="38100" dist="38100" dir="2700000" algn="tl">
                    <a:srgbClr val="000000">
                      <a:alpha val="43137"/>
                    </a:srgbClr>
                  </a:outerShdw>
                </a:effectLst>
              </a:rPr>
              <a:t>yesterday</a:t>
            </a:r>
            <a:r>
              <a:rPr lang="hu-HU" i="1" dirty="0">
                <a:effectLst>
                  <a:outerShdw blurRad="38100" dist="38100" dir="2700000" algn="tl">
                    <a:srgbClr val="000000">
                      <a:alpha val="43137"/>
                    </a:srgbClr>
                  </a:outerShdw>
                </a:effectLst>
              </a:rPr>
              <a:t>.</a:t>
            </a:r>
            <a:r>
              <a:rPr lang="hu-HU" i="1" dirty="0"/>
              <a:t>	</a:t>
            </a:r>
            <a:r>
              <a:rPr lang="hu-HU" dirty="0"/>
              <a:t>			</a:t>
            </a:r>
            <a:endParaRPr lang="en-US" dirty="0"/>
          </a:p>
          <a:p>
            <a:r>
              <a:rPr lang="hu-HU" dirty="0"/>
              <a:t>		</a:t>
            </a:r>
          </a:p>
          <a:p>
            <a:r>
              <a:rPr lang="hu-HU" b="1" dirty="0"/>
              <a:t>Tegnap	</a:t>
            </a:r>
            <a:r>
              <a:rPr lang="en-US" b="1" dirty="0"/>
              <a:t>	</a:t>
            </a:r>
            <a:r>
              <a:rPr lang="hu-HU" b="1" dirty="0"/>
              <a:t>reggel	</a:t>
            </a:r>
            <a:r>
              <a:rPr lang="en-US" b="1" dirty="0"/>
              <a:t>			</a:t>
            </a:r>
            <a:r>
              <a:rPr lang="hu-HU" b="1" dirty="0"/>
              <a:t>Anna	többek	között	</a:t>
            </a:r>
            <a:r>
              <a:rPr lang="en-US" b="1" dirty="0"/>
              <a:t>	</a:t>
            </a:r>
            <a:r>
              <a:rPr lang="hu-HU" b="1" u="sng" dirty="0"/>
              <a:t>egy banánt</a:t>
            </a:r>
            <a:r>
              <a:rPr lang="hu-HU" b="1" dirty="0"/>
              <a:t>	</a:t>
            </a:r>
            <a:r>
              <a:rPr lang="en-US" b="1" dirty="0"/>
              <a:t>	</a:t>
            </a:r>
            <a:r>
              <a:rPr lang="hu-HU" b="1" dirty="0"/>
              <a:t>evett.</a:t>
            </a:r>
          </a:p>
          <a:p>
            <a:r>
              <a:rPr lang="hu-HU" dirty="0" err="1"/>
              <a:t>yesterday</a:t>
            </a:r>
            <a:r>
              <a:rPr lang="hu-HU" dirty="0"/>
              <a:t>	</a:t>
            </a:r>
            <a:r>
              <a:rPr lang="hu-HU" dirty="0" err="1"/>
              <a:t>morning</a:t>
            </a:r>
            <a:r>
              <a:rPr lang="hu-HU" dirty="0"/>
              <a:t>	</a:t>
            </a:r>
            <a:r>
              <a:rPr lang="en-US" dirty="0"/>
              <a:t>			</a:t>
            </a:r>
            <a:r>
              <a:rPr lang="hu-HU" dirty="0"/>
              <a:t>Anna	</a:t>
            </a:r>
            <a:r>
              <a:rPr lang="hu-HU" dirty="0" err="1"/>
              <a:t>others</a:t>
            </a:r>
            <a:r>
              <a:rPr lang="hu-HU" dirty="0"/>
              <a:t>	</a:t>
            </a:r>
            <a:r>
              <a:rPr lang="hu-HU" dirty="0" err="1"/>
              <a:t>among</a:t>
            </a:r>
            <a:r>
              <a:rPr lang="hu-HU" dirty="0"/>
              <a:t>	</a:t>
            </a:r>
            <a:r>
              <a:rPr lang="en-US" dirty="0"/>
              <a:t>	</a:t>
            </a:r>
            <a:r>
              <a:rPr lang="hu-HU" dirty="0"/>
              <a:t>a </a:t>
            </a:r>
            <a:r>
              <a:rPr lang="hu-HU" dirty="0" err="1"/>
              <a:t>banana</a:t>
            </a:r>
            <a:r>
              <a:rPr lang="hu-HU" dirty="0"/>
              <a:t>-ACC	ate-3SG</a:t>
            </a:r>
          </a:p>
          <a:p>
            <a:r>
              <a:rPr lang="hu-HU" i="1" dirty="0" err="1"/>
              <a:t>Yesterday</a:t>
            </a:r>
            <a:r>
              <a:rPr lang="hu-HU" i="1" dirty="0"/>
              <a:t> </a:t>
            </a:r>
            <a:r>
              <a:rPr lang="hu-HU" i="1" dirty="0" err="1"/>
              <a:t>morning</a:t>
            </a:r>
            <a:r>
              <a:rPr lang="hu-HU" i="1" dirty="0"/>
              <a:t> Anna </a:t>
            </a:r>
            <a:r>
              <a:rPr lang="hu-HU" i="1" dirty="0" err="1"/>
              <a:t>ate</a:t>
            </a:r>
            <a:r>
              <a:rPr lang="hu-HU" i="1" dirty="0"/>
              <a:t>, </a:t>
            </a:r>
            <a:r>
              <a:rPr lang="hu-HU" i="1" dirty="0" err="1"/>
              <a:t>among</a:t>
            </a:r>
            <a:r>
              <a:rPr lang="hu-HU" i="1" dirty="0"/>
              <a:t> </a:t>
            </a:r>
            <a:r>
              <a:rPr lang="hu-HU" i="1" dirty="0" err="1"/>
              <a:t>other</a:t>
            </a:r>
            <a:r>
              <a:rPr lang="hu-HU" i="1" dirty="0"/>
              <a:t> </a:t>
            </a:r>
            <a:r>
              <a:rPr lang="hu-HU" i="1" dirty="0" err="1"/>
              <a:t>things</a:t>
            </a:r>
            <a:r>
              <a:rPr lang="hu-HU" i="1" dirty="0"/>
              <a:t>, a </a:t>
            </a:r>
            <a:r>
              <a:rPr lang="hu-HU" i="1" dirty="0" err="1"/>
              <a:t>banana</a:t>
            </a:r>
            <a:r>
              <a:rPr lang="hu-HU" i="1" dirty="0"/>
              <a:t>.		</a:t>
            </a:r>
            <a:r>
              <a:rPr lang="hu-HU" dirty="0"/>
              <a:t>				</a:t>
            </a:r>
          </a:p>
        </p:txBody>
      </p:sp>
      <p:sp>
        <p:nvSpPr>
          <p:cNvPr id="4" name="Slide Number Placeholder 3">
            <a:extLst>
              <a:ext uri="{FF2B5EF4-FFF2-40B4-BE49-F238E27FC236}">
                <a16:creationId xmlns:a16="http://schemas.microsoft.com/office/drawing/2014/main" id="{D43462BD-7E25-5B5B-84C3-E9D78F7018A3}"/>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44</a:t>
            </a:fld>
            <a:endParaRPr lang="en-US" dirty="0"/>
          </a:p>
        </p:txBody>
      </p:sp>
    </p:spTree>
    <p:extLst>
      <p:ext uri="{BB962C8B-B14F-4D97-AF65-F5344CB8AC3E}">
        <p14:creationId xmlns:p14="http://schemas.microsoft.com/office/powerpoint/2010/main" val="38431389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9BEE918-BFEB-BE06-B083-994013DA7B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B67B23-B3DC-7258-3E3C-6C30C4A4C84E}"/>
              </a:ext>
            </a:extLst>
          </p:cNvPr>
          <p:cNvSpPr>
            <a:spLocks noGrp="1"/>
          </p:cNvSpPr>
          <p:nvPr>
            <p:ph type="title"/>
          </p:nvPr>
        </p:nvSpPr>
        <p:spPr>
          <a:xfrm>
            <a:off x="1261872" y="365760"/>
            <a:ext cx="9692640" cy="658707"/>
          </a:xfrm>
        </p:spPr>
        <p:txBody>
          <a:bodyPr>
            <a:normAutofit fontScale="90000"/>
          </a:bodyPr>
          <a:lstStyle/>
          <a:p>
            <a:r>
              <a:rPr lang="en-US" dirty="0"/>
              <a:t>Two experiments: 1</a:t>
            </a:r>
            <a:endParaRPr lang="hu-HU" dirty="0"/>
          </a:p>
        </p:txBody>
      </p:sp>
      <p:sp>
        <p:nvSpPr>
          <p:cNvPr id="3" name="Content Placeholder 2">
            <a:extLst>
              <a:ext uri="{FF2B5EF4-FFF2-40B4-BE49-F238E27FC236}">
                <a16:creationId xmlns:a16="http://schemas.microsoft.com/office/drawing/2014/main" id="{A0E1A5EA-CB53-0BAC-7447-B86778F8D4FD}"/>
              </a:ext>
            </a:extLst>
          </p:cNvPr>
          <p:cNvSpPr>
            <a:spLocks noGrp="1"/>
          </p:cNvSpPr>
          <p:nvPr>
            <p:ph idx="4294967295"/>
          </p:nvPr>
        </p:nvSpPr>
        <p:spPr>
          <a:xfrm>
            <a:off x="1261872" y="1405466"/>
            <a:ext cx="9692640" cy="5086773"/>
          </a:xfrm>
        </p:spPr>
        <p:txBody>
          <a:bodyPr/>
          <a:lstStyle/>
          <a:p>
            <a:pPr marL="457200" indent="-457200">
              <a:buFont typeface="+mj-lt"/>
              <a:buAutoNum type="arabicPeriod"/>
            </a:pPr>
            <a:r>
              <a:rPr lang="en-US" dirty="0">
                <a:solidFill>
                  <a:schemeClr val="tx1">
                    <a:lumMod val="75000"/>
                  </a:schemeClr>
                </a:solidFill>
              </a:rPr>
              <a:t>Hungarian focus constructions – exclusivity vs. </a:t>
            </a:r>
            <a:r>
              <a:rPr lang="en-US" dirty="0" err="1">
                <a:solidFill>
                  <a:schemeClr val="tx1">
                    <a:lumMod val="75000"/>
                  </a:schemeClr>
                </a:solidFill>
              </a:rPr>
              <a:t>contrastivity</a:t>
            </a:r>
            <a:endParaRPr lang="en-US" dirty="0">
              <a:solidFill>
                <a:schemeClr val="tx1">
                  <a:lumMod val="75000"/>
                </a:schemeClr>
              </a:solidFill>
            </a:endParaRPr>
          </a:p>
          <a:p>
            <a:pPr marL="857250" lvl="1" indent="-457200"/>
            <a:r>
              <a:rPr lang="en-US" dirty="0">
                <a:solidFill>
                  <a:schemeClr val="tx1">
                    <a:lumMod val="75000"/>
                  </a:schemeClr>
                </a:solidFill>
              </a:rPr>
              <a:t>Testing if Hungarian focus is exhaustive by default, or if it can be contrastive.</a:t>
            </a:r>
          </a:p>
          <a:p>
            <a:pPr marL="0" indent="0">
              <a:buNone/>
            </a:pPr>
            <a:endParaRPr lang="en-US" dirty="0"/>
          </a:p>
        </p:txBody>
      </p:sp>
      <p:sp>
        <p:nvSpPr>
          <p:cNvPr id="6" name="TextBox 5">
            <a:extLst>
              <a:ext uri="{FF2B5EF4-FFF2-40B4-BE49-F238E27FC236}">
                <a16:creationId xmlns:a16="http://schemas.microsoft.com/office/drawing/2014/main" id="{6C10E39C-B11B-0DCB-140C-EC53A7084A5B}"/>
              </a:ext>
            </a:extLst>
          </p:cNvPr>
          <p:cNvSpPr txBox="1"/>
          <p:nvPr/>
        </p:nvSpPr>
        <p:spPr>
          <a:xfrm>
            <a:off x="362777" y="3429000"/>
            <a:ext cx="1411159" cy="2585323"/>
          </a:xfrm>
          <a:prstGeom prst="rect">
            <a:avLst/>
          </a:prstGeom>
          <a:noFill/>
        </p:spPr>
        <p:txBody>
          <a:bodyPr wrap="square">
            <a:spAutoFit/>
          </a:bodyPr>
          <a:lstStyle/>
          <a:p>
            <a:r>
              <a:rPr lang="hu-HU" b="1" dirty="0" err="1">
                <a:solidFill>
                  <a:schemeClr val="accent4"/>
                </a:solidFill>
              </a:rPr>
              <a:t>exclusive</a:t>
            </a:r>
            <a:endParaRPr lang="hu-HU" b="1" dirty="0">
              <a:solidFill>
                <a:schemeClr val="accent4"/>
              </a:solidFill>
            </a:endParaRPr>
          </a:p>
          <a:p>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r>
              <a:rPr lang="hu-HU" b="1" dirty="0" err="1">
                <a:solidFill>
                  <a:schemeClr val="accent4"/>
                </a:solidFill>
              </a:rPr>
              <a:t>focus</a:t>
            </a:r>
            <a:endParaRPr lang="hu-HU" b="1" dirty="0">
              <a:solidFill>
                <a:schemeClr val="accent4"/>
              </a:solidFill>
            </a:endParaRPr>
          </a:p>
          <a:p>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r>
              <a:rPr lang="hu-HU" b="1" dirty="0" err="1">
                <a:solidFill>
                  <a:schemeClr val="accent4"/>
                </a:solidFill>
              </a:rPr>
              <a:t>contrastive</a:t>
            </a:r>
            <a:endParaRPr lang="hu-HU" b="1" dirty="0">
              <a:solidFill>
                <a:schemeClr val="accent4"/>
              </a:solidFill>
            </a:endParaRPr>
          </a:p>
        </p:txBody>
      </p:sp>
      <p:sp>
        <p:nvSpPr>
          <p:cNvPr id="7" name="TextBox 6">
            <a:extLst>
              <a:ext uri="{FF2B5EF4-FFF2-40B4-BE49-F238E27FC236}">
                <a16:creationId xmlns:a16="http://schemas.microsoft.com/office/drawing/2014/main" id="{564851BE-B2D3-79EB-083A-61E369C3AA7A}"/>
              </a:ext>
            </a:extLst>
          </p:cNvPr>
          <p:cNvSpPr txBox="1"/>
          <p:nvPr/>
        </p:nvSpPr>
        <p:spPr>
          <a:xfrm>
            <a:off x="1773936" y="3429000"/>
            <a:ext cx="10055287" cy="3139321"/>
          </a:xfrm>
          <a:prstGeom prst="rect">
            <a:avLst/>
          </a:prstGeom>
          <a:noFill/>
        </p:spPr>
        <p:txBody>
          <a:bodyPr wrap="square">
            <a:spAutoFit/>
          </a:bodyPr>
          <a:lstStyle/>
          <a:p>
            <a:r>
              <a:rPr lang="hu-HU" b="1" dirty="0"/>
              <a:t>Ami	</a:t>
            </a:r>
            <a:r>
              <a:rPr lang="en-US" b="1" dirty="0"/>
              <a:t>		</a:t>
            </a:r>
            <a:r>
              <a:rPr lang="hu-HU" b="1" dirty="0"/>
              <a:t>a gyümölcsöket	</a:t>
            </a:r>
            <a:r>
              <a:rPr lang="en-US" b="1" dirty="0"/>
              <a:t>	</a:t>
            </a:r>
            <a:r>
              <a:rPr lang="hu-HU" b="1" dirty="0"/>
              <a:t>illeti	</a:t>
            </a:r>
            <a:r>
              <a:rPr lang="en-US" b="1" dirty="0"/>
              <a:t>	</a:t>
            </a:r>
            <a:r>
              <a:rPr lang="hu-HU" b="1" dirty="0"/>
              <a:t>Anna	csak	</a:t>
            </a:r>
            <a:r>
              <a:rPr lang="en-US" b="1" dirty="0"/>
              <a:t>	</a:t>
            </a:r>
            <a:r>
              <a:rPr lang="hu-HU" b="1" u="sng" dirty="0"/>
              <a:t>egy banánt</a:t>
            </a:r>
            <a:r>
              <a:rPr lang="hu-HU" b="1" dirty="0"/>
              <a:t>	</a:t>
            </a:r>
            <a:r>
              <a:rPr lang="en-US" b="1" dirty="0"/>
              <a:t>	</a:t>
            </a:r>
            <a:r>
              <a:rPr lang="hu-HU" b="1" dirty="0"/>
              <a:t>evett.</a:t>
            </a:r>
          </a:p>
          <a:p>
            <a:r>
              <a:rPr lang="hu-HU" dirty="0" err="1"/>
              <a:t>which</a:t>
            </a:r>
            <a:r>
              <a:rPr lang="hu-HU" dirty="0"/>
              <a:t> (</a:t>
            </a:r>
            <a:r>
              <a:rPr lang="hu-HU" dirty="0" err="1"/>
              <a:t>relative</a:t>
            </a:r>
            <a:r>
              <a:rPr lang="hu-HU" dirty="0"/>
              <a:t>)	</a:t>
            </a:r>
            <a:r>
              <a:rPr lang="hu-HU" dirty="0" err="1"/>
              <a:t>the</a:t>
            </a:r>
            <a:r>
              <a:rPr lang="hu-HU" dirty="0"/>
              <a:t> </a:t>
            </a:r>
            <a:r>
              <a:rPr lang="hu-HU" dirty="0" err="1"/>
              <a:t>fruits</a:t>
            </a:r>
            <a:r>
              <a:rPr lang="hu-HU" dirty="0"/>
              <a:t>-ACC	</a:t>
            </a:r>
            <a:r>
              <a:rPr lang="hu-HU" dirty="0" err="1"/>
              <a:t>regards</a:t>
            </a:r>
            <a:r>
              <a:rPr lang="hu-HU" dirty="0"/>
              <a:t>	Anna	</a:t>
            </a:r>
            <a:r>
              <a:rPr lang="hu-HU" dirty="0" err="1"/>
              <a:t>only</a:t>
            </a:r>
            <a:r>
              <a:rPr lang="hu-HU" dirty="0"/>
              <a:t>	</a:t>
            </a:r>
            <a:r>
              <a:rPr lang="en-US" dirty="0"/>
              <a:t>	</a:t>
            </a:r>
            <a:r>
              <a:rPr lang="hu-HU" dirty="0"/>
              <a:t>a </a:t>
            </a:r>
            <a:r>
              <a:rPr lang="hu-HU" dirty="0" err="1"/>
              <a:t>banana</a:t>
            </a:r>
            <a:r>
              <a:rPr lang="hu-HU" dirty="0"/>
              <a:t>-ACC	ate-3SG</a:t>
            </a:r>
          </a:p>
          <a:p>
            <a:r>
              <a:rPr lang="hu-HU" i="1" dirty="0" err="1"/>
              <a:t>Regarding</a:t>
            </a:r>
            <a:r>
              <a:rPr lang="hu-HU" i="1" dirty="0"/>
              <a:t> </a:t>
            </a:r>
            <a:r>
              <a:rPr lang="hu-HU" i="1" dirty="0" err="1"/>
              <a:t>fruits</a:t>
            </a:r>
            <a:r>
              <a:rPr lang="hu-HU" i="1" dirty="0"/>
              <a:t>, Anna </a:t>
            </a:r>
            <a:r>
              <a:rPr lang="hu-HU" i="1" dirty="0" err="1"/>
              <a:t>ate</a:t>
            </a:r>
            <a:r>
              <a:rPr lang="hu-HU" i="1" dirty="0"/>
              <a:t> </a:t>
            </a:r>
            <a:r>
              <a:rPr lang="hu-HU" i="1" dirty="0" err="1"/>
              <a:t>only</a:t>
            </a:r>
            <a:r>
              <a:rPr lang="hu-HU" i="1" dirty="0"/>
              <a:t> a </a:t>
            </a:r>
            <a:r>
              <a:rPr lang="hu-HU" i="1" dirty="0" err="1"/>
              <a:t>banana</a:t>
            </a:r>
            <a:r>
              <a:rPr lang="hu-HU" i="1" dirty="0"/>
              <a:t>.	</a:t>
            </a:r>
            <a:r>
              <a:rPr lang="hu-HU" dirty="0"/>
              <a:t>	</a:t>
            </a:r>
            <a:endParaRPr lang="en-US" dirty="0"/>
          </a:p>
          <a:p>
            <a:r>
              <a:rPr lang="hu-HU" dirty="0"/>
              <a:t>				</a:t>
            </a:r>
          </a:p>
          <a:p>
            <a:r>
              <a:rPr lang="hu-HU" b="1" dirty="0">
                <a:effectLst>
                  <a:outerShdw blurRad="38100" dist="38100" dir="2700000" algn="tl">
                    <a:srgbClr val="000000">
                      <a:alpha val="43137"/>
                    </a:srgbClr>
                  </a:outerShdw>
                </a:effectLst>
              </a:rPr>
              <a:t>Ami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a gyümölcsöket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illeti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Anna	tegnap</a:t>
            </a:r>
            <a:r>
              <a:rPr lang="en-US" b="1" dirty="0">
                <a:effectLst>
                  <a:outerShdw blurRad="38100" dist="38100" dir="2700000" algn="tl">
                    <a:srgbClr val="000000">
                      <a:alpha val="43137"/>
                    </a:srgbClr>
                  </a:outerShdw>
                </a:effectLst>
              </a:rPr>
              <a:t>		</a:t>
            </a:r>
            <a:r>
              <a:rPr lang="hu-HU" b="1" u="sng" dirty="0">
                <a:effectLst>
                  <a:outerShdw blurRad="38100" dist="38100" dir="2700000" algn="tl">
                    <a:srgbClr val="000000">
                      <a:alpha val="43137"/>
                    </a:srgbClr>
                  </a:outerShdw>
                </a:effectLst>
              </a:rPr>
              <a:t>egy banánt</a:t>
            </a:r>
            <a:r>
              <a:rPr lang="hu-HU" b="1" dirty="0">
                <a:effectLst>
                  <a:outerShdw blurRad="38100" dist="38100" dir="2700000" algn="tl">
                    <a:srgbClr val="000000">
                      <a:alpha val="43137"/>
                    </a:srgbClr>
                  </a:outerShdw>
                </a:effectLst>
              </a:rPr>
              <a:t>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evett.</a:t>
            </a:r>
          </a:p>
          <a:p>
            <a:r>
              <a:rPr lang="hu-HU" dirty="0" err="1">
                <a:effectLst>
                  <a:outerShdw blurRad="38100" dist="38100" dir="2700000" algn="tl">
                    <a:srgbClr val="000000">
                      <a:alpha val="43137"/>
                    </a:srgbClr>
                  </a:outerShdw>
                </a:effectLst>
              </a:rPr>
              <a:t>which</a:t>
            </a:r>
            <a:r>
              <a:rPr lang="hu-HU" dirty="0">
                <a:effectLst>
                  <a:outerShdw blurRad="38100" dist="38100" dir="2700000" algn="tl">
                    <a:srgbClr val="000000">
                      <a:alpha val="43137"/>
                    </a:srgbClr>
                  </a:outerShdw>
                </a:effectLst>
              </a:rPr>
              <a:t> (</a:t>
            </a:r>
            <a:r>
              <a:rPr lang="hu-HU" dirty="0" err="1">
                <a:effectLst>
                  <a:outerShdw blurRad="38100" dist="38100" dir="2700000" algn="tl">
                    <a:srgbClr val="000000">
                      <a:alpha val="43137"/>
                    </a:srgbClr>
                  </a:outerShdw>
                </a:effectLst>
              </a:rPr>
              <a:t>relative</a:t>
            </a:r>
            <a:r>
              <a:rPr lang="hu-HU" dirty="0">
                <a:effectLst>
                  <a:outerShdw blurRad="38100" dist="38100" dir="2700000" algn="tl">
                    <a:srgbClr val="000000">
                      <a:alpha val="43137"/>
                    </a:srgbClr>
                  </a:outerShdw>
                </a:effectLst>
              </a:rPr>
              <a:t>)	</a:t>
            </a:r>
            <a:r>
              <a:rPr lang="hu-HU" dirty="0" err="1">
                <a:effectLst>
                  <a:outerShdw blurRad="38100" dist="38100" dir="2700000" algn="tl">
                    <a:srgbClr val="000000">
                      <a:alpha val="43137"/>
                    </a:srgbClr>
                  </a:outerShdw>
                </a:effectLst>
              </a:rPr>
              <a:t>the</a:t>
            </a:r>
            <a:r>
              <a:rPr lang="hu-HU" dirty="0">
                <a:effectLst>
                  <a:outerShdw blurRad="38100" dist="38100" dir="2700000" algn="tl">
                    <a:srgbClr val="000000">
                      <a:alpha val="43137"/>
                    </a:srgbClr>
                  </a:outerShdw>
                </a:effectLst>
              </a:rPr>
              <a:t> </a:t>
            </a:r>
            <a:r>
              <a:rPr lang="hu-HU" dirty="0" err="1">
                <a:effectLst>
                  <a:outerShdw blurRad="38100" dist="38100" dir="2700000" algn="tl">
                    <a:srgbClr val="000000">
                      <a:alpha val="43137"/>
                    </a:srgbClr>
                  </a:outerShdw>
                </a:effectLst>
              </a:rPr>
              <a:t>fruits</a:t>
            </a:r>
            <a:r>
              <a:rPr lang="hu-HU" dirty="0">
                <a:effectLst>
                  <a:outerShdw blurRad="38100" dist="38100" dir="2700000" algn="tl">
                    <a:srgbClr val="000000">
                      <a:alpha val="43137"/>
                    </a:srgbClr>
                  </a:outerShdw>
                </a:effectLst>
              </a:rPr>
              <a:t>-ACC	</a:t>
            </a:r>
            <a:r>
              <a:rPr lang="hu-HU" dirty="0" err="1">
                <a:effectLst>
                  <a:outerShdw blurRad="38100" dist="38100" dir="2700000" algn="tl">
                    <a:srgbClr val="000000">
                      <a:alpha val="43137"/>
                    </a:srgbClr>
                  </a:outerShdw>
                </a:effectLst>
              </a:rPr>
              <a:t>regards</a:t>
            </a:r>
            <a:r>
              <a:rPr lang="hu-HU" dirty="0">
                <a:effectLst>
                  <a:outerShdw blurRad="38100" dist="38100" dir="2700000" algn="tl">
                    <a:srgbClr val="000000">
                      <a:alpha val="43137"/>
                    </a:srgbClr>
                  </a:outerShdw>
                </a:effectLst>
              </a:rPr>
              <a:t>	Anna	</a:t>
            </a:r>
            <a:r>
              <a:rPr lang="hu-HU" dirty="0" err="1">
                <a:effectLst>
                  <a:outerShdw blurRad="38100" dist="38100" dir="2700000" algn="tl">
                    <a:srgbClr val="000000">
                      <a:alpha val="43137"/>
                    </a:srgbClr>
                  </a:outerShdw>
                </a:effectLst>
              </a:rPr>
              <a:t>yesterday</a:t>
            </a:r>
            <a:r>
              <a:rPr lang="en-US" dirty="0">
                <a:effectLst>
                  <a:outerShdw blurRad="38100" dist="38100" dir="2700000" algn="tl">
                    <a:srgbClr val="000000">
                      <a:alpha val="43137"/>
                    </a:srgbClr>
                  </a:outerShdw>
                </a:effectLst>
              </a:rPr>
              <a:t>	</a:t>
            </a:r>
            <a:r>
              <a:rPr lang="hu-HU" dirty="0">
                <a:effectLst>
                  <a:outerShdw blurRad="38100" dist="38100" dir="2700000" algn="tl">
                    <a:srgbClr val="000000">
                      <a:alpha val="43137"/>
                    </a:srgbClr>
                  </a:outerShdw>
                </a:effectLst>
              </a:rPr>
              <a:t>a </a:t>
            </a:r>
            <a:r>
              <a:rPr lang="hu-HU" dirty="0" err="1">
                <a:effectLst>
                  <a:outerShdw blurRad="38100" dist="38100" dir="2700000" algn="tl">
                    <a:srgbClr val="000000">
                      <a:alpha val="43137"/>
                    </a:srgbClr>
                  </a:outerShdw>
                </a:effectLst>
              </a:rPr>
              <a:t>banana</a:t>
            </a:r>
            <a:r>
              <a:rPr lang="hu-HU" dirty="0">
                <a:effectLst>
                  <a:outerShdw blurRad="38100" dist="38100" dir="2700000" algn="tl">
                    <a:srgbClr val="000000">
                      <a:alpha val="43137"/>
                    </a:srgbClr>
                  </a:outerShdw>
                </a:effectLst>
              </a:rPr>
              <a:t>-ACC	ate-3SG</a:t>
            </a:r>
          </a:p>
          <a:p>
            <a:r>
              <a:rPr lang="hu-HU" i="1" dirty="0" err="1">
                <a:effectLst>
                  <a:outerShdw blurRad="38100" dist="38100" dir="2700000" algn="tl">
                    <a:srgbClr val="000000">
                      <a:alpha val="43137"/>
                    </a:srgbClr>
                  </a:outerShdw>
                </a:effectLst>
              </a:rPr>
              <a:t>Regarding</a:t>
            </a:r>
            <a:r>
              <a:rPr lang="hu-HU" i="1" dirty="0">
                <a:effectLst>
                  <a:outerShdw blurRad="38100" dist="38100" dir="2700000" algn="tl">
                    <a:srgbClr val="000000">
                      <a:alpha val="43137"/>
                    </a:srgbClr>
                  </a:outerShdw>
                </a:effectLst>
              </a:rPr>
              <a:t> </a:t>
            </a:r>
            <a:r>
              <a:rPr lang="hu-HU" i="1" dirty="0" err="1">
                <a:effectLst>
                  <a:outerShdw blurRad="38100" dist="38100" dir="2700000" algn="tl">
                    <a:srgbClr val="000000">
                      <a:alpha val="43137"/>
                    </a:srgbClr>
                  </a:outerShdw>
                </a:effectLst>
              </a:rPr>
              <a:t>fruits</a:t>
            </a:r>
            <a:r>
              <a:rPr lang="hu-HU" i="1" dirty="0">
                <a:effectLst>
                  <a:outerShdw blurRad="38100" dist="38100" dir="2700000" algn="tl">
                    <a:srgbClr val="000000">
                      <a:alpha val="43137"/>
                    </a:srgbClr>
                  </a:outerShdw>
                </a:effectLst>
              </a:rPr>
              <a:t>, Anna </a:t>
            </a:r>
            <a:r>
              <a:rPr lang="hu-HU" i="1" dirty="0" err="1">
                <a:effectLst>
                  <a:outerShdw blurRad="38100" dist="38100" dir="2700000" algn="tl">
                    <a:srgbClr val="000000">
                      <a:alpha val="43137"/>
                    </a:srgbClr>
                  </a:outerShdw>
                </a:effectLst>
              </a:rPr>
              <a:t>ate</a:t>
            </a:r>
            <a:r>
              <a:rPr lang="hu-HU" i="1" dirty="0">
                <a:effectLst>
                  <a:outerShdw blurRad="38100" dist="38100" dir="2700000" algn="tl">
                    <a:srgbClr val="000000">
                      <a:alpha val="43137"/>
                    </a:srgbClr>
                  </a:outerShdw>
                </a:effectLst>
              </a:rPr>
              <a:t> a </a:t>
            </a:r>
            <a:r>
              <a:rPr lang="hu-HU" i="1" dirty="0" err="1">
                <a:effectLst>
                  <a:outerShdw blurRad="38100" dist="38100" dir="2700000" algn="tl">
                    <a:srgbClr val="000000">
                      <a:alpha val="43137"/>
                    </a:srgbClr>
                  </a:outerShdw>
                </a:effectLst>
              </a:rPr>
              <a:t>banana</a:t>
            </a:r>
            <a:r>
              <a:rPr lang="hu-HU" i="1" dirty="0">
                <a:effectLst>
                  <a:outerShdw blurRad="38100" dist="38100" dir="2700000" algn="tl">
                    <a:srgbClr val="000000">
                      <a:alpha val="43137"/>
                    </a:srgbClr>
                  </a:outerShdw>
                </a:effectLst>
              </a:rPr>
              <a:t> </a:t>
            </a:r>
            <a:r>
              <a:rPr lang="hu-HU" i="1" dirty="0" err="1">
                <a:effectLst>
                  <a:outerShdw blurRad="38100" dist="38100" dir="2700000" algn="tl">
                    <a:srgbClr val="000000">
                      <a:alpha val="43137"/>
                    </a:srgbClr>
                  </a:outerShdw>
                </a:effectLst>
              </a:rPr>
              <a:t>yesterday</a:t>
            </a:r>
            <a:r>
              <a:rPr lang="hu-HU" i="1" dirty="0">
                <a:effectLst>
                  <a:outerShdw blurRad="38100" dist="38100" dir="2700000" algn="tl">
                    <a:srgbClr val="000000">
                      <a:alpha val="43137"/>
                    </a:srgbClr>
                  </a:outerShdw>
                </a:effectLst>
              </a:rPr>
              <a:t>.</a:t>
            </a:r>
            <a:r>
              <a:rPr lang="hu-HU" i="1" dirty="0"/>
              <a:t>	</a:t>
            </a:r>
            <a:r>
              <a:rPr lang="hu-HU" dirty="0"/>
              <a:t>			</a:t>
            </a:r>
            <a:endParaRPr lang="en-US" dirty="0"/>
          </a:p>
          <a:p>
            <a:r>
              <a:rPr lang="hu-HU" dirty="0"/>
              <a:t>		</a:t>
            </a:r>
          </a:p>
          <a:p>
            <a:r>
              <a:rPr lang="hu-HU" b="1" dirty="0"/>
              <a:t>Tegnap	</a:t>
            </a:r>
            <a:r>
              <a:rPr lang="en-US" b="1" dirty="0"/>
              <a:t>	</a:t>
            </a:r>
            <a:r>
              <a:rPr lang="hu-HU" b="1" dirty="0"/>
              <a:t>reggel	</a:t>
            </a:r>
            <a:r>
              <a:rPr lang="en-US" b="1" dirty="0"/>
              <a:t>			</a:t>
            </a:r>
            <a:r>
              <a:rPr lang="hu-HU" b="1" dirty="0"/>
              <a:t>Anna	többek	között	</a:t>
            </a:r>
            <a:r>
              <a:rPr lang="en-US" b="1" dirty="0"/>
              <a:t>	</a:t>
            </a:r>
            <a:r>
              <a:rPr lang="hu-HU" b="1" u="sng" dirty="0"/>
              <a:t>egy banánt</a:t>
            </a:r>
            <a:r>
              <a:rPr lang="hu-HU" b="1" dirty="0"/>
              <a:t>	</a:t>
            </a:r>
            <a:r>
              <a:rPr lang="en-US" b="1" dirty="0"/>
              <a:t>	</a:t>
            </a:r>
            <a:r>
              <a:rPr lang="hu-HU" b="1" dirty="0"/>
              <a:t>evett.</a:t>
            </a:r>
          </a:p>
          <a:p>
            <a:r>
              <a:rPr lang="hu-HU" dirty="0" err="1"/>
              <a:t>yesterday</a:t>
            </a:r>
            <a:r>
              <a:rPr lang="hu-HU" dirty="0"/>
              <a:t>	</a:t>
            </a:r>
            <a:r>
              <a:rPr lang="hu-HU" dirty="0" err="1"/>
              <a:t>morning</a:t>
            </a:r>
            <a:r>
              <a:rPr lang="hu-HU" dirty="0"/>
              <a:t>	</a:t>
            </a:r>
            <a:r>
              <a:rPr lang="en-US" dirty="0"/>
              <a:t>			</a:t>
            </a:r>
            <a:r>
              <a:rPr lang="hu-HU" dirty="0"/>
              <a:t>Anna	</a:t>
            </a:r>
            <a:r>
              <a:rPr lang="hu-HU" dirty="0" err="1"/>
              <a:t>others</a:t>
            </a:r>
            <a:r>
              <a:rPr lang="hu-HU" dirty="0"/>
              <a:t>	</a:t>
            </a:r>
            <a:r>
              <a:rPr lang="hu-HU" dirty="0" err="1"/>
              <a:t>among</a:t>
            </a:r>
            <a:r>
              <a:rPr lang="hu-HU" dirty="0"/>
              <a:t>	</a:t>
            </a:r>
            <a:r>
              <a:rPr lang="en-US" dirty="0"/>
              <a:t>	</a:t>
            </a:r>
            <a:r>
              <a:rPr lang="hu-HU" dirty="0"/>
              <a:t>a </a:t>
            </a:r>
            <a:r>
              <a:rPr lang="hu-HU" dirty="0" err="1"/>
              <a:t>banana</a:t>
            </a:r>
            <a:r>
              <a:rPr lang="hu-HU" dirty="0"/>
              <a:t>-ACC	ate-3SG</a:t>
            </a:r>
          </a:p>
          <a:p>
            <a:r>
              <a:rPr lang="hu-HU" i="1" dirty="0" err="1"/>
              <a:t>Yesterday</a:t>
            </a:r>
            <a:r>
              <a:rPr lang="hu-HU" i="1" dirty="0"/>
              <a:t> </a:t>
            </a:r>
            <a:r>
              <a:rPr lang="hu-HU" i="1" dirty="0" err="1"/>
              <a:t>morning</a:t>
            </a:r>
            <a:r>
              <a:rPr lang="hu-HU" i="1" dirty="0"/>
              <a:t> Anna </a:t>
            </a:r>
            <a:r>
              <a:rPr lang="hu-HU" i="1" dirty="0" err="1"/>
              <a:t>ate</a:t>
            </a:r>
            <a:r>
              <a:rPr lang="hu-HU" i="1" dirty="0"/>
              <a:t>, </a:t>
            </a:r>
            <a:r>
              <a:rPr lang="hu-HU" i="1" dirty="0" err="1"/>
              <a:t>among</a:t>
            </a:r>
            <a:r>
              <a:rPr lang="hu-HU" i="1" dirty="0"/>
              <a:t> </a:t>
            </a:r>
            <a:r>
              <a:rPr lang="hu-HU" i="1" dirty="0" err="1"/>
              <a:t>other</a:t>
            </a:r>
            <a:r>
              <a:rPr lang="hu-HU" i="1" dirty="0"/>
              <a:t> </a:t>
            </a:r>
            <a:r>
              <a:rPr lang="hu-HU" i="1" dirty="0" err="1"/>
              <a:t>things</a:t>
            </a:r>
            <a:r>
              <a:rPr lang="hu-HU" i="1" dirty="0"/>
              <a:t>, a </a:t>
            </a:r>
            <a:r>
              <a:rPr lang="hu-HU" i="1" dirty="0" err="1"/>
              <a:t>banana</a:t>
            </a:r>
            <a:r>
              <a:rPr lang="hu-HU" i="1" dirty="0"/>
              <a:t>.		</a:t>
            </a:r>
            <a:r>
              <a:rPr lang="hu-HU" dirty="0"/>
              <a:t>				</a:t>
            </a:r>
          </a:p>
        </p:txBody>
      </p:sp>
      <p:sp>
        <p:nvSpPr>
          <p:cNvPr id="4" name="Slide Number Placeholder 3">
            <a:extLst>
              <a:ext uri="{FF2B5EF4-FFF2-40B4-BE49-F238E27FC236}">
                <a16:creationId xmlns:a16="http://schemas.microsoft.com/office/drawing/2014/main" id="{E69CE100-A595-9833-513D-1FB5768BCB9C}"/>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45</a:t>
            </a:fld>
            <a:endParaRPr lang="en-US" dirty="0"/>
          </a:p>
        </p:txBody>
      </p:sp>
    </p:spTree>
    <p:extLst>
      <p:ext uri="{BB962C8B-B14F-4D97-AF65-F5344CB8AC3E}">
        <p14:creationId xmlns:p14="http://schemas.microsoft.com/office/powerpoint/2010/main" val="23683315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FCBB7B5-FE59-2387-B8F3-BB88676FE5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62901C-7866-21FF-F61F-AB4EC4A063BC}"/>
              </a:ext>
            </a:extLst>
          </p:cNvPr>
          <p:cNvSpPr>
            <a:spLocks noGrp="1"/>
          </p:cNvSpPr>
          <p:nvPr>
            <p:ph type="title"/>
          </p:nvPr>
        </p:nvSpPr>
        <p:spPr>
          <a:xfrm>
            <a:off x="1261872" y="365760"/>
            <a:ext cx="9692640" cy="658707"/>
          </a:xfrm>
        </p:spPr>
        <p:txBody>
          <a:bodyPr>
            <a:normAutofit fontScale="90000"/>
          </a:bodyPr>
          <a:lstStyle/>
          <a:p>
            <a:r>
              <a:rPr lang="en-US" dirty="0"/>
              <a:t>Two experiments: 1</a:t>
            </a:r>
            <a:endParaRPr lang="hu-HU" dirty="0"/>
          </a:p>
        </p:txBody>
      </p:sp>
      <p:sp>
        <p:nvSpPr>
          <p:cNvPr id="3" name="Content Placeholder 2">
            <a:extLst>
              <a:ext uri="{FF2B5EF4-FFF2-40B4-BE49-F238E27FC236}">
                <a16:creationId xmlns:a16="http://schemas.microsoft.com/office/drawing/2014/main" id="{CC6F53DE-FECB-F7E9-4B4E-01BFA489ADD3}"/>
              </a:ext>
            </a:extLst>
          </p:cNvPr>
          <p:cNvSpPr>
            <a:spLocks noGrp="1"/>
          </p:cNvSpPr>
          <p:nvPr>
            <p:ph idx="4294967295"/>
          </p:nvPr>
        </p:nvSpPr>
        <p:spPr>
          <a:xfrm>
            <a:off x="1261872" y="1405466"/>
            <a:ext cx="9692640" cy="5086773"/>
          </a:xfrm>
        </p:spPr>
        <p:txBody>
          <a:bodyPr/>
          <a:lstStyle/>
          <a:p>
            <a:pPr marL="457200" indent="-457200">
              <a:buFont typeface="+mj-lt"/>
              <a:buAutoNum type="arabicPeriod"/>
            </a:pPr>
            <a:r>
              <a:rPr lang="en-US" dirty="0">
                <a:solidFill>
                  <a:schemeClr val="tx1">
                    <a:lumMod val="75000"/>
                  </a:schemeClr>
                </a:solidFill>
              </a:rPr>
              <a:t>Hungarian focus constructions – exclusivity vs. </a:t>
            </a:r>
            <a:r>
              <a:rPr lang="en-US" dirty="0" err="1">
                <a:solidFill>
                  <a:schemeClr val="tx1">
                    <a:lumMod val="75000"/>
                  </a:schemeClr>
                </a:solidFill>
              </a:rPr>
              <a:t>contrastivity</a:t>
            </a:r>
            <a:endParaRPr lang="en-US" dirty="0">
              <a:solidFill>
                <a:schemeClr val="tx1">
                  <a:lumMod val="75000"/>
                </a:schemeClr>
              </a:solidFill>
            </a:endParaRPr>
          </a:p>
          <a:p>
            <a:pPr marL="857250" lvl="1" indent="-457200"/>
            <a:r>
              <a:rPr lang="en-US" dirty="0">
                <a:solidFill>
                  <a:schemeClr val="tx1">
                    <a:lumMod val="75000"/>
                  </a:schemeClr>
                </a:solidFill>
              </a:rPr>
              <a:t>Testing if Hungarian focus is exhaustive by default, or if it can be contrastive.</a:t>
            </a:r>
          </a:p>
          <a:p>
            <a:pPr marL="0" indent="0">
              <a:buNone/>
            </a:pPr>
            <a:endParaRPr lang="en-US" dirty="0"/>
          </a:p>
        </p:txBody>
      </p:sp>
      <p:sp>
        <p:nvSpPr>
          <p:cNvPr id="6" name="TextBox 5">
            <a:extLst>
              <a:ext uri="{FF2B5EF4-FFF2-40B4-BE49-F238E27FC236}">
                <a16:creationId xmlns:a16="http://schemas.microsoft.com/office/drawing/2014/main" id="{7C3F57B1-39DA-31FA-0A34-9D43854D729B}"/>
              </a:ext>
            </a:extLst>
          </p:cNvPr>
          <p:cNvSpPr txBox="1"/>
          <p:nvPr/>
        </p:nvSpPr>
        <p:spPr>
          <a:xfrm>
            <a:off x="362777" y="3429000"/>
            <a:ext cx="1411159" cy="2585323"/>
          </a:xfrm>
          <a:prstGeom prst="rect">
            <a:avLst/>
          </a:prstGeom>
          <a:noFill/>
        </p:spPr>
        <p:txBody>
          <a:bodyPr wrap="square">
            <a:spAutoFit/>
          </a:bodyPr>
          <a:lstStyle/>
          <a:p>
            <a:r>
              <a:rPr lang="hu-HU" b="1" dirty="0" err="1">
                <a:solidFill>
                  <a:schemeClr val="accent4"/>
                </a:solidFill>
              </a:rPr>
              <a:t>exclusive</a:t>
            </a:r>
            <a:endParaRPr lang="hu-HU" b="1" dirty="0">
              <a:solidFill>
                <a:schemeClr val="accent4"/>
              </a:solidFill>
            </a:endParaRPr>
          </a:p>
          <a:p>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r>
              <a:rPr lang="hu-HU" b="1" dirty="0" err="1">
                <a:solidFill>
                  <a:schemeClr val="accent4"/>
                </a:solidFill>
              </a:rPr>
              <a:t>focus</a:t>
            </a:r>
            <a:endParaRPr lang="hu-HU" b="1" dirty="0">
              <a:solidFill>
                <a:schemeClr val="accent4"/>
              </a:solidFill>
            </a:endParaRPr>
          </a:p>
          <a:p>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r>
              <a:rPr lang="hu-HU" b="1" dirty="0" err="1">
                <a:solidFill>
                  <a:schemeClr val="accent4"/>
                </a:solidFill>
              </a:rPr>
              <a:t>contrastive</a:t>
            </a:r>
            <a:endParaRPr lang="hu-HU" b="1" dirty="0">
              <a:solidFill>
                <a:schemeClr val="accent4"/>
              </a:solidFill>
            </a:endParaRPr>
          </a:p>
        </p:txBody>
      </p:sp>
      <p:sp>
        <p:nvSpPr>
          <p:cNvPr id="7" name="TextBox 6">
            <a:extLst>
              <a:ext uri="{FF2B5EF4-FFF2-40B4-BE49-F238E27FC236}">
                <a16:creationId xmlns:a16="http://schemas.microsoft.com/office/drawing/2014/main" id="{27F3F926-AA8C-6FF3-93C7-8D05BF4CB572}"/>
              </a:ext>
            </a:extLst>
          </p:cNvPr>
          <p:cNvSpPr txBox="1"/>
          <p:nvPr/>
        </p:nvSpPr>
        <p:spPr>
          <a:xfrm>
            <a:off x="1773936" y="3429000"/>
            <a:ext cx="10055287" cy="3139321"/>
          </a:xfrm>
          <a:prstGeom prst="rect">
            <a:avLst/>
          </a:prstGeom>
          <a:noFill/>
        </p:spPr>
        <p:txBody>
          <a:bodyPr wrap="square">
            <a:spAutoFit/>
          </a:bodyPr>
          <a:lstStyle/>
          <a:p>
            <a:r>
              <a:rPr lang="hu-HU" b="1" dirty="0"/>
              <a:t>Ami	</a:t>
            </a:r>
            <a:r>
              <a:rPr lang="en-US" b="1" dirty="0"/>
              <a:t>		</a:t>
            </a:r>
            <a:r>
              <a:rPr lang="hu-HU" b="1" dirty="0"/>
              <a:t>a gyümölcsöket	</a:t>
            </a:r>
            <a:r>
              <a:rPr lang="en-US" b="1" dirty="0"/>
              <a:t>	</a:t>
            </a:r>
            <a:r>
              <a:rPr lang="hu-HU" b="1" dirty="0"/>
              <a:t>illeti	</a:t>
            </a:r>
            <a:r>
              <a:rPr lang="en-US" b="1" dirty="0"/>
              <a:t>	</a:t>
            </a:r>
            <a:r>
              <a:rPr lang="hu-HU" b="1" dirty="0"/>
              <a:t>Anna	</a:t>
            </a:r>
            <a:r>
              <a:rPr lang="hu-HU" b="1" dirty="0">
                <a:solidFill>
                  <a:srgbClr val="92D050"/>
                </a:solidFill>
              </a:rPr>
              <a:t>csak</a:t>
            </a:r>
            <a:r>
              <a:rPr lang="hu-HU" b="1" dirty="0"/>
              <a:t>	</a:t>
            </a:r>
            <a:r>
              <a:rPr lang="en-US" b="1" dirty="0"/>
              <a:t>	</a:t>
            </a:r>
            <a:r>
              <a:rPr lang="hu-HU" b="1" u="sng" dirty="0"/>
              <a:t>egy banánt</a:t>
            </a:r>
            <a:r>
              <a:rPr lang="hu-HU" b="1" dirty="0"/>
              <a:t>	</a:t>
            </a:r>
            <a:r>
              <a:rPr lang="en-US" b="1" dirty="0"/>
              <a:t>	</a:t>
            </a:r>
            <a:r>
              <a:rPr lang="hu-HU" b="1" dirty="0"/>
              <a:t>evett.</a:t>
            </a:r>
          </a:p>
          <a:p>
            <a:r>
              <a:rPr lang="hu-HU" dirty="0" err="1"/>
              <a:t>which</a:t>
            </a:r>
            <a:r>
              <a:rPr lang="hu-HU" dirty="0"/>
              <a:t> (</a:t>
            </a:r>
            <a:r>
              <a:rPr lang="hu-HU" dirty="0" err="1"/>
              <a:t>relative</a:t>
            </a:r>
            <a:r>
              <a:rPr lang="hu-HU" dirty="0"/>
              <a:t>)	</a:t>
            </a:r>
            <a:r>
              <a:rPr lang="hu-HU" dirty="0" err="1"/>
              <a:t>the</a:t>
            </a:r>
            <a:r>
              <a:rPr lang="hu-HU" dirty="0"/>
              <a:t> </a:t>
            </a:r>
            <a:r>
              <a:rPr lang="hu-HU" dirty="0" err="1"/>
              <a:t>fruits</a:t>
            </a:r>
            <a:r>
              <a:rPr lang="hu-HU" dirty="0"/>
              <a:t>-ACC	</a:t>
            </a:r>
            <a:r>
              <a:rPr lang="hu-HU" dirty="0" err="1"/>
              <a:t>regards</a:t>
            </a:r>
            <a:r>
              <a:rPr lang="hu-HU" dirty="0"/>
              <a:t>	Anna	</a:t>
            </a:r>
            <a:r>
              <a:rPr lang="hu-HU" dirty="0" err="1"/>
              <a:t>only</a:t>
            </a:r>
            <a:r>
              <a:rPr lang="hu-HU" dirty="0"/>
              <a:t>	</a:t>
            </a:r>
            <a:r>
              <a:rPr lang="en-US" dirty="0"/>
              <a:t>	</a:t>
            </a:r>
            <a:r>
              <a:rPr lang="hu-HU" dirty="0"/>
              <a:t>a </a:t>
            </a:r>
            <a:r>
              <a:rPr lang="hu-HU" dirty="0" err="1"/>
              <a:t>banana</a:t>
            </a:r>
            <a:r>
              <a:rPr lang="hu-HU" dirty="0"/>
              <a:t>-ACC	ate-3SG</a:t>
            </a:r>
          </a:p>
          <a:p>
            <a:r>
              <a:rPr lang="hu-HU" i="1" dirty="0" err="1"/>
              <a:t>Regarding</a:t>
            </a:r>
            <a:r>
              <a:rPr lang="hu-HU" i="1" dirty="0"/>
              <a:t> </a:t>
            </a:r>
            <a:r>
              <a:rPr lang="hu-HU" i="1" dirty="0" err="1"/>
              <a:t>fruits</a:t>
            </a:r>
            <a:r>
              <a:rPr lang="hu-HU" i="1" dirty="0"/>
              <a:t>, Anna </a:t>
            </a:r>
            <a:r>
              <a:rPr lang="hu-HU" i="1" dirty="0" err="1"/>
              <a:t>ate</a:t>
            </a:r>
            <a:r>
              <a:rPr lang="hu-HU" i="1" dirty="0"/>
              <a:t> </a:t>
            </a:r>
            <a:r>
              <a:rPr lang="hu-HU" i="1" dirty="0" err="1"/>
              <a:t>only</a:t>
            </a:r>
            <a:r>
              <a:rPr lang="hu-HU" i="1" dirty="0"/>
              <a:t> a </a:t>
            </a:r>
            <a:r>
              <a:rPr lang="hu-HU" i="1" dirty="0" err="1"/>
              <a:t>banana</a:t>
            </a:r>
            <a:r>
              <a:rPr lang="hu-HU" i="1" dirty="0"/>
              <a:t>.	</a:t>
            </a:r>
            <a:r>
              <a:rPr lang="hu-HU" dirty="0"/>
              <a:t>	</a:t>
            </a:r>
            <a:endParaRPr lang="en-US" dirty="0"/>
          </a:p>
          <a:p>
            <a:r>
              <a:rPr lang="hu-HU" dirty="0"/>
              <a:t>				</a:t>
            </a:r>
          </a:p>
          <a:p>
            <a:r>
              <a:rPr lang="hu-HU" b="1" dirty="0">
                <a:effectLst>
                  <a:outerShdw blurRad="38100" dist="38100" dir="2700000" algn="tl">
                    <a:srgbClr val="000000">
                      <a:alpha val="43137"/>
                    </a:srgbClr>
                  </a:outerShdw>
                </a:effectLst>
              </a:rPr>
              <a:t>Ami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a gyümölcsöket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illeti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Anna	tegnap</a:t>
            </a:r>
            <a:r>
              <a:rPr lang="en-US" b="1" dirty="0">
                <a:effectLst>
                  <a:outerShdw blurRad="38100" dist="38100" dir="2700000" algn="tl">
                    <a:srgbClr val="000000">
                      <a:alpha val="43137"/>
                    </a:srgbClr>
                  </a:outerShdw>
                </a:effectLst>
              </a:rPr>
              <a:t>		</a:t>
            </a:r>
            <a:r>
              <a:rPr lang="hu-HU" b="1" u="sng" dirty="0">
                <a:effectLst>
                  <a:outerShdw blurRad="38100" dist="38100" dir="2700000" algn="tl">
                    <a:srgbClr val="000000">
                      <a:alpha val="43137"/>
                    </a:srgbClr>
                  </a:outerShdw>
                </a:effectLst>
              </a:rPr>
              <a:t>egy banánt</a:t>
            </a:r>
            <a:r>
              <a:rPr lang="hu-HU" b="1" dirty="0">
                <a:effectLst>
                  <a:outerShdw blurRad="38100" dist="38100" dir="2700000" algn="tl">
                    <a:srgbClr val="000000">
                      <a:alpha val="43137"/>
                    </a:srgbClr>
                  </a:outerShdw>
                </a:effectLst>
              </a:rPr>
              <a:t>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evett.</a:t>
            </a:r>
          </a:p>
          <a:p>
            <a:r>
              <a:rPr lang="hu-HU" dirty="0" err="1">
                <a:effectLst>
                  <a:outerShdw blurRad="38100" dist="38100" dir="2700000" algn="tl">
                    <a:srgbClr val="000000">
                      <a:alpha val="43137"/>
                    </a:srgbClr>
                  </a:outerShdw>
                </a:effectLst>
              </a:rPr>
              <a:t>which</a:t>
            </a:r>
            <a:r>
              <a:rPr lang="hu-HU" dirty="0">
                <a:effectLst>
                  <a:outerShdw blurRad="38100" dist="38100" dir="2700000" algn="tl">
                    <a:srgbClr val="000000">
                      <a:alpha val="43137"/>
                    </a:srgbClr>
                  </a:outerShdw>
                </a:effectLst>
              </a:rPr>
              <a:t> (</a:t>
            </a:r>
            <a:r>
              <a:rPr lang="hu-HU" dirty="0" err="1">
                <a:effectLst>
                  <a:outerShdw blurRad="38100" dist="38100" dir="2700000" algn="tl">
                    <a:srgbClr val="000000">
                      <a:alpha val="43137"/>
                    </a:srgbClr>
                  </a:outerShdw>
                </a:effectLst>
              </a:rPr>
              <a:t>relative</a:t>
            </a:r>
            <a:r>
              <a:rPr lang="hu-HU" dirty="0">
                <a:effectLst>
                  <a:outerShdw blurRad="38100" dist="38100" dir="2700000" algn="tl">
                    <a:srgbClr val="000000">
                      <a:alpha val="43137"/>
                    </a:srgbClr>
                  </a:outerShdw>
                </a:effectLst>
              </a:rPr>
              <a:t>)	</a:t>
            </a:r>
            <a:r>
              <a:rPr lang="hu-HU" dirty="0" err="1">
                <a:effectLst>
                  <a:outerShdw blurRad="38100" dist="38100" dir="2700000" algn="tl">
                    <a:srgbClr val="000000">
                      <a:alpha val="43137"/>
                    </a:srgbClr>
                  </a:outerShdw>
                </a:effectLst>
              </a:rPr>
              <a:t>the</a:t>
            </a:r>
            <a:r>
              <a:rPr lang="hu-HU" dirty="0">
                <a:effectLst>
                  <a:outerShdw blurRad="38100" dist="38100" dir="2700000" algn="tl">
                    <a:srgbClr val="000000">
                      <a:alpha val="43137"/>
                    </a:srgbClr>
                  </a:outerShdw>
                </a:effectLst>
              </a:rPr>
              <a:t> </a:t>
            </a:r>
            <a:r>
              <a:rPr lang="hu-HU" dirty="0" err="1">
                <a:effectLst>
                  <a:outerShdw blurRad="38100" dist="38100" dir="2700000" algn="tl">
                    <a:srgbClr val="000000">
                      <a:alpha val="43137"/>
                    </a:srgbClr>
                  </a:outerShdw>
                </a:effectLst>
              </a:rPr>
              <a:t>fruits</a:t>
            </a:r>
            <a:r>
              <a:rPr lang="hu-HU" dirty="0">
                <a:effectLst>
                  <a:outerShdw blurRad="38100" dist="38100" dir="2700000" algn="tl">
                    <a:srgbClr val="000000">
                      <a:alpha val="43137"/>
                    </a:srgbClr>
                  </a:outerShdw>
                </a:effectLst>
              </a:rPr>
              <a:t>-ACC	</a:t>
            </a:r>
            <a:r>
              <a:rPr lang="hu-HU" dirty="0" err="1">
                <a:effectLst>
                  <a:outerShdw blurRad="38100" dist="38100" dir="2700000" algn="tl">
                    <a:srgbClr val="000000">
                      <a:alpha val="43137"/>
                    </a:srgbClr>
                  </a:outerShdw>
                </a:effectLst>
              </a:rPr>
              <a:t>regards</a:t>
            </a:r>
            <a:r>
              <a:rPr lang="hu-HU" dirty="0">
                <a:effectLst>
                  <a:outerShdw blurRad="38100" dist="38100" dir="2700000" algn="tl">
                    <a:srgbClr val="000000">
                      <a:alpha val="43137"/>
                    </a:srgbClr>
                  </a:outerShdw>
                </a:effectLst>
              </a:rPr>
              <a:t>	Anna	</a:t>
            </a:r>
            <a:r>
              <a:rPr lang="hu-HU" dirty="0" err="1">
                <a:effectLst>
                  <a:outerShdw blurRad="38100" dist="38100" dir="2700000" algn="tl">
                    <a:srgbClr val="000000">
                      <a:alpha val="43137"/>
                    </a:srgbClr>
                  </a:outerShdw>
                </a:effectLst>
              </a:rPr>
              <a:t>yesterday</a:t>
            </a:r>
            <a:r>
              <a:rPr lang="en-US" dirty="0">
                <a:effectLst>
                  <a:outerShdw blurRad="38100" dist="38100" dir="2700000" algn="tl">
                    <a:srgbClr val="000000">
                      <a:alpha val="43137"/>
                    </a:srgbClr>
                  </a:outerShdw>
                </a:effectLst>
              </a:rPr>
              <a:t>	</a:t>
            </a:r>
            <a:r>
              <a:rPr lang="hu-HU" dirty="0">
                <a:effectLst>
                  <a:outerShdw blurRad="38100" dist="38100" dir="2700000" algn="tl">
                    <a:srgbClr val="000000">
                      <a:alpha val="43137"/>
                    </a:srgbClr>
                  </a:outerShdw>
                </a:effectLst>
              </a:rPr>
              <a:t>a </a:t>
            </a:r>
            <a:r>
              <a:rPr lang="hu-HU" dirty="0" err="1">
                <a:effectLst>
                  <a:outerShdw blurRad="38100" dist="38100" dir="2700000" algn="tl">
                    <a:srgbClr val="000000">
                      <a:alpha val="43137"/>
                    </a:srgbClr>
                  </a:outerShdw>
                </a:effectLst>
              </a:rPr>
              <a:t>banana</a:t>
            </a:r>
            <a:r>
              <a:rPr lang="hu-HU" dirty="0">
                <a:effectLst>
                  <a:outerShdw blurRad="38100" dist="38100" dir="2700000" algn="tl">
                    <a:srgbClr val="000000">
                      <a:alpha val="43137"/>
                    </a:srgbClr>
                  </a:outerShdw>
                </a:effectLst>
              </a:rPr>
              <a:t>-ACC	ate-3SG</a:t>
            </a:r>
          </a:p>
          <a:p>
            <a:r>
              <a:rPr lang="hu-HU" i="1" dirty="0" err="1">
                <a:effectLst>
                  <a:outerShdw blurRad="38100" dist="38100" dir="2700000" algn="tl">
                    <a:srgbClr val="000000">
                      <a:alpha val="43137"/>
                    </a:srgbClr>
                  </a:outerShdw>
                </a:effectLst>
              </a:rPr>
              <a:t>Regarding</a:t>
            </a:r>
            <a:r>
              <a:rPr lang="hu-HU" i="1" dirty="0">
                <a:effectLst>
                  <a:outerShdw blurRad="38100" dist="38100" dir="2700000" algn="tl">
                    <a:srgbClr val="000000">
                      <a:alpha val="43137"/>
                    </a:srgbClr>
                  </a:outerShdw>
                </a:effectLst>
              </a:rPr>
              <a:t> </a:t>
            </a:r>
            <a:r>
              <a:rPr lang="hu-HU" i="1" dirty="0" err="1">
                <a:effectLst>
                  <a:outerShdw blurRad="38100" dist="38100" dir="2700000" algn="tl">
                    <a:srgbClr val="000000">
                      <a:alpha val="43137"/>
                    </a:srgbClr>
                  </a:outerShdw>
                </a:effectLst>
              </a:rPr>
              <a:t>fruits</a:t>
            </a:r>
            <a:r>
              <a:rPr lang="hu-HU" i="1" dirty="0">
                <a:effectLst>
                  <a:outerShdw blurRad="38100" dist="38100" dir="2700000" algn="tl">
                    <a:srgbClr val="000000">
                      <a:alpha val="43137"/>
                    </a:srgbClr>
                  </a:outerShdw>
                </a:effectLst>
              </a:rPr>
              <a:t>, Anna </a:t>
            </a:r>
            <a:r>
              <a:rPr lang="hu-HU" i="1" dirty="0" err="1">
                <a:effectLst>
                  <a:outerShdw blurRad="38100" dist="38100" dir="2700000" algn="tl">
                    <a:srgbClr val="000000">
                      <a:alpha val="43137"/>
                    </a:srgbClr>
                  </a:outerShdw>
                </a:effectLst>
              </a:rPr>
              <a:t>ate</a:t>
            </a:r>
            <a:r>
              <a:rPr lang="hu-HU" i="1" dirty="0">
                <a:effectLst>
                  <a:outerShdw blurRad="38100" dist="38100" dir="2700000" algn="tl">
                    <a:srgbClr val="000000">
                      <a:alpha val="43137"/>
                    </a:srgbClr>
                  </a:outerShdw>
                </a:effectLst>
              </a:rPr>
              <a:t> a </a:t>
            </a:r>
            <a:r>
              <a:rPr lang="hu-HU" i="1" dirty="0" err="1">
                <a:effectLst>
                  <a:outerShdw blurRad="38100" dist="38100" dir="2700000" algn="tl">
                    <a:srgbClr val="000000">
                      <a:alpha val="43137"/>
                    </a:srgbClr>
                  </a:outerShdw>
                </a:effectLst>
              </a:rPr>
              <a:t>banana</a:t>
            </a:r>
            <a:r>
              <a:rPr lang="hu-HU" i="1" dirty="0">
                <a:effectLst>
                  <a:outerShdw blurRad="38100" dist="38100" dir="2700000" algn="tl">
                    <a:srgbClr val="000000">
                      <a:alpha val="43137"/>
                    </a:srgbClr>
                  </a:outerShdw>
                </a:effectLst>
              </a:rPr>
              <a:t> </a:t>
            </a:r>
            <a:r>
              <a:rPr lang="hu-HU" i="1" dirty="0" err="1">
                <a:effectLst>
                  <a:outerShdw blurRad="38100" dist="38100" dir="2700000" algn="tl">
                    <a:srgbClr val="000000">
                      <a:alpha val="43137"/>
                    </a:srgbClr>
                  </a:outerShdw>
                </a:effectLst>
              </a:rPr>
              <a:t>yesterday</a:t>
            </a:r>
            <a:r>
              <a:rPr lang="hu-HU" i="1" dirty="0">
                <a:effectLst>
                  <a:outerShdw blurRad="38100" dist="38100" dir="2700000" algn="tl">
                    <a:srgbClr val="000000">
                      <a:alpha val="43137"/>
                    </a:srgbClr>
                  </a:outerShdw>
                </a:effectLst>
              </a:rPr>
              <a:t>.</a:t>
            </a:r>
            <a:r>
              <a:rPr lang="hu-HU" i="1" dirty="0"/>
              <a:t>	</a:t>
            </a:r>
            <a:r>
              <a:rPr lang="hu-HU" dirty="0"/>
              <a:t>			</a:t>
            </a:r>
            <a:endParaRPr lang="en-US" dirty="0"/>
          </a:p>
          <a:p>
            <a:r>
              <a:rPr lang="hu-HU" dirty="0"/>
              <a:t>		</a:t>
            </a:r>
          </a:p>
          <a:p>
            <a:r>
              <a:rPr lang="hu-HU" b="1" dirty="0"/>
              <a:t>Tegnap	</a:t>
            </a:r>
            <a:r>
              <a:rPr lang="en-US" b="1" dirty="0"/>
              <a:t>	</a:t>
            </a:r>
            <a:r>
              <a:rPr lang="hu-HU" b="1" dirty="0"/>
              <a:t>reggel	</a:t>
            </a:r>
            <a:r>
              <a:rPr lang="en-US" b="1" dirty="0"/>
              <a:t>			</a:t>
            </a:r>
            <a:r>
              <a:rPr lang="hu-HU" b="1" dirty="0"/>
              <a:t>Anna	</a:t>
            </a:r>
            <a:r>
              <a:rPr lang="hu-HU" b="1" dirty="0">
                <a:solidFill>
                  <a:srgbClr val="92D050"/>
                </a:solidFill>
              </a:rPr>
              <a:t>többek	között</a:t>
            </a:r>
            <a:r>
              <a:rPr lang="hu-HU" b="1" dirty="0"/>
              <a:t>	</a:t>
            </a:r>
            <a:r>
              <a:rPr lang="en-US" b="1" dirty="0"/>
              <a:t>	</a:t>
            </a:r>
            <a:r>
              <a:rPr lang="hu-HU" b="1" u="sng" dirty="0"/>
              <a:t>egy banánt</a:t>
            </a:r>
            <a:r>
              <a:rPr lang="hu-HU" b="1" dirty="0"/>
              <a:t>	</a:t>
            </a:r>
            <a:r>
              <a:rPr lang="en-US" b="1" dirty="0"/>
              <a:t>	</a:t>
            </a:r>
            <a:r>
              <a:rPr lang="hu-HU" b="1" dirty="0"/>
              <a:t>evett.</a:t>
            </a:r>
          </a:p>
          <a:p>
            <a:r>
              <a:rPr lang="hu-HU" dirty="0" err="1"/>
              <a:t>yesterday</a:t>
            </a:r>
            <a:r>
              <a:rPr lang="hu-HU" dirty="0"/>
              <a:t>	</a:t>
            </a:r>
            <a:r>
              <a:rPr lang="hu-HU" dirty="0" err="1"/>
              <a:t>morning</a:t>
            </a:r>
            <a:r>
              <a:rPr lang="hu-HU" dirty="0"/>
              <a:t>	</a:t>
            </a:r>
            <a:r>
              <a:rPr lang="en-US" dirty="0"/>
              <a:t>			</a:t>
            </a:r>
            <a:r>
              <a:rPr lang="hu-HU" dirty="0"/>
              <a:t>Anna	</a:t>
            </a:r>
            <a:r>
              <a:rPr lang="hu-HU" dirty="0" err="1"/>
              <a:t>others</a:t>
            </a:r>
            <a:r>
              <a:rPr lang="hu-HU" dirty="0"/>
              <a:t>	</a:t>
            </a:r>
            <a:r>
              <a:rPr lang="hu-HU" dirty="0" err="1"/>
              <a:t>among</a:t>
            </a:r>
            <a:r>
              <a:rPr lang="hu-HU" dirty="0"/>
              <a:t>	</a:t>
            </a:r>
            <a:r>
              <a:rPr lang="en-US" dirty="0"/>
              <a:t>	</a:t>
            </a:r>
            <a:r>
              <a:rPr lang="hu-HU" dirty="0"/>
              <a:t>a </a:t>
            </a:r>
            <a:r>
              <a:rPr lang="hu-HU" dirty="0" err="1"/>
              <a:t>banana</a:t>
            </a:r>
            <a:r>
              <a:rPr lang="hu-HU" dirty="0"/>
              <a:t>-ACC	ate-3SG</a:t>
            </a:r>
          </a:p>
          <a:p>
            <a:r>
              <a:rPr lang="hu-HU" i="1" dirty="0" err="1"/>
              <a:t>Yesterday</a:t>
            </a:r>
            <a:r>
              <a:rPr lang="hu-HU" i="1" dirty="0"/>
              <a:t> </a:t>
            </a:r>
            <a:r>
              <a:rPr lang="hu-HU" i="1" dirty="0" err="1"/>
              <a:t>morning</a:t>
            </a:r>
            <a:r>
              <a:rPr lang="hu-HU" i="1" dirty="0"/>
              <a:t> Anna </a:t>
            </a:r>
            <a:r>
              <a:rPr lang="hu-HU" i="1" dirty="0" err="1"/>
              <a:t>ate</a:t>
            </a:r>
            <a:r>
              <a:rPr lang="hu-HU" i="1" dirty="0"/>
              <a:t>, </a:t>
            </a:r>
            <a:r>
              <a:rPr lang="hu-HU" i="1" dirty="0" err="1"/>
              <a:t>among</a:t>
            </a:r>
            <a:r>
              <a:rPr lang="hu-HU" i="1" dirty="0"/>
              <a:t> </a:t>
            </a:r>
            <a:r>
              <a:rPr lang="hu-HU" i="1" dirty="0" err="1"/>
              <a:t>other</a:t>
            </a:r>
            <a:r>
              <a:rPr lang="hu-HU" i="1" dirty="0"/>
              <a:t> </a:t>
            </a:r>
            <a:r>
              <a:rPr lang="hu-HU" i="1" dirty="0" err="1"/>
              <a:t>things</a:t>
            </a:r>
            <a:r>
              <a:rPr lang="hu-HU" i="1" dirty="0"/>
              <a:t>, a </a:t>
            </a:r>
            <a:r>
              <a:rPr lang="hu-HU" i="1" dirty="0" err="1"/>
              <a:t>banana</a:t>
            </a:r>
            <a:r>
              <a:rPr lang="hu-HU" i="1" dirty="0"/>
              <a:t>.		</a:t>
            </a:r>
            <a:r>
              <a:rPr lang="hu-HU" dirty="0"/>
              <a:t>				</a:t>
            </a:r>
          </a:p>
        </p:txBody>
      </p:sp>
      <p:sp>
        <p:nvSpPr>
          <p:cNvPr id="4" name="Slide Number Placeholder 3">
            <a:extLst>
              <a:ext uri="{FF2B5EF4-FFF2-40B4-BE49-F238E27FC236}">
                <a16:creationId xmlns:a16="http://schemas.microsoft.com/office/drawing/2014/main" id="{041FECEC-E3E5-245C-95B2-6E247584D638}"/>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46</a:t>
            </a:fld>
            <a:endParaRPr lang="en-US" dirty="0"/>
          </a:p>
        </p:txBody>
      </p:sp>
    </p:spTree>
    <p:extLst>
      <p:ext uri="{BB962C8B-B14F-4D97-AF65-F5344CB8AC3E}">
        <p14:creationId xmlns:p14="http://schemas.microsoft.com/office/powerpoint/2010/main" val="33168601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C2A9A51-2005-5796-C9E7-B80F0D5F6C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42F8B8-92C8-CB8F-3C7F-7B306D1B35FB}"/>
              </a:ext>
            </a:extLst>
          </p:cNvPr>
          <p:cNvSpPr>
            <a:spLocks noGrp="1"/>
          </p:cNvSpPr>
          <p:nvPr>
            <p:ph type="title"/>
          </p:nvPr>
        </p:nvSpPr>
        <p:spPr>
          <a:xfrm>
            <a:off x="1261872" y="365760"/>
            <a:ext cx="9692640" cy="658707"/>
          </a:xfrm>
        </p:spPr>
        <p:txBody>
          <a:bodyPr>
            <a:normAutofit fontScale="90000"/>
          </a:bodyPr>
          <a:lstStyle/>
          <a:p>
            <a:r>
              <a:rPr lang="en-US" dirty="0"/>
              <a:t>Two experiments: 2</a:t>
            </a:r>
            <a:endParaRPr lang="hu-HU" dirty="0"/>
          </a:p>
        </p:txBody>
      </p:sp>
      <p:sp>
        <p:nvSpPr>
          <p:cNvPr id="3" name="Content Placeholder 2">
            <a:extLst>
              <a:ext uri="{FF2B5EF4-FFF2-40B4-BE49-F238E27FC236}">
                <a16:creationId xmlns:a16="http://schemas.microsoft.com/office/drawing/2014/main" id="{66CC975C-F99D-893E-05A8-482A15D4F6D7}"/>
              </a:ext>
            </a:extLst>
          </p:cNvPr>
          <p:cNvSpPr>
            <a:spLocks noGrp="1"/>
          </p:cNvSpPr>
          <p:nvPr>
            <p:ph idx="4294967295"/>
          </p:nvPr>
        </p:nvSpPr>
        <p:spPr>
          <a:xfrm>
            <a:off x="1103312" y="2052918"/>
            <a:ext cx="8946541" cy="4265586"/>
          </a:xfrm>
        </p:spPr>
        <p:txBody>
          <a:bodyPr>
            <a:normAutofit fontScale="92500" lnSpcReduction="20000"/>
          </a:bodyPr>
          <a:lstStyle/>
          <a:p>
            <a:pPr marL="457200" indent="-457200">
              <a:buFont typeface="+mj-lt"/>
              <a:buAutoNum type="arabicPeriod"/>
            </a:pPr>
            <a:r>
              <a:rPr lang="en-US" dirty="0"/>
              <a:t>Hungarian focus constructions – exclusivity vs. </a:t>
            </a:r>
            <a:r>
              <a:rPr lang="en-US" dirty="0" err="1"/>
              <a:t>contrastivity</a:t>
            </a:r>
            <a:endParaRPr lang="en-US" dirty="0"/>
          </a:p>
          <a:p>
            <a:pPr marL="857250" lvl="1" indent="-457200"/>
            <a:r>
              <a:rPr lang="en-US" dirty="0"/>
              <a:t>Testing if Hungarian focus is exhaustive by default, or if it can be contrastive.</a:t>
            </a:r>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457200" indent="-457200">
              <a:buFont typeface="+mj-lt"/>
              <a:buAutoNum type="arabicPeriod"/>
            </a:pPr>
            <a:r>
              <a:rPr lang="en-US" dirty="0"/>
              <a:t>Verbal directionality and social bias</a:t>
            </a:r>
          </a:p>
          <a:p>
            <a:pPr marL="685800" lvl="1"/>
            <a:r>
              <a:rPr lang="en-US" dirty="0"/>
              <a:t>Testing if gender/status/societal bias can change verb directionality </a:t>
            </a:r>
          </a:p>
          <a:p>
            <a:pPr marL="400050" lvl="1" indent="0">
              <a:buNone/>
            </a:pPr>
            <a:endParaRPr lang="en-US" dirty="0"/>
          </a:p>
          <a:p>
            <a:pPr marL="400050" lvl="1" indent="0">
              <a:buNone/>
            </a:pPr>
            <a:endParaRPr lang="en-US" dirty="0"/>
          </a:p>
        </p:txBody>
      </p:sp>
      <p:sp>
        <p:nvSpPr>
          <p:cNvPr id="4" name="Slide Number Placeholder 3">
            <a:extLst>
              <a:ext uri="{FF2B5EF4-FFF2-40B4-BE49-F238E27FC236}">
                <a16:creationId xmlns:a16="http://schemas.microsoft.com/office/drawing/2014/main" id="{E2E0E484-635A-EAD6-7EA3-B76CD1453A88}"/>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47</a:t>
            </a:fld>
            <a:endParaRPr lang="en-US" dirty="0"/>
          </a:p>
        </p:txBody>
      </p:sp>
    </p:spTree>
    <p:extLst>
      <p:ext uri="{BB962C8B-B14F-4D97-AF65-F5344CB8AC3E}">
        <p14:creationId xmlns:p14="http://schemas.microsoft.com/office/powerpoint/2010/main" val="30255461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36DF2F5-88A6-1877-5FC7-F62873FE04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D4FD71-D217-6BDE-0A33-EF2ECBDAFDFB}"/>
              </a:ext>
            </a:extLst>
          </p:cNvPr>
          <p:cNvSpPr>
            <a:spLocks noGrp="1"/>
          </p:cNvSpPr>
          <p:nvPr>
            <p:ph type="title"/>
          </p:nvPr>
        </p:nvSpPr>
        <p:spPr>
          <a:xfrm>
            <a:off x="1261872" y="365760"/>
            <a:ext cx="9692640" cy="658707"/>
          </a:xfrm>
        </p:spPr>
        <p:txBody>
          <a:bodyPr>
            <a:normAutofit fontScale="90000"/>
          </a:bodyPr>
          <a:lstStyle/>
          <a:p>
            <a:r>
              <a:rPr lang="en-US" dirty="0"/>
              <a:t>Two experiments: 2</a:t>
            </a:r>
            <a:endParaRPr lang="hu-HU" dirty="0"/>
          </a:p>
        </p:txBody>
      </p:sp>
      <p:sp>
        <p:nvSpPr>
          <p:cNvPr id="3" name="Content Placeholder 2">
            <a:extLst>
              <a:ext uri="{FF2B5EF4-FFF2-40B4-BE49-F238E27FC236}">
                <a16:creationId xmlns:a16="http://schemas.microsoft.com/office/drawing/2014/main" id="{4F8A4F85-6FE6-775B-46B8-88DBF67065A9}"/>
              </a:ext>
            </a:extLst>
          </p:cNvPr>
          <p:cNvSpPr>
            <a:spLocks noGrp="1"/>
          </p:cNvSpPr>
          <p:nvPr>
            <p:ph idx="4294967295"/>
          </p:nvPr>
        </p:nvSpPr>
        <p:spPr>
          <a:xfrm>
            <a:off x="1103312" y="2052918"/>
            <a:ext cx="8946541" cy="4677066"/>
          </a:xfrm>
        </p:spPr>
        <p:txBody>
          <a:bodyPr>
            <a:normAutofit fontScale="92500" lnSpcReduction="20000"/>
          </a:bodyPr>
          <a:lstStyle/>
          <a:p>
            <a:pPr marL="457200" indent="-457200">
              <a:buFont typeface="+mj-lt"/>
              <a:buAutoNum type="arabicPeriod"/>
            </a:pPr>
            <a:r>
              <a:rPr lang="en-US" dirty="0"/>
              <a:t>Hungarian focus constructions – exclusivity vs. </a:t>
            </a:r>
            <a:r>
              <a:rPr lang="en-US" dirty="0" err="1"/>
              <a:t>contrastivity</a:t>
            </a:r>
            <a:endParaRPr lang="en-US" dirty="0"/>
          </a:p>
          <a:p>
            <a:pPr marL="857250" lvl="1" indent="-457200"/>
            <a:r>
              <a:rPr lang="en-US" dirty="0"/>
              <a:t>Testing if Hungarian focus is exhaustive by default, or if it can be contrastive.</a:t>
            </a:r>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457200" indent="-457200">
              <a:buFont typeface="+mj-lt"/>
              <a:buAutoNum type="arabicPeriod"/>
            </a:pPr>
            <a:r>
              <a:rPr lang="en-US" dirty="0"/>
              <a:t>Verbal directionality and social bias</a:t>
            </a:r>
          </a:p>
          <a:p>
            <a:pPr marL="685800" lvl="1"/>
            <a:r>
              <a:rPr lang="en-US" dirty="0"/>
              <a:t>Testing if gender/status/societal bias can change verb directionality </a:t>
            </a:r>
          </a:p>
          <a:p>
            <a:pPr marL="685800" lvl="1"/>
            <a:r>
              <a:rPr lang="en-US" dirty="0"/>
              <a:t>2 halves, 3 conditions, 18 items</a:t>
            </a:r>
          </a:p>
          <a:p>
            <a:pPr marL="400050" lvl="1" indent="0">
              <a:buNone/>
            </a:pPr>
            <a:endParaRPr lang="en-US" dirty="0"/>
          </a:p>
          <a:p>
            <a:pPr marL="400050" lvl="1" indent="0">
              <a:buNone/>
            </a:pPr>
            <a:endParaRPr lang="en-US" dirty="0"/>
          </a:p>
        </p:txBody>
      </p:sp>
      <p:sp>
        <p:nvSpPr>
          <p:cNvPr id="4" name="Slide Number Placeholder 3">
            <a:extLst>
              <a:ext uri="{FF2B5EF4-FFF2-40B4-BE49-F238E27FC236}">
                <a16:creationId xmlns:a16="http://schemas.microsoft.com/office/drawing/2014/main" id="{4B898CE0-179F-6A28-9473-BD26614853D6}"/>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48</a:t>
            </a:fld>
            <a:endParaRPr lang="en-US" dirty="0"/>
          </a:p>
        </p:txBody>
      </p:sp>
    </p:spTree>
    <p:extLst>
      <p:ext uri="{BB962C8B-B14F-4D97-AF65-F5344CB8AC3E}">
        <p14:creationId xmlns:p14="http://schemas.microsoft.com/office/powerpoint/2010/main" val="40719997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EDB8975-590F-42D4-FC00-54C0DCD564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F3C308-F2EC-07E5-35C3-D78E39128849}"/>
              </a:ext>
            </a:extLst>
          </p:cNvPr>
          <p:cNvSpPr>
            <a:spLocks noGrp="1"/>
          </p:cNvSpPr>
          <p:nvPr>
            <p:ph type="title"/>
          </p:nvPr>
        </p:nvSpPr>
        <p:spPr>
          <a:xfrm>
            <a:off x="1261872" y="365760"/>
            <a:ext cx="9692640" cy="658707"/>
          </a:xfrm>
        </p:spPr>
        <p:txBody>
          <a:bodyPr>
            <a:normAutofit fontScale="90000"/>
          </a:bodyPr>
          <a:lstStyle/>
          <a:p>
            <a:r>
              <a:rPr lang="en-US" dirty="0"/>
              <a:t>Two experiments: 2</a:t>
            </a:r>
            <a:endParaRPr lang="hu-HU" dirty="0"/>
          </a:p>
        </p:txBody>
      </p:sp>
      <p:sp>
        <p:nvSpPr>
          <p:cNvPr id="3" name="Content Placeholder 2">
            <a:extLst>
              <a:ext uri="{FF2B5EF4-FFF2-40B4-BE49-F238E27FC236}">
                <a16:creationId xmlns:a16="http://schemas.microsoft.com/office/drawing/2014/main" id="{30310A9F-B466-54AE-B946-A529094D3C5A}"/>
              </a:ext>
            </a:extLst>
          </p:cNvPr>
          <p:cNvSpPr>
            <a:spLocks noGrp="1"/>
          </p:cNvSpPr>
          <p:nvPr>
            <p:ph idx="4294967295"/>
          </p:nvPr>
        </p:nvSpPr>
        <p:spPr>
          <a:xfrm>
            <a:off x="1104293" y="2286000"/>
            <a:ext cx="8946541" cy="4238154"/>
          </a:xfrm>
        </p:spPr>
        <p:txBody>
          <a:bodyPr>
            <a:normAutofit fontScale="77500" lnSpcReduction="20000"/>
          </a:bodyPr>
          <a:lstStyle/>
          <a:p>
            <a:pPr marL="457200" indent="-457200"/>
            <a:endParaRPr lang="en-US" dirty="0"/>
          </a:p>
          <a:p>
            <a:pPr marL="457200" indent="-457200"/>
            <a:endParaRPr lang="en-US" dirty="0"/>
          </a:p>
          <a:p>
            <a:pPr marL="457200" indent="-457200"/>
            <a:endParaRPr lang="en-US" dirty="0"/>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457200" indent="-457200">
              <a:buFont typeface="+mj-lt"/>
              <a:buAutoNum type="arabicPeriod" startAt="2"/>
            </a:pPr>
            <a:r>
              <a:rPr lang="en-US" dirty="0">
                <a:solidFill>
                  <a:schemeClr val="tx1">
                    <a:lumMod val="75000"/>
                  </a:schemeClr>
                </a:solidFill>
              </a:rPr>
              <a:t>Verbal directionality and social bias</a:t>
            </a:r>
          </a:p>
          <a:p>
            <a:pPr marL="685800" lvl="1"/>
            <a:r>
              <a:rPr lang="en-US" dirty="0">
                <a:solidFill>
                  <a:schemeClr val="tx1">
                    <a:lumMod val="75000"/>
                  </a:schemeClr>
                </a:solidFill>
              </a:rPr>
              <a:t>Testing if gender/status/societal bias can change verb directionality </a:t>
            </a:r>
          </a:p>
          <a:p>
            <a:pPr marL="685800" lvl="1"/>
            <a:r>
              <a:rPr lang="en-US" dirty="0">
                <a:solidFill>
                  <a:schemeClr val="tx1">
                    <a:lumMod val="75000"/>
                  </a:schemeClr>
                </a:solidFill>
              </a:rPr>
              <a:t>2 halves, 3 conditions, 18 items</a:t>
            </a:r>
          </a:p>
          <a:p>
            <a:pPr marL="400050" lvl="1" indent="0">
              <a:buNone/>
            </a:pPr>
            <a:endParaRPr lang="en-US" dirty="0"/>
          </a:p>
          <a:p>
            <a:pPr marL="400050" lvl="1" indent="0">
              <a:buNone/>
            </a:pPr>
            <a:endParaRPr lang="en-US" dirty="0"/>
          </a:p>
        </p:txBody>
      </p:sp>
      <p:sp>
        <p:nvSpPr>
          <p:cNvPr id="10" name="TextBox 9">
            <a:extLst>
              <a:ext uri="{FF2B5EF4-FFF2-40B4-BE49-F238E27FC236}">
                <a16:creationId xmlns:a16="http://schemas.microsoft.com/office/drawing/2014/main" id="{169BE7F1-71DA-A390-E953-14BACEA0F235}"/>
              </a:ext>
            </a:extLst>
          </p:cNvPr>
          <p:cNvSpPr txBox="1"/>
          <p:nvPr/>
        </p:nvSpPr>
        <p:spPr>
          <a:xfrm>
            <a:off x="1764792" y="1853248"/>
            <a:ext cx="10011188" cy="3416320"/>
          </a:xfrm>
          <a:prstGeom prst="rect">
            <a:avLst/>
          </a:prstGeom>
          <a:noFill/>
        </p:spPr>
        <p:txBody>
          <a:bodyPr wrap="square">
            <a:spAutoFit/>
          </a:bodyPr>
          <a:lstStyle/>
          <a:p>
            <a:r>
              <a:rPr lang="hu-HU" b="1" dirty="0"/>
              <a:t>A szakács	említette	hogy	a dolgozó	kérkedett		a főzőtudásával.</a:t>
            </a:r>
          </a:p>
          <a:p>
            <a:r>
              <a:rPr lang="hu-HU" dirty="0" err="1"/>
              <a:t>the</a:t>
            </a:r>
            <a:r>
              <a:rPr lang="hu-HU" dirty="0"/>
              <a:t> chef	</a:t>
            </a:r>
            <a:r>
              <a:rPr lang="hu-HU" dirty="0" err="1"/>
              <a:t>mentioned</a:t>
            </a:r>
            <a:r>
              <a:rPr lang="hu-HU" dirty="0"/>
              <a:t>	</a:t>
            </a:r>
            <a:r>
              <a:rPr lang="hu-HU" dirty="0" err="1"/>
              <a:t>that</a:t>
            </a:r>
            <a:r>
              <a:rPr lang="hu-HU" dirty="0"/>
              <a:t>	</a:t>
            </a:r>
            <a:r>
              <a:rPr lang="en-US" dirty="0"/>
              <a:t>	</a:t>
            </a:r>
            <a:r>
              <a:rPr lang="hu-HU" dirty="0" err="1"/>
              <a:t>the</a:t>
            </a:r>
            <a:r>
              <a:rPr lang="hu-HU" dirty="0"/>
              <a:t> </a:t>
            </a:r>
            <a:r>
              <a:rPr lang="hu-HU" dirty="0" err="1"/>
              <a:t>worker</a:t>
            </a:r>
            <a:r>
              <a:rPr lang="hu-HU" dirty="0"/>
              <a:t>	</a:t>
            </a:r>
            <a:r>
              <a:rPr lang="hu-HU" dirty="0" err="1"/>
              <a:t>boasted</a:t>
            </a:r>
            <a:r>
              <a:rPr lang="hu-HU" dirty="0"/>
              <a:t>		</a:t>
            </a:r>
            <a:r>
              <a:rPr lang="hu-HU" dirty="0" err="1"/>
              <a:t>the</a:t>
            </a:r>
            <a:r>
              <a:rPr lang="hu-HU" dirty="0"/>
              <a:t> </a:t>
            </a:r>
            <a:r>
              <a:rPr lang="hu-HU" dirty="0" err="1"/>
              <a:t>cooking</a:t>
            </a:r>
            <a:r>
              <a:rPr lang="hu-HU" dirty="0"/>
              <a:t> skill-3SG-INS</a:t>
            </a:r>
          </a:p>
          <a:p>
            <a:r>
              <a:rPr lang="hu-HU" i="1" dirty="0"/>
              <a:t>The chef </a:t>
            </a:r>
            <a:r>
              <a:rPr lang="hu-HU" i="1" dirty="0" err="1"/>
              <a:t>mentioned</a:t>
            </a:r>
            <a:r>
              <a:rPr lang="hu-HU" i="1" dirty="0"/>
              <a:t> </a:t>
            </a:r>
            <a:r>
              <a:rPr lang="hu-HU" i="1" dirty="0" err="1"/>
              <a:t>that</a:t>
            </a:r>
            <a:r>
              <a:rPr lang="hu-HU" i="1" dirty="0"/>
              <a:t> </a:t>
            </a:r>
            <a:r>
              <a:rPr lang="hu-HU" i="1" dirty="0" err="1"/>
              <a:t>the</a:t>
            </a:r>
            <a:r>
              <a:rPr lang="hu-HU" i="1" dirty="0"/>
              <a:t> </a:t>
            </a:r>
            <a:r>
              <a:rPr lang="hu-HU" i="1" dirty="0" err="1"/>
              <a:t>worker</a:t>
            </a:r>
            <a:r>
              <a:rPr lang="hu-HU" i="1" dirty="0"/>
              <a:t> </a:t>
            </a:r>
            <a:r>
              <a:rPr lang="hu-HU" i="1" dirty="0" err="1"/>
              <a:t>boasted</a:t>
            </a:r>
            <a:r>
              <a:rPr lang="hu-HU" i="1" dirty="0"/>
              <a:t> </a:t>
            </a:r>
            <a:r>
              <a:rPr lang="hu-HU" i="1" dirty="0" err="1"/>
              <a:t>about</a:t>
            </a:r>
            <a:r>
              <a:rPr lang="hu-HU" i="1" dirty="0"/>
              <a:t>  </a:t>
            </a:r>
            <a:r>
              <a:rPr lang="hu-HU" i="1" dirty="0" err="1"/>
              <a:t>his</a:t>
            </a:r>
            <a:r>
              <a:rPr lang="hu-HU" i="1" dirty="0"/>
              <a:t>/</a:t>
            </a:r>
            <a:r>
              <a:rPr lang="hu-HU" i="1" dirty="0" err="1"/>
              <a:t>her</a:t>
            </a:r>
            <a:r>
              <a:rPr lang="hu-HU" i="1" dirty="0"/>
              <a:t> </a:t>
            </a:r>
            <a:r>
              <a:rPr lang="hu-HU" i="1" dirty="0" err="1"/>
              <a:t>cooking</a:t>
            </a:r>
            <a:r>
              <a:rPr lang="hu-HU" i="1" dirty="0"/>
              <a:t> </a:t>
            </a:r>
            <a:r>
              <a:rPr lang="hu-HU" i="1" dirty="0" err="1"/>
              <a:t>skills</a:t>
            </a:r>
            <a:r>
              <a:rPr lang="hu-HU" i="1" dirty="0"/>
              <a:t>.	</a:t>
            </a:r>
            <a:r>
              <a:rPr lang="hu-HU" dirty="0"/>
              <a:t>		</a:t>
            </a:r>
            <a:endParaRPr lang="en-US" dirty="0"/>
          </a:p>
          <a:p>
            <a:r>
              <a:rPr lang="hu-HU" dirty="0"/>
              <a:t>			</a:t>
            </a:r>
          </a:p>
          <a:p>
            <a:r>
              <a:rPr lang="hu-HU" b="1" dirty="0"/>
              <a:t>A szakács	említette	hogy	a dolgozó	megdicsérte	a főzőtudását.</a:t>
            </a:r>
          </a:p>
          <a:p>
            <a:r>
              <a:rPr lang="hu-HU" dirty="0" err="1"/>
              <a:t>the</a:t>
            </a:r>
            <a:r>
              <a:rPr lang="hu-HU" dirty="0"/>
              <a:t> chef	</a:t>
            </a:r>
            <a:r>
              <a:rPr lang="hu-HU" dirty="0" err="1"/>
              <a:t>mentioned</a:t>
            </a:r>
            <a:r>
              <a:rPr lang="hu-HU" dirty="0"/>
              <a:t>	</a:t>
            </a:r>
            <a:r>
              <a:rPr lang="hu-HU" dirty="0" err="1"/>
              <a:t>that</a:t>
            </a:r>
            <a:r>
              <a:rPr lang="hu-HU" dirty="0"/>
              <a:t>	</a:t>
            </a:r>
            <a:r>
              <a:rPr lang="en-US" dirty="0"/>
              <a:t>	</a:t>
            </a:r>
            <a:r>
              <a:rPr lang="hu-HU" dirty="0" err="1"/>
              <a:t>the</a:t>
            </a:r>
            <a:r>
              <a:rPr lang="hu-HU" dirty="0"/>
              <a:t> </a:t>
            </a:r>
            <a:r>
              <a:rPr lang="hu-HU" dirty="0" err="1"/>
              <a:t>worker</a:t>
            </a:r>
            <a:r>
              <a:rPr lang="hu-HU" dirty="0"/>
              <a:t>	</a:t>
            </a:r>
            <a:r>
              <a:rPr lang="hu-HU" dirty="0" err="1"/>
              <a:t>praised</a:t>
            </a:r>
            <a:r>
              <a:rPr lang="hu-HU" dirty="0"/>
              <a:t>	</a:t>
            </a:r>
            <a:r>
              <a:rPr lang="en-US" dirty="0"/>
              <a:t>		</a:t>
            </a:r>
            <a:r>
              <a:rPr lang="hu-HU" dirty="0" err="1"/>
              <a:t>the</a:t>
            </a:r>
            <a:r>
              <a:rPr lang="hu-HU" dirty="0"/>
              <a:t> </a:t>
            </a:r>
            <a:r>
              <a:rPr lang="hu-HU" dirty="0" err="1"/>
              <a:t>cooking</a:t>
            </a:r>
            <a:r>
              <a:rPr lang="hu-HU" dirty="0"/>
              <a:t> skill-3SG-DAT</a:t>
            </a:r>
          </a:p>
          <a:p>
            <a:r>
              <a:rPr lang="hu-HU" i="1" dirty="0"/>
              <a:t>The chef </a:t>
            </a:r>
            <a:r>
              <a:rPr lang="hu-HU" i="1" dirty="0" err="1"/>
              <a:t>mentioned</a:t>
            </a:r>
            <a:r>
              <a:rPr lang="hu-HU" i="1" dirty="0"/>
              <a:t> </a:t>
            </a:r>
            <a:r>
              <a:rPr lang="hu-HU" i="1" dirty="0" err="1"/>
              <a:t>that</a:t>
            </a:r>
            <a:r>
              <a:rPr lang="hu-HU" i="1" dirty="0"/>
              <a:t> </a:t>
            </a:r>
            <a:r>
              <a:rPr lang="hu-HU" i="1" dirty="0" err="1"/>
              <a:t>the</a:t>
            </a:r>
            <a:r>
              <a:rPr lang="hu-HU" i="1" dirty="0"/>
              <a:t> </a:t>
            </a:r>
            <a:r>
              <a:rPr lang="hu-HU" i="1" dirty="0" err="1"/>
              <a:t>worker</a:t>
            </a:r>
            <a:r>
              <a:rPr lang="hu-HU" i="1" dirty="0"/>
              <a:t> </a:t>
            </a:r>
            <a:r>
              <a:rPr lang="hu-HU" i="1" dirty="0" err="1"/>
              <a:t>praised</a:t>
            </a:r>
            <a:r>
              <a:rPr lang="hu-HU" i="1" dirty="0"/>
              <a:t> </a:t>
            </a:r>
            <a:r>
              <a:rPr lang="hu-HU" i="1" dirty="0" err="1"/>
              <a:t>his</a:t>
            </a:r>
            <a:r>
              <a:rPr lang="hu-HU" i="1" dirty="0"/>
              <a:t>/</a:t>
            </a:r>
            <a:r>
              <a:rPr lang="hu-HU" i="1" dirty="0" err="1"/>
              <a:t>her</a:t>
            </a:r>
            <a:r>
              <a:rPr lang="hu-HU" i="1" dirty="0"/>
              <a:t> </a:t>
            </a:r>
            <a:r>
              <a:rPr lang="hu-HU" i="1" dirty="0" err="1"/>
              <a:t>cooking</a:t>
            </a:r>
            <a:r>
              <a:rPr lang="hu-HU" i="1" dirty="0"/>
              <a:t> </a:t>
            </a:r>
            <a:r>
              <a:rPr lang="hu-HU" i="1" dirty="0" err="1"/>
              <a:t>skills</a:t>
            </a:r>
            <a:r>
              <a:rPr lang="hu-HU" i="1" dirty="0"/>
              <a:t>.	</a:t>
            </a:r>
            <a:r>
              <a:rPr lang="hu-HU" dirty="0"/>
              <a:t>				</a:t>
            </a:r>
            <a:endParaRPr lang="en-US" dirty="0"/>
          </a:p>
          <a:p>
            <a:r>
              <a:rPr lang="hu-HU" dirty="0"/>
              <a:t>	</a:t>
            </a:r>
          </a:p>
          <a:p>
            <a:r>
              <a:rPr lang="hu-HU" b="1" dirty="0"/>
              <a:t>A dolgozó	említette	hogy	a szakács	kérkedett		a főzőtudásával.</a:t>
            </a:r>
          </a:p>
          <a:p>
            <a:r>
              <a:rPr lang="hu-HU" dirty="0" err="1"/>
              <a:t>the</a:t>
            </a:r>
            <a:r>
              <a:rPr lang="hu-HU" dirty="0"/>
              <a:t> </a:t>
            </a:r>
            <a:r>
              <a:rPr lang="hu-HU" dirty="0" err="1"/>
              <a:t>worker</a:t>
            </a:r>
            <a:r>
              <a:rPr lang="hu-HU" dirty="0"/>
              <a:t>	</a:t>
            </a:r>
            <a:r>
              <a:rPr lang="hu-HU" dirty="0" err="1"/>
              <a:t>mentioned</a:t>
            </a:r>
            <a:r>
              <a:rPr lang="hu-HU" dirty="0"/>
              <a:t>	</a:t>
            </a:r>
            <a:r>
              <a:rPr lang="hu-HU" dirty="0" err="1"/>
              <a:t>that</a:t>
            </a:r>
            <a:r>
              <a:rPr lang="hu-HU" dirty="0"/>
              <a:t>	</a:t>
            </a:r>
            <a:r>
              <a:rPr lang="en-US" dirty="0"/>
              <a:t>	</a:t>
            </a:r>
            <a:r>
              <a:rPr lang="hu-HU" dirty="0" err="1"/>
              <a:t>the</a:t>
            </a:r>
            <a:r>
              <a:rPr lang="hu-HU" dirty="0"/>
              <a:t> chef	</a:t>
            </a:r>
            <a:r>
              <a:rPr lang="hu-HU" dirty="0" err="1"/>
              <a:t>boasted</a:t>
            </a:r>
            <a:r>
              <a:rPr lang="hu-HU" dirty="0"/>
              <a:t>		</a:t>
            </a:r>
            <a:r>
              <a:rPr lang="hu-HU" dirty="0" err="1"/>
              <a:t>the</a:t>
            </a:r>
            <a:r>
              <a:rPr lang="hu-HU" dirty="0"/>
              <a:t> </a:t>
            </a:r>
            <a:r>
              <a:rPr lang="hu-HU" dirty="0" err="1"/>
              <a:t>cooking</a:t>
            </a:r>
            <a:r>
              <a:rPr lang="hu-HU" dirty="0"/>
              <a:t> skill-3SG-INS</a:t>
            </a:r>
          </a:p>
          <a:p>
            <a:r>
              <a:rPr lang="hu-HU" i="1" dirty="0"/>
              <a:t>The </a:t>
            </a:r>
            <a:r>
              <a:rPr lang="hu-HU" i="1" dirty="0" err="1"/>
              <a:t>worker</a:t>
            </a:r>
            <a:r>
              <a:rPr lang="hu-HU" i="1" dirty="0"/>
              <a:t> </a:t>
            </a:r>
            <a:r>
              <a:rPr lang="hu-HU" i="1" dirty="0" err="1"/>
              <a:t>mentioned</a:t>
            </a:r>
            <a:r>
              <a:rPr lang="hu-HU" i="1" dirty="0"/>
              <a:t> </a:t>
            </a:r>
            <a:r>
              <a:rPr lang="hu-HU" i="1" dirty="0" err="1"/>
              <a:t>that</a:t>
            </a:r>
            <a:r>
              <a:rPr lang="hu-HU" i="1" dirty="0"/>
              <a:t> </a:t>
            </a:r>
            <a:r>
              <a:rPr lang="hu-HU" i="1" dirty="0" err="1"/>
              <a:t>the</a:t>
            </a:r>
            <a:r>
              <a:rPr lang="hu-HU" i="1" dirty="0"/>
              <a:t> chef </a:t>
            </a:r>
            <a:r>
              <a:rPr lang="hu-HU" i="1" dirty="0" err="1"/>
              <a:t>boasted</a:t>
            </a:r>
            <a:r>
              <a:rPr lang="hu-HU" i="1" dirty="0"/>
              <a:t> </a:t>
            </a:r>
            <a:r>
              <a:rPr lang="hu-HU" i="1" dirty="0" err="1"/>
              <a:t>about</a:t>
            </a:r>
            <a:r>
              <a:rPr lang="hu-HU" i="1" dirty="0"/>
              <a:t>  </a:t>
            </a:r>
            <a:r>
              <a:rPr lang="hu-HU" i="1" dirty="0" err="1"/>
              <a:t>his</a:t>
            </a:r>
            <a:r>
              <a:rPr lang="hu-HU" i="1" dirty="0"/>
              <a:t>/</a:t>
            </a:r>
            <a:r>
              <a:rPr lang="hu-HU" i="1" dirty="0" err="1"/>
              <a:t>her</a:t>
            </a:r>
            <a:r>
              <a:rPr lang="hu-HU" i="1" dirty="0"/>
              <a:t> </a:t>
            </a:r>
            <a:r>
              <a:rPr lang="hu-HU" i="1" dirty="0" err="1"/>
              <a:t>cooking</a:t>
            </a:r>
            <a:r>
              <a:rPr lang="hu-HU" i="1" dirty="0"/>
              <a:t> </a:t>
            </a:r>
            <a:r>
              <a:rPr lang="hu-HU" i="1" dirty="0" err="1"/>
              <a:t>skills</a:t>
            </a:r>
            <a:r>
              <a:rPr lang="hu-HU" i="1" dirty="0"/>
              <a:t>.		</a:t>
            </a:r>
            <a:r>
              <a:rPr lang="hu-HU" dirty="0"/>
              <a:t>				</a:t>
            </a:r>
          </a:p>
        </p:txBody>
      </p:sp>
      <p:sp>
        <p:nvSpPr>
          <p:cNvPr id="4" name="Slide Number Placeholder 3">
            <a:extLst>
              <a:ext uri="{FF2B5EF4-FFF2-40B4-BE49-F238E27FC236}">
                <a16:creationId xmlns:a16="http://schemas.microsoft.com/office/drawing/2014/main" id="{BFA423BD-588B-24B8-6D5A-F918ED2B3442}"/>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49</a:t>
            </a:fld>
            <a:endParaRPr lang="en-US" dirty="0"/>
          </a:p>
        </p:txBody>
      </p:sp>
    </p:spTree>
    <p:extLst>
      <p:ext uri="{BB962C8B-B14F-4D97-AF65-F5344CB8AC3E}">
        <p14:creationId xmlns:p14="http://schemas.microsoft.com/office/powerpoint/2010/main" val="46235847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0CCDE47-3E18-2BD4-C49C-CB86F27619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34C9C3-A105-63D6-ED45-A4522A371755}"/>
              </a:ext>
            </a:extLst>
          </p:cNvPr>
          <p:cNvSpPr>
            <a:spLocks noGrp="1"/>
          </p:cNvSpPr>
          <p:nvPr>
            <p:ph type="title"/>
          </p:nvPr>
        </p:nvSpPr>
        <p:spPr>
          <a:xfrm>
            <a:off x="1261872" y="365760"/>
            <a:ext cx="9692640" cy="658707"/>
          </a:xfrm>
        </p:spPr>
        <p:txBody>
          <a:bodyPr>
            <a:normAutofit fontScale="90000"/>
          </a:bodyPr>
          <a:lstStyle/>
          <a:p>
            <a:r>
              <a:rPr lang="en-US" dirty="0"/>
              <a:t>Two experiments: 2A</a:t>
            </a:r>
            <a:endParaRPr lang="hu-HU" dirty="0"/>
          </a:p>
        </p:txBody>
      </p:sp>
      <p:sp>
        <p:nvSpPr>
          <p:cNvPr id="3" name="Content Placeholder 2">
            <a:extLst>
              <a:ext uri="{FF2B5EF4-FFF2-40B4-BE49-F238E27FC236}">
                <a16:creationId xmlns:a16="http://schemas.microsoft.com/office/drawing/2014/main" id="{17A7D9BF-D5FE-1ED5-5562-CE09B86059E5}"/>
              </a:ext>
            </a:extLst>
          </p:cNvPr>
          <p:cNvSpPr>
            <a:spLocks noGrp="1"/>
          </p:cNvSpPr>
          <p:nvPr>
            <p:ph idx="4294967295"/>
          </p:nvPr>
        </p:nvSpPr>
        <p:spPr>
          <a:xfrm>
            <a:off x="1104293" y="2286000"/>
            <a:ext cx="8946541" cy="4238154"/>
          </a:xfrm>
        </p:spPr>
        <p:txBody>
          <a:bodyPr>
            <a:normAutofit fontScale="77500" lnSpcReduction="20000"/>
          </a:bodyPr>
          <a:lstStyle/>
          <a:p>
            <a:pPr marL="457200" indent="-457200"/>
            <a:endParaRPr lang="en-US" dirty="0"/>
          </a:p>
          <a:p>
            <a:pPr marL="457200" indent="-457200"/>
            <a:endParaRPr lang="en-US" dirty="0"/>
          </a:p>
          <a:p>
            <a:pPr marL="457200" indent="-457200"/>
            <a:endParaRPr lang="en-US" dirty="0"/>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457200" indent="-457200">
              <a:buFont typeface="+mj-lt"/>
              <a:buAutoNum type="arabicPeriod" startAt="2"/>
            </a:pPr>
            <a:r>
              <a:rPr lang="en-US" dirty="0">
                <a:solidFill>
                  <a:schemeClr val="tx1">
                    <a:lumMod val="75000"/>
                  </a:schemeClr>
                </a:solidFill>
              </a:rPr>
              <a:t>Verbal directionality and social bias</a:t>
            </a:r>
          </a:p>
          <a:p>
            <a:pPr marL="685800" lvl="1"/>
            <a:r>
              <a:rPr lang="en-US" dirty="0">
                <a:solidFill>
                  <a:schemeClr val="tx1">
                    <a:lumMod val="75000"/>
                  </a:schemeClr>
                </a:solidFill>
              </a:rPr>
              <a:t>Testing if gender/status/societal bias can change verb directionality </a:t>
            </a:r>
          </a:p>
          <a:p>
            <a:pPr marL="685800" lvl="1"/>
            <a:r>
              <a:rPr lang="en-US" dirty="0">
                <a:solidFill>
                  <a:schemeClr val="tx1">
                    <a:lumMod val="75000"/>
                  </a:schemeClr>
                </a:solidFill>
              </a:rPr>
              <a:t>2 halves, 3 conditions, 18 items</a:t>
            </a:r>
          </a:p>
          <a:p>
            <a:pPr marL="400050" lvl="1" indent="0">
              <a:buNone/>
            </a:pPr>
            <a:endParaRPr lang="en-US" dirty="0"/>
          </a:p>
          <a:p>
            <a:pPr marL="400050" lvl="1" indent="0">
              <a:buNone/>
            </a:pPr>
            <a:endParaRPr lang="en-US" dirty="0"/>
          </a:p>
        </p:txBody>
      </p:sp>
      <p:sp>
        <p:nvSpPr>
          <p:cNvPr id="10" name="TextBox 9">
            <a:extLst>
              <a:ext uri="{FF2B5EF4-FFF2-40B4-BE49-F238E27FC236}">
                <a16:creationId xmlns:a16="http://schemas.microsoft.com/office/drawing/2014/main" id="{0F1B379C-E466-4242-AAAA-C2DDEAD3D38F}"/>
              </a:ext>
            </a:extLst>
          </p:cNvPr>
          <p:cNvSpPr txBox="1"/>
          <p:nvPr/>
        </p:nvSpPr>
        <p:spPr>
          <a:xfrm>
            <a:off x="1764792" y="1853248"/>
            <a:ext cx="10011188" cy="3416320"/>
          </a:xfrm>
          <a:prstGeom prst="rect">
            <a:avLst/>
          </a:prstGeom>
          <a:noFill/>
        </p:spPr>
        <p:txBody>
          <a:bodyPr wrap="square">
            <a:spAutoFit/>
          </a:bodyPr>
          <a:lstStyle/>
          <a:p>
            <a:r>
              <a:rPr lang="hu-HU" b="1" dirty="0"/>
              <a:t>A szakács	említette	hogy	a dolgozó	kérkedett		a főzőtudásával.</a:t>
            </a:r>
          </a:p>
          <a:p>
            <a:r>
              <a:rPr lang="hu-HU" dirty="0" err="1"/>
              <a:t>the</a:t>
            </a:r>
            <a:r>
              <a:rPr lang="hu-HU" dirty="0"/>
              <a:t> chef	</a:t>
            </a:r>
            <a:r>
              <a:rPr lang="hu-HU" dirty="0" err="1"/>
              <a:t>mentioned</a:t>
            </a:r>
            <a:r>
              <a:rPr lang="hu-HU" dirty="0"/>
              <a:t>	</a:t>
            </a:r>
            <a:r>
              <a:rPr lang="hu-HU" dirty="0" err="1"/>
              <a:t>that</a:t>
            </a:r>
            <a:r>
              <a:rPr lang="hu-HU" dirty="0"/>
              <a:t>	</a:t>
            </a:r>
            <a:r>
              <a:rPr lang="en-US" dirty="0"/>
              <a:t>	</a:t>
            </a:r>
            <a:r>
              <a:rPr lang="hu-HU" dirty="0" err="1"/>
              <a:t>the</a:t>
            </a:r>
            <a:r>
              <a:rPr lang="hu-HU" dirty="0"/>
              <a:t> </a:t>
            </a:r>
            <a:r>
              <a:rPr lang="hu-HU" dirty="0" err="1"/>
              <a:t>worker</a:t>
            </a:r>
            <a:r>
              <a:rPr lang="hu-HU" dirty="0"/>
              <a:t>	</a:t>
            </a:r>
            <a:r>
              <a:rPr lang="hu-HU" dirty="0" err="1"/>
              <a:t>boasted</a:t>
            </a:r>
            <a:r>
              <a:rPr lang="hu-HU" dirty="0"/>
              <a:t>		</a:t>
            </a:r>
            <a:r>
              <a:rPr lang="hu-HU" dirty="0" err="1"/>
              <a:t>the</a:t>
            </a:r>
            <a:r>
              <a:rPr lang="hu-HU" dirty="0"/>
              <a:t> </a:t>
            </a:r>
            <a:r>
              <a:rPr lang="hu-HU" dirty="0" err="1"/>
              <a:t>cooking</a:t>
            </a:r>
            <a:r>
              <a:rPr lang="hu-HU" dirty="0"/>
              <a:t> skill-3SG-INS</a:t>
            </a:r>
          </a:p>
          <a:p>
            <a:r>
              <a:rPr lang="hu-HU" i="1" dirty="0"/>
              <a:t>The chef </a:t>
            </a:r>
            <a:r>
              <a:rPr lang="hu-HU" i="1" dirty="0" err="1"/>
              <a:t>mentioned</a:t>
            </a:r>
            <a:r>
              <a:rPr lang="hu-HU" i="1" dirty="0"/>
              <a:t> </a:t>
            </a:r>
            <a:r>
              <a:rPr lang="hu-HU" i="1" dirty="0" err="1"/>
              <a:t>that</a:t>
            </a:r>
            <a:r>
              <a:rPr lang="hu-HU" i="1" dirty="0"/>
              <a:t> </a:t>
            </a:r>
            <a:r>
              <a:rPr lang="hu-HU" i="1" dirty="0" err="1"/>
              <a:t>the</a:t>
            </a:r>
            <a:r>
              <a:rPr lang="hu-HU" i="1" dirty="0"/>
              <a:t> </a:t>
            </a:r>
            <a:r>
              <a:rPr lang="hu-HU" i="1" dirty="0" err="1"/>
              <a:t>worker</a:t>
            </a:r>
            <a:r>
              <a:rPr lang="hu-HU" i="1" dirty="0"/>
              <a:t> </a:t>
            </a:r>
            <a:r>
              <a:rPr lang="hu-HU" i="1" dirty="0" err="1"/>
              <a:t>boasted</a:t>
            </a:r>
            <a:r>
              <a:rPr lang="hu-HU" i="1" dirty="0"/>
              <a:t> </a:t>
            </a:r>
            <a:r>
              <a:rPr lang="hu-HU" i="1" dirty="0" err="1"/>
              <a:t>about</a:t>
            </a:r>
            <a:r>
              <a:rPr lang="hu-HU" i="1" dirty="0"/>
              <a:t>  </a:t>
            </a:r>
            <a:r>
              <a:rPr lang="hu-HU" i="1" dirty="0" err="1"/>
              <a:t>his</a:t>
            </a:r>
            <a:r>
              <a:rPr lang="hu-HU" i="1" dirty="0"/>
              <a:t>/</a:t>
            </a:r>
            <a:r>
              <a:rPr lang="hu-HU" i="1" dirty="0" err="1"/>
              <a:t>her</a:t>
            </a:r>
            <a:r>
              <a:rPr lang="hu-HU" i="1" dirty="0"/>
              <a:t> </a:t>
            </a:r>
            <a:r>
              <a:rPr lang="hu-HU" i="1" dirty="0" err="1"/>
              <a:t>cooking</a:t>
            </a:r>
            <a:r>
              <a:rPr lang="hu-HU" i="1" dirty="0"/>
              <a:t> </a:t>
            </a:r>
            <a:r>
              <a:rPr lang="hu-HU" i="1" dirty="0" err="1"/>
              <a:t>skills</a:t>
            </a:r>
            <a:r>
              <a:rPr lang="hu-HU" i="1" dirty="0"/>
              <a:t>.	</a:t>
            </a:r>
            <a:r>
              <a:rPr lang="hu-HU" dirty="0"/>
              <a:t>		</a:t>
            </a:r>
            <a:endParaRPr lang="en-US" dirty="0"/>
          </a:p>
          <a:p>
            <a:r>
              <a:rPr lang="hu-HU" dirty="0"/>
              <a:t>			</a:t>
            </a:r>
          </a:p>
          <a:p>
            <a:r>
              <a:rPr lang="hu-HU" b="1" dirty="0"/>
              <a:t>A szakács	említette	hogy	a dolgozó	megdicsérte	a főzőtudását.</a:t>
            </a:r>
          </a:p>
          <a:p>
            <a:r>
              <a:rPr lang="hu-HU" dirty="0" err="1"/>
              <a:t>the</a:t>
            </a:r>
            <a:r>
              <a:rPr lang="hu-HU" dirty="0"/>
              <a:t> chef	</a:t>
            </a:r>
            <a:r>
              <a:rPr lang="hu-HU" dirty="0" err="1"/>
              <a:t>mentioned</a:t>
            </a:r>
            <a:r>
              <a:rPr lang="hu-HU" dirty="0"/>
              <a:t>	</a:t>
            </a:r>
            <a:r>
              <a:rPr lang="hu-HU" dirty="0" err="1"/>
              <a:t>that</a:t>
            </a:r>
            <a:r>
              <a:rPr lang="hu-HU" dirty="0"/>
              <a:t>	</a:t>
            </a:r>
            <a:r>
              <a:rPr lang="en-US" dirty="0"/>
              <a:t>	</a:t>
            </a:r>
            <a:r>
              <a:rPr lang="hu-HU" dirty="0" err="1"/>
              <a:t>the</a:t>
            </a:r>
            <a:r>
              <a:rPr lang="hu-HU" dirty="0"/>
              <a:t> </a:t>
            </a:r>
            <a:r>
              <a:rPr lang="hu-HU" dirty="0" err="1"/>
              <a:t>worker</a:t>
            </a:r>
            <a:r>
              <a:rPr lang="hu-HU" dirty="0"/>
              <a:t>	</a:t>
            </a:r>
            <a:r>
              <a:rPr lang="hu-HU" dirty="0" err="1"/>
              <a:t>praised</a:t>
            </a:r>
            <a:r>
              <a:rPr lang="hu-HU" dirty="0"/>
              <a:t>	</a:t>
            </a:r>
            <a:r>
              <a:rPr lang="en-US" dirty="0"/>
              <a:t>		</a:t>
            </a:r>
            <a:r>
              <a:rPr lang="hu-HU" dirty="0" err="1"/>
              <a:t>the</a:t>
            </a:r>
            <a:r>
              <a:rPr lang="hu-HU" dirty="0"/>
              <a:t> </a:t>
            </a:r>
            <a:r>
              <a:rPr lang="hu-HU" dirty="0" err="1"/>
              <a:t>cooking</a:t>
            </a:r>
            <a:r>
              <a:rPr lang="hu-HU" dirty="0"/>
              <a:t> skill-3SG-DAT</a:t>
            </a:r>
          </a:p>
          <a:p>
            <a:r>
              <a:rPr lang="hu-HU" i="1" dirty="0"/>
              <a:t>The chef </a:t>
            </a:r>
            <a:r>
              <a:rPr lang="hu-HU" i="1" dirty="0" err="1"/>
              <a:t>mentioned</a:t>
            </a:r>
            <a:r>
              <a:rPr lang="hu-HU" i="1" dirty="0"/>
              <a:t> </a:t>
            </a:r>
            <a:r>
              <a:rPr lang="hu-HU" i="1" dirty="0" err="1"/>
              <a:t>that</a:t>
            </a:r>
            <a:r>
              <a:rPr lang="hu-HU" i="1" dirty="0"/>
              <a:t> </a:t>
            </a:r>
            <a:r>
              <a:rPr lang="hu-HU" i="1" dirty="0" err="1"/>
              <a:t>the</a:t>
            </a:r>
            <a:r>
              <a:rPr lang="hu-HU" i="1" dirty="0"/>
              <a:t> </a:t>
            </a:r>
            <a:r>
              <a:rPr lang="hu-HU" i="1" dirty="0" err="1"/>
              <a:t>worker</a:t>
            </a:r>
            <a:r>
              <a:rPr lang="hu-HU" i="1" dirty="0"/>
              <a:t> </a:t>
            </a:r>
            <a:r>
              <a:rPr lang="hu-HU" i="1" dirty="0" err="1"/>
              <a:t>praised</a:t>
            </a:r>
            <a:r>
              <a:rPr lang="hu-HU" i="1" dirty="0"/>
              <a:t> </a:t>
            </a:r>
            <a:r>
              <a:rPr lang="hu-HU" i="1" dirty="0" err="1"/>
              <a:t>his</a:t>
            </a:r>
            <a:r>
              <a:rPr lang="hu-HU" i="1" dirty="0"/>
              <a:t>/</a:t>
            </a:r>
            <a:r>
              <a:rPr lang="hu-HU" i="1" dirty="0" err="1"/>
              <a:t>her</a:t>
            </a:r>
            <a:r>
              <a:rPr lang="hu-HU" i="1" dirty="0"/>
              <a:t> </a:t>
            </a:r>
            <a:r>
              <a:rPr lang="hu-HU" i="1" dirty="0" err="1"/>
              <a:t>cooking</a:t>
            </a:r>
            <a:r>
              <a:rPr lang="hu-HU" i="1" dirty="0"/>
              <a:t> </a:t>
            </a:r>
            <a:r>
              <a:rPr lang="hu-HU" i="1" dirty="0" err="1"/>
              <a:t>skills</a:t>
            </a:r>
            <a:r>
              <a:rPr lang="hu-HU" i="1" dirty="0"/>
              <a:t>.	</a:t>
            </a:r>
            <a:r>
              <a:rPr lang="hu-HU" dirty="0"/>
              <a:t>				</a:t>
            </a:r>
            <a:endParaRPr lang="en-US" dirty="0"/>
          </a:p>
          <a:p>
            <a:r>
              <a:rPr lang="hu-HU" dirty="0"/>
              <a:t>	</a:t>
            </a:r>
          </a:p>
          <a:p>
            <a:r>
              <a:rPr lang="hu-HU" b="1" dirty="0"/>
              <a:t>A dolgozó	említette	hogy	a szakács	kérkedett		a főzőtudásával.</a:t>
            </a:r>
          </a:p>
          <a:p>
            <a:r>
              <a:rPr lang="hu-HU" dirty="0" err="1"/>
              <a:t>the</a:t>
            </a:r>
            <a:r>
              <a:rPr lang="hu-HU" dirty="0"/>
              <a:t> </a:t>
            </a:r>
            <a:r>
              <a:rPr lang="hu-HU" dirty="0" err="1"/>
              <a:t>worker</a:t>
            </a:r>
            <a:r>
              <a:rPr lang="hu-HU" dirty="0"/>
              <a:t>	</a:t>
            </a:r>
            <a:r>
              <a:rPr lang="hu-HU" dirty="0" err="1"/>
              <a:t>mentioned</a:t>
            </a:r>
            <a:r>
              <a:rPr lang="hu-HU" dirty="0"/>
              <a:t>	</a:t>
            </a:r>
            <a:r>
              <a:rPr lang="hu-HU" dirty="0" err="1"/>
              <a:t>that</a:t>
            </a:r>
            <a:r>
              <a:rPr lang="hu-HU" dirty="0"/>
              <a:t>	</a:t>
            </a:r>
            <a:r>
              <a:rPr lang="en-US" dirty="0"/>
              <a:t>	</a:t>
            </a:r>
            <a:r>
              <a:rPr lang="hu-HU" dirty="0" err="1"/>
              <a:t>the</a:t>
            </a:r>
            <a:r>
              <a:rPr lang="hu-HU" dirty="0"/>
              <a:t> chef	</a:t>
            </a:r>
            <a:r>
              <a:rPr lang="hu-HU" dirty="0" err="1"/>
              <a:t>boasted</a:t>
            </a:r>
            <a:r>
              <a:rPr lang="hu-HU" dirty="0"/>
              <a:t>		</a:t>
            </a:r>
            <a:r>
              <a:rPr lang="hu-HU" dirty="0" err="1"/>
              <a:t>the</a:t>
            </a:r>
            <a:r>
              <a:rPr lang="hu-HU" dirty="0"/>
              <a:t> </a:t>
            </a:r>
            <a:r>
              <a:rPr lang="hu-HU" dirty="0" err="1"/>
              <a:t>cooking</a:t>
            </a:r>
            <a:r>
              <a:rPr lang="hu-HU" dirty="0"/>
              <a:t> skill-3SG-INS</a:t>
            </a:r>
          </a:p>
          <a:p>
            <a:r>
              <a:rPr lang="hu-HU" i="1" dirty="0"/>
              <a:t>The </a:t>
            </a:r>
            <a:r>
              <a:rPr lang="hu-HU" i="1" dirty="0" err="1"/>
              <a:t>worker</a:t>
            </a:r>
            <a:r>
              <a:rPr lang="hu-HU" i="1" dirty="0"/>
              <a:t> </a:t>
            </a:r>
            <a:r>
              <a:rPr lang="hu-HU" i="1" dirty="0" err="1"/>
              <a:t>mentioned</a:t>
            </a:r>
            <a:r>
              <a:rPr lang="hu-HU" i="1" dirty="0"/>
              <a:t> </a:t>
            </a:r>
            <a:r>
              <a:rPr lang="hu-HU" i="1" dirty="0" err="1"/>
              <a:t>that</a:t>
            </a:r>
            <a:r>
              <a:rPr lang="hu-HU" i="1" dirty="0"/>
              <a:t> </a:t>
            </a:r>
            <a:r>
              <a:rPr lang="hu-HU" i="1" dirty="0" err="1"/>
              <a:t>the</a:t>
            </a:r>
            <a:r>
              <a:rPr lang="hu-HU" i="1" dirty="0"/>
              <a:t> chef </a:t>
            </a:r>
            <a:r>
              <a:rPr lang="hu-HU" i="1" dirty="0" err="1"/>
              <a:t>boasted</a:t>
            </a:r>
            <a:r>
              <a:rPr lang="hu-HU" i="1" dirty="0"/>
              <a:t> </a:t>
            </a:r>
            <a:r>
              <a:rPr lang="hu-HU" i="1" dirty="0" err="1"/>
              <a:t>about</a:t>
            </a:r>
            <a:r>
              <a:rPr lang="hu-HU" i="1" dirty="0"/>
              <a:t>  </a:t>
            </a:r>
            <a:r>
              <a:rPr lang="hu-HU" i="1" dirty="0" err="1"/>
              <a:t>his</a:t>
            </a:r>
            <a:r>
              <a:rPr lang="hu-HU" i="1" dirty="0"/>
              <a:t>/</a:t>
            </a:r>
            <a:r>
              <a:rPr lang="hu-HU" i="1" dirty="0" err="1"/>
              <a:t>her</a:t>
            </a:r>
            <a:r>
              <a:rPr lang="hu-HU" i="1" dirty="0"/>
              <a:t> </a:t>
            </a:r>
            <a:r>
              <a:rPr lang="hu-HU" i="1" dirty="0" err="1"/>
              <a:t>cooking</a:t>
            </a:r>
            <a:r>
              <a:rPr lang="hu-HU" i="1" dirty="0"/>
              <a:t> </a:t>
            </a:r>
            <a:r>
              <a:rPr lang="hu-HU" i="1" dirty="0" err="1"/>
              <a:t>skills</a:t>
            </a:r>
            <a:r>
              <a:rPr lang="hu-HU" i="1" dirty="0"/>
              <a:t>.		</a:t>
            </a:r>
            <a:r>
              <a:rPr lang="hu-HU" dirty="0"/>
              <a:t>				</a:t>
            </a:r>
          </a:p>
        </p:txBody>
      </p:sp>
      <p:sp>
        <p:nvSpPr>
          <p:cNvPr id="12" name="TextBox 11">
            <a:extLst>
              <a:ext uri="{FF2B5EF4-FFF2-40B4-BE49-F238E27FC236}">
                <a16:creationId xmlns:a16="http://schemas.microsoft.com/office/drawing/2014/main" id="{0A38779B-1F7B-7D50-472D-B4DEB702AB9A}"/>
              </a:ext>
            </a:extLst>
          </p:cNvPr>
          <p:cNvSpPr txBox="1"/>
          <p:nvPr/>
        </p:nvSpPr>
        <p:spPr>
          <a:xfrm>
            <a:off x="0" y="1853248"/>
            <a:ext cx="6094476" cy="2585323"/>
          </a:xfrm>
          <a:prstGeom prst="rect">
            <a:avLst/>
          </a:prstGeom>
          <a:noFill/>
        </p:spPr>
        <p:txBody>
          <a:bodyPr wrap="square">
            <a:spAutoFit/>
          </a:bodyPr>
          <a:lstStyle/>
          <a:p>
            <a:r>
              <a:rPr lang="hu-HU" b="1" dirty="0" err="1">
                <a:solidFill>
                  <a:schemeClr val="accent4"/>
                </a:solidFill>
              </a:rPr>
              <a:t>self-directed</a:t>
            </a:r>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endParaRPr lang="hu-HU" b="1" dirty="0">
              <a:solidFill>
                <a:schemeClr val="accent4"/>
              </a:solidFill>
            </a:endParaRPr>
          </a:p>
          <a:p>
            <a:r>
              <a:rPr lang="hu-HU" b="1" dirty="0" err="1">
                <a:solidFill>
                  <a:schemeClr val="accent4"/>
                </a:solidFill>
              </a:rPr>
              <a:t>other-directed</a:t>
            </a:r>
            <a:endParaRPr lang="hu-HU" b="1" dirty="0">
              <a:solidFill>
                <a:schemeClr val="accent4"/>
              </a:solidFill>
            </a:endParaRPr>
          </a:p>
          <a:p>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r>
              <a:rPr lang="hu-HU" b="1" dirty="0" err="1">
                <a:solidFill>
                  <a:schemeClr val="accent4"/>
                </a:solidFill>
              </a:rPr>
              <a:t>self</a:t>
            </a:r>
            <a:r>
              <a:rPr lang="hu-HU" b="1" dirty="0">
                <a:solidFill>
                  <a:schemeClr val="accent4"/>
                </a:solidFill>
              </a:rPr>
              <a:t>-</a:t>
            </a:r>
            <a:r>
              <a:rPr lang="hu-HU" b="1" dirty="0" err="1">
                <a:solidFill>
                  <a:schemeClr val="accent4"/>
                </a:solidFill>
              </a:rPr>
              <a:t>directed</a:t>
            </a:r>
            <a:r>
              <a:rPr lang="hu-HU" b="1" dirty="0">
                <a:solidFill>
                  <a:schemeClr val="accent4"/>
                </a:solidFill>
              </a:rPr>
              <a:t>-x</a:t>
            </a:r>
          </a:p>
        </p:txBody>
      </p:sp>
      <p:sp>
        <p:nvSpPr>
          <p:cNvPr id="4" name="Slide Number Placeholder 3">
            <a:extLst>
              <a:ext uri="{FF2B5EF4-FFF2-40B4-BE49-F238E27FC236}">
                <a16:creationId xmlns:a16="http://schemas.microsoft.com/office/drawing/2014/main" id="{EDFB554B-A3C0-E228-948D-AF13B62A516D}"/>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50</a:t>
            </a:fld>
            <a:endParaRPr lang="en-US" dirty="0"/>
          </a:p>
        </p:txBody>
      </p:sp>
    </p:spTree>
    <p:extLst>
      <p:ext uri="{BB962C8B-B14F-4D97-AF65-F5344CB8AC3E}">
        <p14:creationId xmlns:p14="http://schemas.microsoft.com/office/powerpoint/2010/main" val="2523581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443117E-2E0B-8A49-6D21-A79321C38D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A73CFA-5462-0169-220C-FA433C74C36C}"/>
              </a:ext>
            </a:extLst>
          </p:cNvPr>
          <p:cNvSpPr>
            <a:spLocks noGrp="1"/>
          </p:cNvSpPr>
          <p:nvPr>
            <p:ph type="title"/>
          </p:nvPr>
        </p:nvSpPr>
        <p:spPr>
          <a:xfrm>
            <a:off x="1261872" y="365760"/>
            <a:ext cx="9692640" cy="658707"/>
          </a:xfrm>
        </p:spPr>
        <p:txBody>
          <a:bodyPr>
            <a:normAutofit fontScale="90000"/>
          </a:bodyPr>
          <a:lstStyle/>
          <a:p>
            <a:r>
              <a:rPr lang="en-US" dirty="0"/>
              <a:t>Two experiments: 2A - verb</a:t>
            </a:r>
            <a:endParaRPr lang="hu-HU" dirty="0"/>
          </a:p>
        </p:txBody>
      </p:sp>
      <p:sp>
        <p:nvSpPr>
          <p:cNvPr id="3" name="Content Placeholder 2">
            <a:extLst>
              <a:ext uri="{FF2B5EF4-FFF2-40B4-BE49-F238E27FC236}">
                <a16:creationId xmlns:a16="http://schemas.microsoft.com/office/drawing/2014/main" id="{3C499743-B60C-2D6D-F060-80F117715EFE}"/>
              </a:ext>
            </a:extLst>
          </p:cNvPr>
          <p:cNvSpPr>
            <a:spLocks noGrp="1"/>
          </p:cNvSpPr>
          <p:nvPr>
            <p:ph idx="4294967295"/>
          </p:nvPr>
        </p:nvSpPr>
        <p:spPr>
          <a:xfrm>
            <a:off x="1104293" y="2286000"/>
            <a:ext cx="8946541" cy="4238154"/>
          </a:xfrm>
        </p:spPr>
        <p:txBody>
          <a:bodyPr>
            <a:normAutofit fontScale="77500" lnSpcReduction="20000"/>
          </a:bodyPr>
          <a:lstStyle/>
          <a:p>
            <a:pPr marL="457200" indent="-457200"/>
            <a:endParaRPr lang="en-US" dirty="0"/>
          </a:p>
          <a:p>
            <a:pPr marL="457200" indent="-457200"/>
            <a:endParaRPr lang="en-US" dirty="0"/>
          </a:p>
          <a:p>
            <a:pPr marL="457200" indent="-457200"/>
            <a:endParaRPr lang="en-US" dirty="0"/>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457200" indent="-457200">
              <a:buFont typeface="+mj-lt"/>
              <a:buAutoNum type="arabicPeriod" startAt="2"/>
            </a:pPr>
            <a:r>
              <a:rPr lang="en-US" dirty="0">
                <a:solidFill>
                  <a:schemeClr val="tx1">
                    <a:lumMod val="75000"/>
                  </a:schemeClr>
                </a:solidFill>
              </a:rPr>
              <a:t>Verbal directionality and social bias</a:t>
            </a:r>
          </a:p>
          <a:p>
            <a:pPr marL="685800" lvl="1"/>
            <a:r>
              <a:rPr lang="en-US" dirty="0">
                <a:solidFill>
                  <a:schemeClr val="tx1">
                    <a:lumMod val="75000"/>
                  </a:schemeClr>
                </a:solidFill>
              </a:rPr>
              <a:t>Testing if gender/status/societal bias can change verb directionality </a:t>
            </a:r>
          </a:p>
          <a:p>
            <a:pPr marL="685800" lvl="1"/>
            <a:r>
              <a:rPr lang="en-US" dirty="0">
                <a:solidFill>
                  <a:schemeClr val="tx1">
                    <a:lumMod val="75000"/>
                  </a:schemeClr>
                </a:solidFill>
              </a:rPr>
              <a:t>2 halves, 3 conditions, 18 items</a:t>
            </a:r>
          </a:p>
          <a:p>
            <a:pPr marL="400050" lvl="1" indent="0">
              <a:buNone/>
            </a:pPr>
            <a:endParaRPr lang="en-US" dirty="0"/>
          </a:p>
          <a:p>
            <a:pPr marL="400050" lvl="1" indent="0">
              <a:buNone/>
            </a:pPr>
            <a:endParaRPr lang="en-US" dirty="0"/>
          </a:p>
        </p:txBody>
      </p:sp>
      <p:sp>
        <p:nvSpPr>
          <p:cNvPr id="10" name="TextBox 9">
            <a:extLst>
              <a:ext uri="{FF2B5EF4-FFF2-40B4-BE49-F238E27FC236}">
                <a16:creationId xmlns:a16="http://schemas.microsoft.com/office/drawing/2014/main" id="{77FA5D25-98F4-221F-BD6C-15ED4D322EB1}"/>
              </a:ext>
            </a:extLst>
          </p:cNvPr>
          <p:cNvSpPr txBox="1"/>
          <p:nvPr/>
        </p:nvSpPr>
        <p:spPr>
          <a:xfrm>
            <a:off x="1764792" y="1853248"/>
            <a:ext cx="10011188" cy="3139321"/>
          </a:xfrm>
          <a:prstGeom prst="rect">
            <a:avLst/>
          </a:prstGeom>
          <a:noFill/>
        </p:spPr>
        <p:txBody>
          <a:bodyPr wrap="square">
            <a:spAutoFit/>
          </a:bodyPr>
          <a:lstStyle/>
          <a:p>
            <a:r>
              <a:rPr lang="hu-HU" b="1" dirty="0"/>
              <a:t>A szakács	említette	hogy	a dolgozó	</a:t>
            </a:r>
            <a:r>
              <a:rPr lang="hu-HU" b="1" dirty="0">
                <a:solidFill>
                  <a:schemeClr val="accent1"/>
                </a:solidFill>
              </a:rPr>
              <a:t>kérkedett</a:t>
            </a:r>
            <a:r>
              <a:rPr lang="hu-HU" b="1" dirty="0"/>
              <a:t>		a főzőtudásával.</a:t>
            </a:r>
          </a:p>
          <a:p>
            <a:r>
              <a:rPr lang="hu-HU" dirty="0" err="1"/>
              <a:t>the</a:t>
            </a:r>
            <a:r>
              <a:rPr lang="hu-HU" dirty="0"/>
              <a:t> chef	</a:t>
            </a:r>
            <a:r>
              <a:rPr lang="hu-HU" dirty="0" err="1"/>
              <a:t>mentioned</a:t>
            </a:r>
            <a:r>
              <a:rPr lang="hu-HU" dirty="0"/>
              <a:t>	</a:t>
            </a:r>
            <a:r>
              <a:rPr lang="hu-HU" dirty="0" err="1"/>
              <a:t>that</a:t>
            </a:r>
            <a:r>
              <a:rPr lang="hu-HU" dirty="0"/>
              <a:t>	</a:t>
            </a:r>
            <a:r>
              <a:rPr lang="en-US" dirty="0"/>
              <a:t>	</a:t>
            </a:r>
            <a:r>
              <a:rPr lang="hu-HU" dirty="0" err="1"/>
              <a:t>the</a:t>
            </a:r>
            <a:r>
              <a:rPr lang="hu-HU" dirty="0"/>
              <a:t> </a:t>
            </a:r>
            <a:r>
              <a:rPr lang="hu-HU" dirty="0" err="1"/>
              <a:t>worker</a:t>
            </a:r>
            <a:r>
              <a:rPr lang="hu-HU" dirty="0"/>
              <a:t>	</a:t>
            </a:r>
            <a:r>
              <a:rPr lang="hu-HU" dirty="0" err="1"/>
              <a:t>boasted</a:t>
            </a:r>
            <a:r>
              <a:rPr lang="hu-HU" dirty="0"/>
              <a:t>		</a:t>
            </a:r>
            <a:r>
              <a:rPr lang="hu-HU" dirty="0" err="1"/>
              <a:t>the</a:t>
            </a:r>
            <a:r>
              <a:rPr lang="hu-HU" dirty="0"/>
              <a:t> </a:t>
            </a:r>
            <a:r>
              <a:rPr lang="hu-HU" dirty="0" err="1"/>
              <a:t>cooking</a:t>
            </a:r>
            <a:r>
              <a:rPr lang="hu-HU" dirty="0"/>
              <a:t> skill-3SG-INS</a:t>
            </a:r>
          </a:p>
          <a:p>
            <a:r>
              <a:rPr lang="hu-HU" i="1" dirty="0"/>
              <a:t>The chef </a:t>
            </a:r>
            <a:r>
              <a:rPr lang="hu-HU" i="1" dirty="0" err="1"/>
              <a:t>mentioned</a:t>
            </a:r>
            <a:r>
              <a:rPr lang="hu-HU" i="1" dirty="0"/>
              <a:t> </a:t>
            </a:r>
            <a:r>
              <a:rPr lang="hu-HU" i="1" dirty="0" err="1"/>
              <a:t>that</a:t>
            </a:r>
            <a:r>
              <a:rPr lang="hu-HU" i="1" dirty="0"/>
              <a:t> </a:t>
            </a:r>
            <a:r>
              <a:rPr lang="hu-HU" i="1" dirty="0" err="1"/>
              <a:t>the</a:t>
            </a:r>
            <a:r>
              <a:rPr lang="hu-HU" i="1" dirty="0"/>
              <a:t> </a:t>
            </a:r>
            <a:r>
              <a:rPr lang="hu-HU" i="1" dirty="0" err="1"/>
              <a:t>worker</a:t>
            </a:r>
            <a:r>
              <a:rPr lang="hu-HU" i="1" dirty="0"/>
              <a:t> </a:t>
            </a:r>
            <a:r>
              <a:rPr lang="hu-HU" i="1" dirty="0" err="1"/>
              <a:t>boasted</a:t>
            </a:r>
            <a:r>
              <a:rPr lang="hu-HU" i="1" dirty="0"/>
              <a:t> </a:t>
            </a:r>
            <a:r>
              <a:rPr lang="hu-HU" i="1" dirty="0" err="1"/>
              <a:t>about</a:t>
            </a:r>
            <a:r>
              <a:rPr lang="hu-HU" i="1" dirty="0"/>
              <a:t>  </a:t>
            </a:r>
            <a:r>
              <a:rPr lang="hu-HU" i="1" dirty="0" err="1"/>
              <a:t>his</a:t>
            </a:r>
            <a:r>
              <a:rPr lang="hu-HU" i="1" dirty="0"/>
              <a:t>/</a:t>
            </a:r>
            <a:r>
              <a:rPr lang="hu-HU" i="1" dirty="0" err="1"/>
              <a:t>her</a:t>
            </a:r>
            <a:r>
              <a:rPr lang="hu-HU" i="1" dirty="0"/>
              <a:t> </a:t>
            </a:r>
            <a:r>
              <a:rPr lang="hu-HU" i="1" dirty="0" err="1"/>
              <a:t>cooking</a:t>
            </a:r>
            <a:r>
              <a:rPr lang="hu-HU" i="1" dirty="0"/>
              <a:t> </a:t>
            </a:r>
            <a:r>
              <a:rPr lang="hu-HU" i="1" dirty="0" err="1"/>
              <a:t>skills</a:t>
            </a:r>
            <a:r>
              <a:rPr lang="hu-HU" i="1" dirty="0"/>
              <a:t>.	</a:t>
            </a:r>
            <a:r>
              <a:rPr lang="hu-HU" dirty="0"/>
              <a:t>		</a:t>
            </a:r>
            <a:endParaRPr lang="en-US" dirty="0"/>
          </a:p>
          <a:p>
            <a:r>
              <a:rPr lang="hu-HU" dirty="0"/>
              <a:t>			</a:t>
            </a:r>
          </a:p>
          <a:p>
            <a:r>
              <a:rPr lang="hu-HU" b="1" dirty="0"/>
              <a:t>A szakács	említette	hogy	a dolgozó	</a:t>
            </a:r>
            <a:r>
              <a:rPr lang="hu-HU" b="1" dirty="0">
                <a:solidFill>
                  <a:schemeClr val="accent1"/>
                </a:solidFill>
              </a:rPr>
              <a:t>megdicsérte</a:t>
            </a:r>
            <a:r>
              <a:rPr lang="hu-HU" b="1" dirty="0"/>
              <a:t>	a főzőtudását.</a:t>
            </a:r>
          </a:p>
          <a:p>
            <a:r>
              <a:rPr lang="hu-HU" dirty="0" err="1"/>
              <a:t>the</a:t>
            </a:r>
            <a:r>
              <a:rPr lang="hu-HU" dirty="0"/>
              <a:t> chef	</a:t>
            </a:r>
            <a:r>
              <a:rPr lang="hu-HU" dirty="0" err="1"/>
              <a:t>mentioned</a:t>
            </a:r>
            <a:r>
              <a:rPr lang="hu-HU" dirty="0"/>
              <a:t>	</a:t>
            </a:r>
            <a:r>
              <a:rPr lang="hu-HU" dirty="0" err="1"/>
              <a:t>that</a:t>
            </a:r>
            <a:r>
              <a:rPr lang="hu-HU" dirty="0"/>
              <a:t>	</a:t>
            </a:r>
            <a:r>
              <a:rPr lang="en-US" dirty="0"/>
              <a:t>	</a:t>
            </a:r>
            <a:r>
              <a:rPr lang="hu-HU" dirty="0" err="1"/>
              <a:t>the</a:t>
            </a:r>
            <a:r>
              <a:rPr lang="hu-HU" dirty="0"/>
              <a:t> </a:t>
            </a:r>
            <a:r>
              <a:rPr lang="hu-HU" dirty="0" err="1"/>
              <a:t>worker</a:t>
            </a:r>
            <a:r>
              <a:rPr lang="hu-HU" dirty="0"/>
              <a:t>	</a:t>
            </a:r>
            <a:r>
              <a:rPr lang="hu-HU" dirty="0" err="1"/>
              <a:t>praised</a:t>
            </a:r>
            <a:r>
              <a:rPr lang="hu-HU" dirty="0"/>
              <a:t>	</a:t>
            </a:r>
            <a:r>
              <a:rPr lang="en-US" dirty="0"/>
              <a:t>		</a:t>
            </a:r>
            <a:r>
              <a:rPr lang="hu-HU" dirty="0" err="1"/>
              <a:t>the</a:t>
            </a:r>
            <a:r>
              <a:rPr lang="hu-HU" dirty="0"/>
              <a:t> </a:t>
            </a:r>
            <a:r>
              <a:rPr lang="hu-HU" dirty="0" err="1"/>
              <a:t>cooking</a:t>
            </a:r>
            <a:r>
              <a:rPr lang="hu-HU" dirty="0"/>
              <a:t> skill-3SG-DAT</a:t>
            </a:r>
          </a:p>
          <a:p>
            <a:r>
              <a:rPr lang="hu-HU" i="1" dirty="0"/>
              <a:t>The chef </a:t>
            </a:r>
            <a:r>
              <a:rPr lang="hu-HU" i="1" dirty="0" err="1"/>
              <a:t>mentioned</a:t>
            </a:r>
            <a:r>
              <a:rPr lang="hu-HU" i="1" dirty="0"/>
              <a:t> </a:t>
            </a:r>
            <a:r>
              <a:rPr lang="hu-HU" i="1" dirty="0" err="1"/>
              <a:t>that</a:t>
            </a:r>
            <a:r>
              <a:rPr lang="hu-HU" i="1" dirty="0"/>
              <a:t> </a:t>
            </a:r>
            <a:r>
              <a:rPr lang="hu-HU" i="1" dirty="0" err="1"/>
              <a:t>the</a:t>
            </a:r>
            <a:r>
              <a:rPr lang="hu-HU" i="1" dirty="0"/>
              <a:t> </a:t>
            </a:r>
            <a:r>
              <a:rPr lang="hu-HU" i="1" dirty="0" err="1"/>
              <a:t>worker</a:t>
            </a:r>
            <a:r>
              <a:rPr lang="hu-HU" i="1" dirty="0"/>
              <a:t> </a:t>
            </a:r>
            <a:r>
              <a:rPr lang="hu-HU" i="1" dirty="0" err="1"/>
              <a:t>praised</a:t>
            </a:r>
            <a:r>
              <a:rPr lang="hu-HU" i="1" dirty="0"/>
              <a:t> </a:t>
            </a:r>
            <a:r>
              <a:rPr lang="hu-HU" i="1" dirty="0" err="1"/>
              <a:t>his</a:t>
            </a:r>
            <a:r>
              <a:rPr lang="hu-HU" i="1" dirty="0"/>
              <a:t>/</a:t>
            </a:r>
            <a:r>
              <a:rPr lang="hu-HU" i="1" dirty="0" err="1"/>
              <a:t>her</a:t>
            </a:r>
            <a:r>
              <a:rPr lang="hu-HU" i="1" dirty="0"/>
              <a:t> </a:t>
            </a:r>
            <a:r>
              <a:rPr lang="hu-HU" i="1" dirty="0" err="1"/>
              <a:t>cooking</a:t>
            </a:r>
            <a:r>
              <a:rPr lang="hu-HU" i="1" dirty="0"/>
              <a:t> </a:t>
            </a:r>
            <a:r>
              <a:rPr lang="hu-HU" i="1" dirty="0" err="1"/>
              <a:t>skills</a:t>
            </a:r>
            <a:r>
              <a:rPr lang="hu-HU" i="1" dirty="0"/>
              <a:t>.	</a:t>
            </a:r>
            <a:r>
              <a:rPr lang="hu-HU" dirty="0"/>
              <a:t>				</a:t>
            </a:r>
            <a:endParaRPr lang="en-US" dirty="0"/>
          </a:p>
          <a:p>
            <a:r>
              <a:rPr lang="hu-HU" dirty="0"/>
              <a:t>	</a:t>
            </a:r>
          </a:p>
          <a:p>
            <a:r>
              <a:rPr lang="hu-HU" b="1" dirty="0"/>
              <a:t>A dolgozó	említette	hogy	a szakács	</a:t>
            </a:r>
            <a:r>
              <a:rPr lang="hu-HU" b="1" dirty="0">
                <a:solidFill>
                  <a:schemeClr val="accent1"/>
                </a:solidFill>
              </a:rPr>
              <a:t>kérkedett</a:t>
            </a:r>
            <a:r>
              <a:rPr lang="hu-HU" b="1" dirty="0"/>
              <a:t>		a főzőtudásával.</a:t>
            </a:r>
          </a:p>
          <a:p>
            <a:r>
              <a:rPr lang="hu-HU" dirty="0" err="1"/>
              <a:t>the</a:t>
            </a:r>
            <a:r>
              <a:rPr lang="hu-HU" dirty="0"/>
              <a:t> </a:t>
            </a:r>
            <a:r>
              <a:rPr lang="hu-HU" dirty="0" err="1"/>
              <a:t>worker</a:t>
            </a:r>
            <a:r>
              <a:rPr lang="hu-HU" dirty="0"/>
              <a:t>	</a:t>
            </a:r>
            <a:r>
              <a:rPr lang="hu-HU" dirty="0" err="1"/>
              <a:t>mentioned</a:t>
            </a:r>
            <a:r>
              <a:rPr lang="hu-HU" dirty="0"/>
              <a:t>	</a:t>
            </a:r>
            <a:r>
              <a:rPr lang="hu-HU" dirty="0" err="1"/>
              <a:t>that</a:t>
            </a:r>
            <a:r>
              <a:rPr lang="hu-HU" dirty="0"/>
              <a:t>	</a:t>
            </a:r>
            <a:r>
              <a:rPr lang="en-US" dirty="0"/>
              <a:t>	</a:t>
            </a:r>
            <a:r>
              <a:rPr lang="hu-HU" dirty="0" err="1"/>
              <a:t>the</a:t>
            </a:r>
            <a:r>
              <a:rPr lang="hu-HU" dirty="0"/>
              <a:t> chef	</a:t>
            </a:r>
            <a:r>
              <a:rPr lang="hu-HU" dirty="0" err="1"/>
              <a:t>boasted</a:t>
            </a:r>
            <a:r>
              <a:rPr lang="hu-HU" dirty="0"/>
              <a:t>		</a:t>
            </a:r>
            <a:r>
              <a:rPr lang="hu-HU" dirty="0" err="1"/>
              <a:t>the</a:t>
            </a:r>
            <a:r>
              <a:rPr lang="hu-HU" dirty="0"/>
              <a:t> </a:t>
            </a:r>
            <a:r>
              <a:rPr lang="hu-HU" dirty="0" err="1"/>
              <a:t>cooking</a:t>
            </a:r>
            <a:r>
              <a:rPr lang="hu-HU" dirty="0"/>
              <a:t> skill-3SG-INS</a:t>
            </a:r>
          </a:p>
          <a:p>
            <a:r>
              <a:rPr lang="hu-HU" i="1" dirty="0"/>
              <a:t>The </a:t>
            </a:r>
            <a:r>
              <a:rPr lang="hu-HU" i="1" dirty="0" err="1"/>
              <a:t>worker</a:t>
            </a:r>
            <a:r>
              <a:rPr lang="hu-HU" i="1" dirty="0"/>
              <a:t> </a:t>
            </a:r>
            <a:r>
              <a:rPr lang="hu-HU" i="1" dirty="0" err="1"/>
              <a:t>mentioned</a:t>
            </a:r>
            <a:r>
              <a:rPr lang="hu-HU" i="1" dirty="0"/>
              <a:t> </a:t>
            </a:r>
            <a:r>
              <a:rPr lang="hu-HU" i="1" dirty="0" err="1"/>
              <a:t>that</a:t>
            </a:r>
            <a:r>
              <a:rPr lang="hu-HU" i="1" dirty="0"/>
              <a:t> </a:t>
            </a:r>
            <a:r>
              <a:rPr lang="hu-HU" i="1" dirty="0" err="1"/>
              <a:t>the</a:t>
            </a:r>
            <a:r>
              <a:rPr lang="hu-HU" i="1" dirty="0"/>
              <a:t> chef </a:t>
            </a:r>
            <a:r>
              <a:rPr lang="hu-HU" i="1" dirty="0" err="1"/>
              <a:t>boasted</a:t>
            </a:r>
            <a:r>
              <a:rPr lang="hu-HU" i="1" dirty="0"/>
              <a:t> </a:t>
            </a:r>
            <a:r>
              <a:rPr lang="hu-HU" i="1" dirty="0" err="1"/>
              <a:t>about</a:t>
            </a:r>
            <a:r>
              <a:rPr lang="hu-HU" i="1" dirty="0"/>
              <a:t>  </a:t>
            </a:r>
            <a:r>
              <a:rPr lang="hu-HU" i="1" dirty="0" err="1"/>
              <a:t>his</a:t>
            </a:r>
            <a:r>
              <a:rPr lang="hu-HU" i="1" dirty="0"/>
              <a:t>/</a:t>
            </a:r>
            <a:r>
              <a:rPr lang="hu-HU" i="1" dirty="0" err="1"/>
              <a:t>her</a:t>
            </a:r>
            <a:r>
              <a:rPr lang="hu-HU" i="1" dirty="0"/>
              <a:t> </a:t>
            </a:r>
            <a:r>
              <a:rPr lang="hu-HU" i="1" dirty="0" err="1"/>
              <a:t>cooking</a:t>
            </a:r>
            <a:r>
              <a:rPr lang="hu-HU" i="1" dirty="0"/>
              <a:t> </a:t>
            </a:r>
            <a:r>
              <a:rPr lang="hu-HU" i="1" dirty="0" err="1"/>
              <a:t>skills</a:t>
            </a:r>
            <a:r>
              <a:rPr lang="hu-HU" i="1" dirty="0"/>
              <a:t>.		</a:t>
            </a:r>
            <a:r>
              <a:rPr lang="hu-HU" dirty="0"/>
              <a:t>				</a:t>
            </a:r>
          </a:p>
        </p:txBody>
      </p:sp>
      <p:sp>
        <p:nvSpPr>
          <p:cNvPr id="12" name="TextBox 11">
            <a:extLst>
              <a:ext uri="{FF2B5EF4-FFF2-40B4-BE49-F238E27FC236}">
                <a16:creationId xmlns:a16="http://schemas.microsoft.com/office/drawing/2014/main" id="{54B15585-BDE7-BE0C-A376-7054332D6793}"/>
              </a:ext>
            </a:extLst>
          </p:cNvPr>
          <p:cNvSpPr txBox="1"/>
          <p:nvPr/>
        </p:nvSpPr>
        <p:spPr>
          <a:xfrm>
            <a:off x="0" y="1853248"/>
            <a:ext cx="4782312" cy="3416320"/>
          </a:xfrm>
          <a:prstGeom prst="rect">
            <a:avLst/>
          </a:prstGeom>
          <a:noFill/>
        </p:spPr>
        <p:txBody>
          <a:bodyPr wrap="square">
            <a:spAutoFit/>
          </a:bodyPr>
          <a:lstStyle/>
          <a:p>
            <a:r>
              <a:rPr lang="hu-HU" b="1" dirty="0" err="1">
                <a:solidFill>
                  <a:schemeClr val="accent4"/>
                </a:solidFill>
              </a:rPr>
              <a:t>self-directed</a:t>
            </a:r>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endParaRPr lang="hu-HU" b="1" dirty="0">
              <a:solidFill>
                <a:schemeClr val="accent4"/>
              </a:solidFill>
            </a:endParaRPr>
          </a:p>
          <a:p>
            <a:r>
              <a:rPr lang="hu-HU" b="1" dirty="0" err="1">
                <a:solidFill>
                  <a:schemeClr val="accent4"/>
                </a:solidFill>
              </a:rPr>
              <a:t>other-directed</a:t>
            </a:r>
            <a:endParaRPr lang="hu-HU" b="1" dirty="0">
              <a:solidFill>
                <a:schemeClr val="accent4"/>
              </a:solidFill>
            </a:endParaRPr>
          </a:p>
          <a:p>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r>
              <a:rPr lang="hu-HU" b="1" dirty="0" err="1">
                <a:solidFill>
                  <a:schemeClr val="accent4"/>
                </a:solidFill>
              </a:rPr>
              <a:t>self</a:t>
            </a:r>
            <a:r>
              <a:rPr lang="hu-HU" b="1" dirty="0">
                <a:solidFill>
                  <a:schemeClr val="accent4"/>
                </a:solidFill>
              </a:rPr>
              <a:t>-</a:t>
            </a:r>
            <a:r>
              <a:rPr lang="hu-HU" b="1" dirty="0" err="1">
                <a:solidFill>
                  <a:schemeClr val="accent4"/>
                </a:solidFill>
              </a:rPr>
              <a:t>directed</a:t>
            </a:r>
            <a:r>
              <a:rPr lang="hu-HU" b="1" dirty="0">
                <a:solidFill>
                  <a:schemeClr val="accent4"/>
                </a:solidFill>
              </a:rPr>
              <a:t>-x</a:t>
            </a:r>
            <a:endParaRPr lang="en-US" b="1" dirty="0">
              <a:solidFill>
                <a:schemeClr val="accent4"/>
              </a:solidFill>
            </a:endParaRPr>
          </a:p>
          <a:p>
            <a:endParaRPr lang="en-US" b="1" dirty="0">
              <a:solidFill>
                <a:schemeClr val="accent4"/>
              </a:solidFill>
            </a:endParaRPr>
          </a:p>
          <a:p>
            <a:endParaRPr lang="en-US" b="1" dirty="0">
              <a:solidFill>
                <a:schemeClr val="accent4"/>
              </a:solidFill>
            </a:endParaRPr>
          </a:p>
          <a:p>
            <a:r>
              <a:rPr lang="en-US" b="1" dirty="0">
                <a:solidFill>
                  <a:schemeClr val="accent4"/>
                </a:solidFill>
              </a:rPr>
              <a:t>other-directed-x</a:t>
            </a:r>
            <a:endParaRPr lang="hu-HU" b="1" dirty="0">
              <a:solidFill>
                <a:schemeClr val="accent4"/>
              </a:solidFill>
            </a:endParaRPr>
          </a:p>
        </p:txBody>
      </p:sp>
      <p:sp>
        <p:nvSpPr>
          <p:cNvPr id="4" name="Slide Number Placeholder 3">
            <a:extLst>
              <a:ext uri="{FF2B5EF4-FFF2-40B4-BE49-F238E27FC236}">
                <a16:creationId xmlns:a16="http://schemas.microsoft.com/office/drawing/2014/main" id="{1E7185BB-98F7-5038-8F45-4DBFE9572EC7}"/>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51</a:t>
            </a:fld>
            <a:endParaRPr lang="en-US" dirty="0"/>
          </a:p>
        </p:txBody>
      </p:sp>
    </p:spTree>
    <p:extLst>
      <p:ext uri="{BB962C8B-B14F-4D97-AF65-F5344CB8AC3E}">
        <p14:creationId xmlns:p14="http://schemas.microsoft.com/office/powerpoint/2010/main" val="26740868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292B541-694F-1F0F-C6B4-12F78338DB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4D5DD2-33DA-4850-B1B1-A2DC25E4E9A8}"/>
              </a:ext>
            </a:extLst>
          </p:cNvPr>
          <p:cNvSpPr>
            <a:spLocks noGrp="1"/>
          </p:cNvSpPr>
          <p:nvPr>
            <p:ph type="title"/>
          </p:nvPr>
        </p:nvSpPr>
        <p:spPr>
          <a:xfrm>
            <a:off x="1261872" y="365760"/>
            <a:ext cx="9692640" cy="658707"/>
          </a:xfrm>
        </p:spPr>
        <p:txBody>
          <a:bodyPr>
            <a:normAutofit fontScale="90000"/>
          </a:bodyPr>
          <a:lstStyle/>
          <a:p>
            <a:r>
              <a:rPr lang="en-US" dirty="0"/>
              <a:t>Two experiments: 2B - gender</a:t>
            </a:r>
            <a:endParaRPr lang="hu-HU" dirty="0"/>
          </a:p>
        </p:txBody>
      </p:sp>
      <p:sp>
        <p:nvSpPr>
          <p:cNvPr id="3" name="Content Placeholder 2">
            <a:extLst>
              <a:ext uri="{FF2B5EF4-FFF2-40B4-BE49-F238E27FC236}">
                <a16:creationId xmlns:a16="http://schemas.microsoft.com/office/drawing/2014/main" id="{37CE1976-2287-E37A-F088-2C00EC3E2F3F}"/>
              </a:ext>
            </a:extLst>
          </p:cNvPr>
          <p:cNvSpPr>
            <a:spLocks noGrp="1"/>
          </p:cNvSpPr>
          <p:nvPr>
            <p:ph idx="4294967295"/>
          </p:nvPr>
        </p:nvSpPr>
        <p:spPr>
          <a:xfrm>
            <a:off x="1104293" y="2286000"/>
            <a:ext cx="8946541" cy="4238154"/>
          </a:xfrm>
        </p:spPr>
        <p:txBody>
          <a:bodyPr>
            <a:normAutofit fontScale="77500" lnSpcReduction="20000"/>
          </a:bodyPr>
          <a:lstStyle/>
          <a:p>
            <a:pPr marL="457200" indent="-457200"/>
            <a:endParaRPr lang="en-US" dirty="0"/>
          </a:p>
          <a:p>
            <a:pPr marL="457200" indent="-457200"/>
            <a:endParaRPr lang="en-US" dirty="0"/>
          </a:p>
          <a:p>
            <a:pPr marL="457200" indent="-457200"/>
            <a:endParaRPr lang="en-US" dirty="0"/>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457200" indent="-457200">
              <a:buFont typeface="+mj-lt"/>
              <a:buAutoNum type="arabicPeriod" startAt="2"/>
            </a:pPr>
            <a:r>
              <a:rPr lang="en-US" dirty="0">
                <a:solidFill>
                  <a:schemeClr val="tx1">
                    <a:lumMod val="75000"/>
                  </a:schemeClr>
                </a:solidFill>
              </a:rPr>
              <a:t>Verbal directionality and social bias</a:t>
            </a:r>
          </a:p>
          <a:p>
            <a:pPr marL="685800" lvl="1"/>
            <a:r>
              <a:rPr lang="en-US" dirty="0">
                <a:solidFill>
                  <a:schemeClr val="tx1">
                    <a:lumMod val="75000"/>
                  </a:schemeClr>
                </a:solidFill>
              </a:rPr>
              <a:t>Testing if gender/status/societal bias can change verb directionality </a:t>
            </a:r>
          </a:p>
          <a:p>
            <a:pPr marL="685800" lvl="1"/>
            <a:r>
              <a:rPr lang="en-US" dirty="0">
                <a:solidFill>
                  <a:schemeClr val="tx1">
                    <a:lumMod val="75000"/>
                  </a:schemeClr>
                </a:solidFill>
              </a:rPr>
              <a:t>2 halves, 3 conditions, 18 items</a:t>
            </a:r>
          </a:p>
          <a:p>
            <a:pPr marL="400050" lvl="1" indent="0">
              <a:buNone/>
            </a:pPr>
            <a:endParaRPr lang="en-US" dirty="0"/>
          </a:p>
          <a:p>
            <a:pPr marL="400050" lvl="1" indent="0">
              <a:buNone/>
            </a:pPr>
            <a:endParaRPr lang="en-US" dirty="0"/>
          </a:p>
        </p:txBody>
      </p:sp>
      <p:sp>
        <p:nvSpPr>
          <p:cNvPr id="10" name="TextBox 9">
            <a:extLst>
              <a:ext uri="{FF2B5EF4-FFF2-40B4-BE49-F238E27FC236}">
                <a16:creationId xmlns:a16="http://schemas.microsoft.com/office/drawing/2014/main" id="{FEC201E8-C1F6-ACD2-8042-FDC8C7E67428}"/>
              </a:ext>
            </a:extLst>
          </p:cNvPr>
          <p:cNvSpPr txBox="1"/>
          <p:nvPr/>
        </p:nvSpPr>
        <p:spPr>
          <a:xfrm>
            <a:off x="1508760" y="1853248"/>
            <a:ext cx="10267220" cy="3416320"/>
          </a:xfrm>
          <a:prstGeom prst="rect">
            <a:avLst/>
          </a:prstGeom>
          <a:noFill/>
        </p:spPr>
        <p:txBody>
          <a:bodyPr wrap="square">
            <a:spAutoFit/>
          </a:bodyPr>
          <a:lstStyle/>
          <a:p>
            <a:r>
              <a:rPr lang="en-US" b="1" dirty="0"/>
              <a:t>A </a:t>
            </a:r>
            <a:r>
              <a:rPr lang="en-US" b="1" dirty="0" err="1"/>
              <a:t>pilóta</a:t>
            </a:r>
            <a:r>
              <a:rPr lang="en-US" b="1" dirty="0"/>
              <a:t>		</a:t>
            </a:r>
            <a:r>
              <a:rPr lang="en-US" b="1" dirty="0" err="1"/>
              <a:t>úgy</a:t>
            </a:r>
            <a:r>
              <a:rPr lang="en-US" b="1" dirty="0"/>
              <a:t> </a:t>
            </a:r>
            <a:r>
              <a:rPr lang="en-US" b="1" dirty="0" err="1"/>
              <a:t>vélte</a:t>
            </a:r>
            <a:r>
              <a:rPr lang="en-US" b="1" dirty="0"/>
              <a:t>	</a:t>
            </a:r>
            <a:r>
              <a:rPr lang="en-US" b="1" dirty="0" err="1"/>
              <a:t>hogy</a:t>
            </a:r>
            <a:r>
              <a:rPr lang="en-US" b="1" dirty="0"/>
              <a:t>	a </a:t>
            </a:r>
            <a:r>
              <a:rPr lang="en-US" b="1" dirty="0" err="1"/>
              <a:t>professzor</a:t>
            </a:r>
            <a:r>
              <a:rPr lang="en-US" b="1" dirty="0"/>
              <a:t>		</a:t>
            </a:r>
            <a:r>
              <a:rPr lang="en-US" b="1" dirty="0" err="1"/>
              <a:t>dicsekedett</a:t>
            </a:r>
            <a:r>
              <a:rPr lang="en-US" b="1" dirty="0"/>
              <a:t>		a </a:t>
            </a:r>
            <a:r>
              <a:rPr lang="en-US" b="1" dirty="0" err="1"/>
              <a:t>kapcsolataival</a:t>
            </a:r>
            <a:r>
              <a:rPr lang="en-US" b="1" dirty="0"/>
              <a:t>.</a:t>
            </a:r>
          </a:p>
          <a:p>
            <a:r>
              <a:rPr lang="en-US" dirty="0"/>
              <a:t>the pilot		</a:t>
            </a:r>
            <a:r>
              <a:rPr lang="en-US" dirty="0" err="1"/>
              <a:t>beleived</a:t>
            </a:r>
            <a:r>
              <a:rPr lang="en-US" dirty="0"/>
              <a:t>	that		the professor	boasted		the connections-3SG-INS</a:t>
            </a:r>
          </a:p>
          <a:p>
            <a:r>
              <a:rPr lang="en-US" i="1" dirty="0"/>
              <a:t>The pilot believed that the professor had boasted about his/her connections.	</a:t>
            </a:r>
            <a:r>
              <a:rPr lang="en-US" dirty="0"/>
              <a:t>					</a:t>
            </a:r>
          </a:p>
          <a:p>
            <a:r>
              <a:rPr lang="en-US" b="1" dirty="0"/>
              <a:t>A </a:t>
            </a:r>
            <a:r>
              <a:rPr lang="en-US" b="1" dirty="0" err="1"/>
              <a:t>modell</a:t>
            </a:r>
            <a:r>
              <a:rPr lang="en-US" b="1" dirty="0"/>
              <a:t>	</a:t>
            </a:r>
            <a:r>
              <a:rPr lang="en-US" b="1" dirty="0" err="1"/>
              <a:t>úgy</a:t>
            </a:r>
            <a:r>
              <a:rPr lang="en-US" b="1" dirty="0"/>
              <a:t> </a:t>
            </a:r>
            <a:r>
              <a:rPr lang="en-US" b="1" dirty="0" err="1"/>
              <a:t>vélte</a:t>
            </a:r>
            <a:r>
              <a:rPr lang="en-US" b="1" dirty="0"/>
              <a:t>	</a:t>
            </a:r>
            <a:r>
              <a:rPr lang="en-US" b="1" dirty="0" err="1"/>
              <a:t>hogy</a:t>
            </a:r>
            <a:r>
              <a:rPr lang="en-US" b="1" dirty="0"/>
              <a:t>	a </a:t>
            </a:r>
            <a:r>
              <a:rPr lang="en-US" b="1" dirty="0" err="1"/>
              <a:t>professzor</a:t>
            </a:r>
            <a:r>
              <a:rPr lang="en-US" b="1" dirty="0"/>
              <a:t>		</a:t>
            </a:r>
            <a:r>
              <a:rPr lang="en-US" b="1" dirty="0" err="1"/>
              <a:t>dicsekedett</a:t>
            </a:r>
            <a:r>
              <a:rPr lang="en-US" b="1" dirty="0"/>
              <a:t>		a </a:t>
            </a:r>
            <a:r>
              <a:rPr lang="en-US" b="1" dirty="0" err="1"/>
              <a:t>kapcsolataival</a:t>
            </a:r>
            <a:r>
              <a:rPr lang="en-US" b="1" dirty="0"/>
              <a:t>.</a:t>
            </a:r>
          </a:p>
          <a:p>
            <a:r>
              <a:rPr lang="en-US" dirty="0"/>
              <a:t>the model	</a:t>
            </a:r>
            <a:r>
              <a:rPr lang="en-US" dirty="0" err="1"/>
              <a:t>beleived</a:t>
            </a:r>
            <a:r>
              <a:rPr lang="en-US" dirty="0"/>
              <a:t>	that		the professor	boasted		the connections-3SG-INS</a:t>
            </a:r>
          </a:p>
          <a:p>
            <a:r>
              <a:rPr lang="en-US" i="1" dirty="0"/>
              <a:t>The model believed that the professor had boasted about his/her connections.</a:t>
            </a:r>
            <a:r>
              <a:rPr lang="en-US" dirty="0"/>
              <a:t>						</a:t>
            </a:r>
          </a:p>
          <a:p>
            <a:r>
              <a:rPr lang="en-US" b="1" dirty="0"/>
              <a:t>A </a:t>
            </a:r>
            <a:r>
              <a:rPr lang="en-US" b="1" dirty="0" err="1"/>
              <a:t>pilóta</a:t>
            </a:r>
            <a:r>
              <a:rPr lang="en-US" b="1" dirty="0"/>
              <a:t>		</a:t>
            </a:r>
            <a:r>
              <a:rPr lang="en-US" b="1" dirty="0" err="1"/>
              <a:t>úgy</a:t>
            </a:r>
            <a:r>
              <a:rPr lang="en-US" b="1" dirty="0"/>
              <a:t> </a:t>
            </a:r>
            <a:r>
              <a:rPr lang="en-US" b="1" dirty="0" err="1"/>
              <a:t>vélte</a:t>
            </a:r>
            <a:r>
              <a:rPr lang="en-US" b="1" dirty="0"/>
              <a:t>	</a:t>
            </a:r>
            <a:r>
              <a:rPr lang="en-US" b="1" dirty="0" err="1"/>
              <a:t>hogy</a:t>
            </a:r>
            <a:r>
              <a:rPr lang="en-US" b="1" dirty="0"/>
              <a:t>	a </a:t>
            </a:r>
            <a:r>
              <a:rPr lang="en-US" b="1" dirty="0" err="1"/>
              <a:t>modell</a:t>
            </a:r>
            <a:r>
              <a:rPr lang="en-US" b="1" dirty="0"/>
              <a:t>	</a:t>
            </a:r>
            <a:r>
              <a:rPr lang="en-US" b="1" dirty="0" err="1"/>
              <a:t>dicsekedett</a:t>
            </a:r>
            <a:r>
              <a:rPr lang="en-US" b="1" dirty="0"/>
              <a:t>		a </a:t>
            </a:r>
            <a:r>
              <a:rPr lang="en-US" b="1" dirty="0" err="1"/>
              <a:t>kapcsolataival</a:t>
            </a:r>
            <a:r>
              <a:rPr lang="en-US" b="1" dirty="0"/>
              <a:t>.</a:t>
            </a:r>
          </a:p>
          <a:p>
            <a:r>
              <a:rPr lang="en-US" dirty="0"/>
              <a:t>the pilot		</a:t>
            </a:r>
            <a:r>
              <a:rPr lang="en-US" dirty="0" err="1"/>
              <a:t>beleived</a:t>
            </a:r>
            <a:r>
              <a:rPr lang="en-US" dirty="0"/>
              <a:t>	that		the model	boasted		the connections-3SG-INS</a:t>
            </a:r>
          </a:p>
          <a:p>
            <a:r>
              <a:rPr lang="en-US" i="1" dirty="0"/>
              <a:t>The pilot believed that the model had boasted about his/her connections.	</a:t>
            </a:r>
            <a:r>
              <a:rPr lang="en-US" dirty="0"/>
              <a:t>					</a:t>
            </a:r>
          </a:p>
        </p:txBody>
      </p:sp>
      <p:sp>
        <p:nvSpPr>
          <p:cNvPr id="4" name="Slide Number Placeholder 3">
            <a:extLst>
              <a:ext uri="{FF2B5EF4-FFF2-40B4-BE49-F238E27FC236}">
                <a16:creationId xmlns:a16="http://schemas.microsoft.com/office/drawing/2014/main" id="{1AAE7031-8240-0604-D3E5-0074B6824AF6}"/>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52</a:t>
            </a:fld>
            <a:endParaRPr lang="en-US" dirty="0"/>
          </a:p>
        </p:txBody>
      </p:sp>
    </p:spTree>
    <p:extLst>
      <p:ext uri="{BB962C8B-B14F-4D97-AF65-F5344CB8AC3E}">
        <p14:creationId xmlns:p14="http://schemas.microsoft.com/office/powerpoint/2010/main" val="275574143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E863721-0F0E-C26F-C518-FA38271C98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67B822-64FC-FD7F-7F53-C8CDD5969315}"/>
              </a:ext>
            </a:extLst>
          </p:cNvPr>
          <p:cNvSpPr>
            <a:spLocks noGrp="1"/>
          </p:cNvSpPr>
          <p:nvPr>
            <p:ph type="title"/>
          </p:nvPr>
        </p:nvSpPr>
        <p:spPr>
          <a:xfrm>
            <a:off x="1261872" y="365760"/>
            <a:ext cx="9692640" cy="658707"/>
          </a:xfrm>
        </p:spPr>
        <p:txBody>
          <a:bodyPr>
            <a:normAutofit fontScale="90000"/>
          </a:bodyPr>
          <a:lstStyle/>
          <a:p>
            <a:r>
              <a:rPr lang="en-US" dirty="0"/>
              <a:t>Two experiments: 2B - gender</a:t>
            </a:r>
            <a:endParaRPr lang="hu-HU" dirty="0"/>
          </a:p>
        </p:txBody>
      </p:sp>
      <p:sp>
        <p:nvSpPr>
          <p:cNvPr id="3" name="Content Placeholder 2">
            <a:extLst>
              <a:ext uri="{FF2B5EF4-FFF2-40B4-BE49-F238E27FC236}">
                <a16:creationId xmlns:a16="http://schemas.microsoft.com/office/drawing/2014/main" id="{D92A3A91-220A-93D3-E15B-2F42EF184E48}"/>
              </a:ext>
            </a:extLst>
          </p:cNvPr>
          <p:cNvSpPr>
            <a:spLocks noGrp="1"/>
          </p:cNvSpPr>
          <p:nvPr>
            <p:ph idx="4294967295"/>
          </p:nvPr>
        </p:nvSpPr>
        <p:spPr>
          <a:xfrm>
            <a:off x="1104293" y="2286000"/>
            <a:ext cx="8946541" cy="4238154"/>
          </a:xfrm>
        </p:spPr>
        <p:txBody>
          <a:bodyPr>
            <a:normAutofit fontScale="77500" lnSpcReduction="20000"/>
          </a:bodyPr>
          <a:lstStyle/>
          <a:p>
            <a:pPr marL="457200" indent="-457200"/>
            <a:endParaRPr lang="en-US" dirty="0"/>
          </a:p>
          <a:p>
            <a:pPr marL="457200" indent="-457200"/>
            <a:endParaRPr lang="en-US" dirty="0"/>
          </a:p>
          <a:p>
            <a:pPr marL="457200" indent="-457200"/>
            <a:endParaRPr lang="en-US" dirty="0"/>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457200" indent="-457200">
              <a:buFont typeface="+mj-lt"/>
              <a:buAutoNum type="arabicPeriod" startAt="2"/>
            </a:pPr>
            <a:r>
              <a:rPr lang="en-US" dirty="0">
                <a:solidFill>
                  <a:schemeClr val="tx1">
                    <a:lumMod val="75000"/>
                  </a:schemeClr>
                </a:solidFill>
              </a:rPr>
              <a:t>Verbal directionality and social bias</a:t>
            </a:r>
          </a:p>
          <a:p>
            <a:pPr marL="685800" lvl="1"/>
            <a:r>
              <a:rPr lang="en-US" dirty="0">
                <a:solidFill>
                  <a:schemeClr val="tx1">
                    <a:lumMod val="75000"/>
                  </a:schemeClr>
                </a:solidFill>
              </a:rPr>
              <a:t>Testing if gender/status/societal bias can change verb directionality </a:t>
            </a:r>
          </a:p>
          <a:p>
            <a:pPr marL="685800" lvl="1"/>
            <a:r>
              <a:rPr lang="en-US" dirty="0">
                <a:solidFill>
                  <a:schemeClr val="tx1">
                    <a:lumMod val="75000"/>
                  </a:schemeClr>
                </a:solidFill>
              </a:rPr>
              <a:t>2 halves, 3 conditions, 18 items</a:t>
            </a:r>
          </a:p>
          <a:p>
            <a:pPr marL="400050" lvl="1" indent="0">
              <a:buNone/>
            </a:pPr>
            <a:endParaRPr lang="en-US" dirty="0"/>
          </a:p>
          <a:p>
            <a:pPr marL="400050" lvl="1" indent="0">
              <a:buNone/>
            </a:pPr>
            <a:endParaRPr lang="en-US" dirty="0"/>
          </a:p>
        </p:txBody>
      </p:sp>
      <p:sp>
        <p:nvSpPr>
          <p:cNvPr id="10" name="TextBox 9">
            <a:extLst>
              <a:ext uri="{FF2B5EF4-FFF2-40B4-BE49-F238E27FC236}">
                <a16:creationId xmlns:a16="http://schemas.microsoft.com/office/drawing/2014/main" id="{B9658AA8-D26B-922B-1EFB-BD2ECE5C235E}"/>
              </a:ext>
            </a:extLst>
          </p:cNvPr>
          <p:cNvSpPr txBox="1"/>
          <p:nvPr/>
        </p:nvSpPr>
        <p:spPr>
          <a:xfrm>
            <a:off x="1508760" y="1853248"/>
            <a:ext cx="10267220" cy="3416320"/>
          </a:xfrm>
          <a:prstGeom prst="rect">
            <a:avLst/>
          </a:prstGeom>
          <a:noFill/>
        </p:spPr>
        <p:txBody>
          <a:bodyPr wrap="square">
            <a:spAutoFit/>
          </a:bodyPr>
          <a:lstStyle/>
          <a:p>
            <a:r>
              <a:rPr lang="en-US" b="1" dirty="0"/>
              <a:t>A </a:t>
            </a:r>
            <a:r>
              <a:rPr lang="en-US" b="1" dirty="0" err="1"/>
              <a:t>pilóta</a:t>
            </a:r>
            <a:r>
              <a:rPr lang="en-US" b="1" dirty="0"/>
              <a:t>		</a:t>
            </a:r>
            <a:r>
              <a:rPr lang="en-US" b="1" dirty="0" err="1"/>
              <a:t>úgy</a:t>
            </a:r>
            <a:r>
              <a:rPr lang="en-US" b="1" dirty="0"/>
              <a:t> </a:t>
            </a:r>
            <a:r>
              <a:rPr lang="en-US" b="1" dirty="0" err="1"/>
              <a:t>vélte</a:t>
            </a:r>
            <a:r>
              <a:rPr lang="en-US" b="1" dirty="0"/>
              <a:t>	</a:t>
            </a:r>
            <a:r>
              <a:rPr lang="en-US" b="1" dirty="0" err="1"/>
              <a:t>hogy</a:t>
            </a:r>
            <a:r>
              <a:rPr lang="en-US" b="1" dirty="0"/>
              <a:t>	a </a:t>
            </a:r>
            <a:r>
              <a:rPr lang="en-US" b="1" dirty="0" err="1"/>
              <a:t>professzor</a:t>
            </a:r>
            <a:r>
              <a:rPr lang="en-US" b="1" dirty="0"/>
              <a:t>		</a:t>
            </a:r>
            <a:r>
              <a:rPr lang="en-US" b="1" dirty="0" err="1"/>
              <a:t>dicsekedett</a:t>
            </a:r>
            <a:r>
              <a:rPr lang="en-US" b="1" dirty="0"/>
              <a:t>		a </a:t>
            </a:r>
            <a:r>
              <a:rPr lang="en-US" b="1" dirty="0" err="1"/>
              <a:t>kapcsolataival</a:t>
            </a:r>
            <a:r>
              <a:rPr lang="en-US" b="1" dirty="0"/>
              <a:t>.</a:t>
            </a:r>
          </a:p>
          <a:p>
            <a:r>
              <a:rPr lang="en-US" dirty="0"/>
              <a:t>the pilot		</a:t>
            </a:r>
            <a:r>
              <a:rPr lang="en-US" dirty="0" err="1"/>
              <a:t>beleived</a:t>
            </a:r>
            <a:r>
              <a:rPr lang="en-US" dirty="0"/>
              <a:t>	that		the professor	boasted		the connections-3SG-INS</a:t>
            </a:r>
          </a:p>
          <a:p>
            <a:r>
              <a:rPr lang="en-US" i="1" dirty="0"/>
              <a:t>The pilot believed that the professor had boasted about his/her connections.	</a:t>
            </a:r>
            <a:r>
              <a:rPr lang="en-US" dirty="0"/>
              <a:t>					</a:t>
            </a:r>
          </a:p>
          <a:p>
            <a:r>
              <a:rPr lang="en-US" b="1" dirty="0"/>
              <a:t>A </a:t>
            </a:r>
            <a:r>
              <a:rPr lang="en-US" b="1" dirty="0" err="1"/>
              <a:t>modell</a:t>
            </a:r>
            <a:r>
              <a:rPr lang="en-US" b="1" dirty="0"/>
              <a:t>	</a:t>
            </a:r>
            <a:r>
              <a:rPr lang="en-US" b="1" dirty="0" err="1"/>
              <a:t>úgy</a:t>
            </a:r>
            <a:r>
              <a:rPr lang="en-US" b="1" dirty="0"/>
              <a:t> </a:t>
            </a:r>
            <a:r>
              <a:rPr lang="en-US" b="1" dirty="0" err="1"/>
              <a:t>vélte</a:t>
            </a:r>
            <a:r>
              <a:rPr lang="en-US" b="1" dirty="0"/>
              <a:t>	</a:t>
            </a:r>
            <a:r>
              <a:rPr lang="en-US" b="1" dirty="0" err="1"/>
              <a:t>hogy</a:t>
            </a:r>
            <a:r>
              <a:rPr lang="en-US" b="1" dirty="0"/>
              <a:t>	a </a:t>
            </a:r>
            <a:r>
              <a:rPr lang="en-US" b="1" dirty="0" err="1"/>
              <a:t>professzor</a:t>
            </a:r>
            <a:r>
              <a:rPr lang="en-US" b="1" dirty="0"/>
              <a:t>		</a:t>
            </a:r>
            <a:r>
              <a:rPr lang="en-US" b="1" dirty="0" err="1"/>
              <a:t>dicsekedett</a:t>
            </a:r>
            <a:r>
              <a:rPr lang="en-US" b="1" dirty="0"/>
              <a:t>		a </a:t>
            </a:r>
            <a:r>
              <a:rPr lang="en-US" b="1" dirty="0" err="1"/>
              <a:t>kapcsolataival</a:t>
            </a:r>
            <a:r>
              <a:rPr lang="en-US" b="1" dirty="0"/>
              <a:t>.</a:t>
            </a:r>
          </a:p>
          <a:p>
            <a:r>
              <a:rPr lang="en-US" dirty="0"/>
              <a:t>the model	</a:t>
            </a:r>
            <a:r>
              <a:rPr lang="en-US" dirty="0" err="1"/>
              <a:t>beleived</a:t>
            </a:r>
            <a:r>
              <a:rPr lang="en-US" dirty="0"/>
              <a:t>	that		the professor	boasted		the connections-3SG-INS</a:t>
            </a:r>
          </a:p>
          <a:p>
            <a:r>
              <a:rPr lang="en-US" i="1" dirty="0"/>
              <a:t>The model believed that the professor had boasted about his/her connections.</a:t>
            </a:r>
            <a:r>
              <a:rPr lang="en-US" dirty="0"/>
              <a:t>						</a:t>
            </a:r>
          </a:p>
          <a:p>
            <a:r>
              <a:rPr lang="en-US" b="1" dirty="0"/>
              <a:t>A </a:t>
            </a:r>
            <a:r>
              <a:rPr lang="en-US" b="1" dirty="0" err="1"/>
              <a:t>pilóta</a:t>
            </a:r>
            <a:r>
              <a:rPr lang="en-US" b="1" dirty="0"/>
              <a:t>		</a:t>
            </a:r>
            <a:r>
              <a:rPr lang="en-US" b="1" dirty="0" err="1"/>
              <a:t>úgy</a:t>
            </a:r>
            <a:r>
              <a:rPr lang="en-US" b="1" dirty="0"/>
              <a:t> </a:t>
            </a:r>
            <a:r>
              <a:rPr lang="en-US" b="1" dirty="0" err="1"/>
              <a:t>vélte</a:t>
            </a:r>
            <a:r>
              <a:rPr lang="en-US" b="1" dirty="0"/>
              <a:t>	</a:t>
            </a:r>
            <a:r>
              <a:rPr lang="en-US" b="1" dirty="0" err="1"/>
              <a:t>hogy</a:t>
            </a:r>
            <a:r>
              <a:rPr lang="en-US" b="1" dirty="0"/>
              <a:t>	a </a:t>
            </a:r>
            <a:r>
              <a:rPr lang="en-US" b="1" dirty="0" err="1"/>
              <a:t>modell</a:t>
            </a:r>
            <a:r>
              <a:rPr lang="en-US" b="1" dirty="0"/>
              <a:t>	</a:t>
            </a:r>
            <a:r>
              <a:rPr lang="en-US" b="1" dirty="0" err="1"/>
              <a:t>dicsekedett</a:t>
            </a:r>
            <a:r>
              <a:rPr lang="en-US" b="1" dirty="0"/>
              <a:t>		a </a:t>
            </a:r>
            <a:r>
              <a:rPr lang="en-US" b="1" dirty="0" err="1"/>
              <a:t>kapcsolataival</a:t>
            </a:r>
            <a:r>
              <a:rPr lang="en-US" b="1" dirty="0"/>
              <a:t>.</a:t>
            </a:r>
          </a:p>
          <a:p>
            <a:r>
              <a:rPr lang="en-US" dirty="0"/>
              <a:t>the pilot		</a:t>
            </a:r>
            <a:r>
              <a:rPr lang="en-US" dirty="0" err="1"/>
              <a:t>beleived</a:t>
            </a:r>
            <a:r>
              <a:rPr lang="en-US" dirty="0"/>
              <a:t>	that		the model	boasted		the connections-3SG-INS</a:t>
            </a:r>
          </a:p>
          <a:p>
            <a:r>
              <a:rPr lang="en-US" i="1" dirty="0"/>
              <a:t>The pilot believed that the model had boasted about his/her connections.	</a:t>
            </a:r>
            <a:r>
              <a:rPr lang="en-US" dirty="0"/>
              <a:t>					</a:t>
            </a:r>
          </a:p>
        </p:txBody>
      </p:sp>
      <p:sp>
        <p:nvSpPr>
          <p:cNvPr id="6" name="TextBox 5">
            <a:extLst>
              <a:ext uri="{FF2B5EF4-FFF2-40B4-BE49-F238E27FC236}">
                <a16:creationId xmlns:a16="http://schemas.microsoft.com/office/drawing/2014/main" id="{89A4062C-BFC3-65E9-621F-92FD6D93B822}"/>
              </a:ext>
            </a:extLst>
          </p:cNvPr>
          <p:cNvSpPr txBox="1"/>
          <p:nvPr/>
        </p:nvSpPr>
        <p:spPr>
          <a:xfrm>
            <a:off x="1524" y="1853248"/>
            <a:ext cx="6094476" cy="2585323"/>
          </a:xfrm>
          <a:prstGeom prst="rect">
            <a:avLst/>
          </a:prstGeom>
          <a:noFill/>
        </p:spPr>
        <p:txBody>
          <a:bodyPr wrap="square">
            <a:spAutoFit/>
          </a:bodyPr>
          <a:lstStyle/>
          <a:p>
            <a:r>
              <a:rPr lang="hu-HU" b="1" dirty="0" err="1">
                <a:solidFill>
                  <a:schemeClr val="accent4"/>
                </a:solidFill>
              </a:rPr>
              <a:t>male-male</a:t>
            </a:r>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endParaRPr lang="hu-HU" b="1" dirty="0">
              <a:solidFill>
                <a:schemeClr val="accent4"/>
              </a:solidFill>
            </a:endParaRPr>
          </a:p>
          <a:p>
            <a:r>
              <a:rPr lang="hu-HU" b="1" dirty="0" err="1">
                <a:solidFill>
                  <a:schemeClr val="accent4"/>
                </a:solidFill>
              </a:rPr>
              <a:t>female-male</a:t>
            </a:r>
            <a:endParaRPr lang="hu-HU" b="1" dirty="0">
              <a:solidFill>
                <a:schemeClr val="accent4"/>
              </a:solidFill>
            </a:endParaRPr>
          </a:p>
          <a:p>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r>
              <a:rPr lang="hu-HU" b="1" dirty="0" err="1">
                <a:solidFill>
                  <a:schemeClr val="accent4"/>
                </a:solidFill>
              </a:rPr>
              <a:t>male-female</a:t>
            </a:r>
            <a:endParaRPr lang="hu-HU" b="1" dirty="0">
              <a:solidFill>
                <a:schemeClr val="accent4"/>
              </a:solidFill>
            </a:endParaRPr>
          </a:p>
        </p:txBody>
      </p:sp>
      <p:sp>
        <p:nvSpPr>
          <p:cNvPr id="4" name="Slide Number Placeholder 3">
            <a:extLst>
              <a:ext uri="{FF2B5EF4-FFF2-40B4-BE49-F238E27FC236}">
                <a16:creationId xmlns:a16="http://schemas.microsoft.com/office/drawing/2014/main" id="{AA6716FE-F565-34C1-DEDF-76DA2CD63E29}"/>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53</a:t>
            </a:fld>
            <a:endParaRPr lang="en-US" dirty="0"/>
          </a:p>
        </p:txBody>
      </p:sp>
    </p:spTree>
    <p:extLst>
      <p:ext uri="{BB962C8B-B14F-4D97-AF65-F5344CB8AC3E}">
        <p14:creationId xmlns:p14="http://schemas.microsoft.com/office/powerpoint/2010/main" val="173801082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A3F4FDF-F8A9-F280-6E91-E3C383A0FC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766D45-2F57-1FF5-7484-452B4FDC67C0}"/>
              </a:ext>
            </a:extLst>
          </p:cNvPr>
          <p:cNvSpPr>
            <a:spLocks noGrp="1"/>
          </p:cNvSpPr>
          <p:nvPr>
            <p:ph type="title"/>
          </p:nvPr>
        </p:nvSpPr>
        <p:spPr>
          <a:xfrm>
            <a:off x="1261872" y="365760"/>
            <a:ext cx="9692640" cy="658707"/>
          </a:xfrm>
        </p:spPr>
        <p:txBody>
          <a:bodyPr>
            <a:normAutofit fontScale="90000"/>
          </a:bodyPr>
          <a:lstStyle/>
          <a:p>
            <a:r>
              <a:rPr lang="en-US" dirty="0"/>
              <a:t>Two experiments: 2B - gender</a:t>
            </a:r>
            <a:endParaRPr lang="hu-HU" dirty="0"/>
          </a:p>
        </p:txBody>
      </p:sp>
      <p:sp>
        <p:nvSpPr>
          <p:cNvPr id="3" name="Content Placeholder 2">
            <a:extLst>
              <a:ext uri="{FF2B5EF4-FFF2-40B4-BE49-F238E27FC236}">
                <a16:creationId xmlns:a16="http://schemas.microsoft.com/office/drawing/2014/main" id="{630D1BFE-9879-39EE-0427-68242672865F}"/>
              </a:ext>
            </a:extLst>
          </p:cNvPr>
          <p:cNvSpPr>
            <a:spLocks noGrp="1"/>
          </p:cNvSpPr>
          <p:nvPr>
            <p:ph idx="4294967295"/>
          </p:nvPr>
        </p:nvSpPr>
        <p:spPr>
          <a:xfrm>
            <a:off x="1104293" y="2286000"/>
            <a:ext cx="8946541" cy="4238154"/>
          </a:xfrm>
        </p:spPr>
        <p:txBody>
          <a:bodyPr>
            <a:normAutofit fontScale="77500" lnSpcReduction="20000"/>
          </a:bodyPr>
          <a:lstStyle/>
          <a:p>
            <a:pPr marL="457200" indent="-457200"/>
            <a:endParaRPr lang="en-US" dirty="0"/>
          </a:p>
          <a:p>
            <a:pPr marL="457200" indent="-457200"/>
            <a:endParaRPr lang="en-US" dirty="0"/>
          </a:p>
          <a:p>
            <a:pPr marL="457200" indent="-457200"/>
            <a:endParaRPr lang="en-US" dirty="0"/>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457200" indent="-457200">
              <a:buFont typeface="+mj-lt"/>
              <a:buAutoNum type="arabicPeriod" startAt="2"/>
            </a:pPr>
            <a:r>
              <a:rPr lang="en-US" dirty="0">
                <a:solidFill>
                  <a:schemeClr val="tx1">
                    <a:lumMod val="75000"/>
                  </a:schemeClr>
                </a:solidFill>
              </a:rPr>
              <a:t>Verbal directionality and social bias</a:t>
            </a:r>
          </a:p>
          <a:p>
            <a:pPr marL="685800" lvl="1"/>
            <a:r>
              <a:rPr lang="en-US" dirty="0">
                <a:solidFill>
                  <a:schemeClr val="tx1">
                    <a:lumMod val="75000"/>
                  </a:schemeClr>
                </a:solidFill>
              </a:rPr>
              <a:t>Testing if gender/status/societal bias can change verb directionality </a:t>
            </a:r>
          </a:p>
          <a:p>
            <a:pPr marL="685800" lvl="1"/>
            <a:r>
              <a:rPr lang="en-US" dirty="0">
                <a:solidFill>
                  <a:schemeClr val="tx1">
                    <a:lumMod val="75000"/>
                  </a:schemeClr>
                </a:solidFill>
              </a:rPr>
              <a:t>2 halves, 3 conditions, 18 items</a:t>
            </a:r>
          </a:p>
          <a:p>
            <a:pPr marL="400050" lvl="1" indent="0">
              <a:buNone/>
            </a:pPr>
            <a:endParaRPr lang="en-US" dirty="0"/>
          </a:p>
          <a:p>
            <a:pPr marL="400050" lvl="1" indent="0">
              <a:buNone/>
            </a:pPr>
            <a:endParaRPr lang="en-US" dirty="0"/>
          </a:p>
        </p:txBody>
      </p:sp>
      <p:sp>
        <p:nvSpPr>
          <p:cNvPr id="10" name="TextBox 9">
            <a:extLst>
              <a:ext uri="{FF2B5EF4-FFF2-40B4-BE49-F238E27FC236}">
                <a16:creationId xmlns:a16="http://schemas.microsoft.com/office/drawing/2014/main" id="{564253DA-AB1A-2874-244E-22FB07B6B2EB}"/>
              </a:ext>
            </a:extLst>
          </p:cNvPr>
          <p:cNvSpPr txBox="1"/>
          <p:nvPr/>
        </p:nvSpPr>
        <p:spPr>
          <a:xfrm>
            <a:off x="1508760" y="1853248"/>
            <a:ext cx="10267220" cy="2585323"/>
          </a:xfrm>
          <a:prstGeom prst="rect">
            <a:avLst/>
          </a:prstGeom>
          <a:noFill/>
        </p:spPr>
        <p:txBody>
          <a:bodyPr wrap="square">
            <a:spAutoFit/>
          </a:bodyPr>
          <a:lstStyle/>
          <a:p>
            <a:r>
              <a:rPr lang="en-US" b="1" dirty="0"/>
              <a:t>A </a:t>
            </a:r>
            <a:r>
              <a:rPr lang="en-US" b="1" dirty="0" err="1">
                <a:solidFill>
                  <a:schemeClr val="accent2"/>
                </a:solidFill>
              </a:rPr>
              <a:t>pilóta</a:t>
            </a:r>
            <a:r>
              <a:rPr lang="en-US" b="1" dirty="0"/>
              <a:t>		</a:t>
            </a:r>
            <a:r>
              <a:rPr lang="en-US" b="1" dirty="0" err="1"/>
              <a:t>úgy</a:t>
            </a:r>
            <a:r>
              <a:rPr lang="en-US" b="1" dirty="0"/>
              <a:t> </a:t>
            </a:r>
            <a:r>
              <a:rPr lang="en-US" b="1" dirty="0" err="1"/>
              <a:t>vélte</a:t>
            </a:r>
            <a:r>
              <a:rPr lang="en-US" b="1" dirty="0"/>
              <a:t>	</a:t>
            </a:r>
            <a:r>
              <a:rPr lang="en-US" b="1" dirty="0" err="1"/>
              <a:t>hogy</a:t>
            </a:r>
            <a:r>
              <a:rPr lang="en-US" b="1" dirty="0"/>
              <a:t>	a </a:t>
            </a:r>
            <a:r>
              <a:rPr lang="en-US" b="1" dirty="0" err="1">
                <a:solidFill>
                  <a:schemeClr val="accent2"/>
                </a:solidFill>
              </a:rPr>
              <a:t>professzor</a:t>
            </a:r>
            <a:r>
              <a:rPr lang="en-US" b="1" dirty="0"/>
              <a:t>		</a:t>
            </a:r>
            <a:r>
              <a:rPr lang="en-US" b="1" dirty="0" err="1"/>
              <a:t>dicsekedett</a:t>
            </a:r>
            <a:r>
              <a:rPr lang="en-US" b="1" dirty="0"/>
              <a:t>		a </a:t>
            </a:r>
            <a:r>
              <a:rPr lang="en-US" b="1" dirty="0" err="1"/>
              <a:t>kapcsolataival</a:t>
            </a:r>
            <a:r>
              <a:rPr lang="en-US" b="1" dirty="0"/>
              <a:t>.</a:t>
            </a:r>
          </a:p>
          <a:p>
            <a:r>
              <a:rPr lang="en-US" dirty="0"/>
              <a:t>the pilot		</a:t>
            </a:r>
            <a:r>
              <a:rPr lang="en-US" dirty="0" err="1"/>
              <a:t>beleived</a:t>
            </a:r>
            <a:r>
              <a:rPr lang="en-US" dirty="0"/>
              <a:t>	that		the professor	boasted		the connections-3SG-INS</a:t>
            </a:r>
          </a:p>
          <a:p>
            <a:r>
              <a:rPr lang="en-US" i="1" dirty="0"/>
              <a:t>The pilot believed that the professor had boasted about his/her connections.	</a:t>
            </a:r>
            <a:r>
              <a:rPr lang="en-US" dirty="0"/>
              <a:t>					</a:t>
            </a:r>
          </a:p>
          <a:p>
            <a:r>
              <a:rPr lang="en-US" b="1" dirty="0"/>
              <a:t>A </a:t>
            </a:r>
            <a:r>
              <a:rPr lang="en-US" b="1" dirty="0" err="1">
                <a:solidFill>
                  <a:schemeClr val="accent3"/>
                </a:solidFill>
              </a:rPr>
              <a:t>modell</a:t>
            </a:r>
            <a:r>
              <a:rPr lang="en-US" b="1" dirty="0"/>
              <a:t>	</a:t>
            </a:r>
            <a:r>
              <a:rPr lang="en-US" b="1" dirty="0" err="1"/>
              <a:t>úgy</a:t>
            </a:r>
            <a:r>
              <a:rPr lang="en-US" b="1" dirty="0"/>
              <a:t> </a:t>
            </a:r>
            <a:r>
              <a:rPr lang="en-US" b="1" dirty="0" err="1"/>
              <a:t>vélte</a:t>
            </a:r>
            <a:r>
              <a:rPr lang="en-US" b="1" dirty="0"/>
              <a:t>	</a:t>
            </a:r>
            <a:r>
              <a:rPr lang="en-US" b="1" dirty="0" err="1"/>
              <a:t>hogy</a:t>
            </a:r>
            <a:r>
              <a:rPr lang="en-US" b="1" dirty="0"/>
              <a:t>	a </a:t>
            </a:r>
            <a:r>
              <a:rPr lang="en-US" b="1" dirty="0" err="1">
                <a:solidFill>
                  <a:schemeClr val="accent2"/>
                </a:solidFill>
              </a:rPr>
              <a:t>professzor</a:t>
            </a:r>
            <a:r>
              <a:rPr lang="en-US" b="1" dirty="0"/>
              <a:t>		</a:t>
            </a:r>
            <a:r>
              <a:rPr lang="en-US" b="1" dirty="0" err="1"/>
              <a:t>dicsekedett</a:t>
            </a:r>
            <a:r>
              <a:rPr lang="en-US" b="1" dirty="0"/>
              <a:t>		a </a:t>
            </a:r>
            <a:r>
              <a:rPr lang="en-US" b="1" dirty="0" err="1"/>
              <a:t>kapcsolataival</a:t>
            </a:r>
            <a:r>
              <a:rPr lang="en-US" b="1" dirty="0"/>
              <a:t>.</a:t>
            </a:r>
          </a:p>
          <a:p>
            <a:r>
              <a:rPr lang="en-US" dirty="0"/>
              <a:t>the model	</a:t>
            </a:r>
            <a:r>
              <a:rPr lang="en-US" dirty="0" err="1"/>
              <a:t>beleived</a:t>
            </a:r>
            <a:r>
              <a:rPr lang="en-US" dirty="0"/>
              <a:t>	that		the professor	boasted		the connections-3SG-INS</a:t>
            </a:r>
          </a:p>
          <a:p>
            <a:r>
              <a:rPr lang="en-US" i="1" dirty="0"/>
              <a:t>The model believed that the professor had boasted about his/her connections.</a:t>
            </a:r>
            <a:r>
              <a:rPr lang="en-US" dirty="0"/>
              <a:t>						</a:t>
            </a:r>
          </a:p>
          <a:p>
            <a:r>
              <a:rPr lang="en-US" b="1" dirty="0"/>
              <a:t>A </a:t>
            </a:r>
            <a:r>
              <a:rPr lang="en-US" b="1" dirty="0" err="1">
                <a:solidFill>
                  <a:schemeClr val="accent2"/>
                </a:solidFill>
              </a:rPr>
              <a:t>pilóta</a:t>
            </a:r>
            <a:r>
              <a:rPr lang="en-US" b="1" dirty="0"/>
              <a:t>		</a:t>
            </a:r>
            <a:r>
              <a:rPr lang="en-US" b="1" dirty="0" err="1"/>
              <a:t>úgy</a:t>
            </a:r>
            <a:r>
              <a:rPr lang="en-US" b="1" dirty="0"/>
              <a:t> </a:t>
            </a:r>
            <a:r>
              <a:rPr lang="en-US" b="1" dirty="0" err="1"/>
              <a:t>vélte</a:t>
            </a:r>
            <a:r>
              <a:rPr lang="en-US" b="1" dirty="0"/>
              <a:t>	</a:t>
            </a:r>
            <a:r>
              <a:rPr lang="en-US" b="1" dirty="0" err="1"/>
              <a:t>hogy</a:t>
            </a:r>
            <a:r>
              <a:rPr lang="en-US" b="1" dirty="0"/>
              <a:t>	a </a:t>
            </a:r>
            <a:r>
              <a:rPr lang="en-US" b="1" dirty="0" err="1">
                <a:solidFill>
                  <a:schemeClr val="accent3"/>
                </a:solidFill>
              </a:rPr>
              <a:t>modell</a:t>
            </a:r>
            <a:r>
              <a:rPr lang="en-US" b="1" dirty="0"/>
              <a:t>	</a:t>
            </a:r>
            <a:r>
              <a:rPr lang="en-US" b="1" dirty="0" err="1"/>
              <a:t>dicsekedett</a:t>
            </a:r>
            <a:r>
              <a:rPr lang="en-US" b="1" dirty="0"/>
              <a:t>		a </a:t>
            </a:r>
            <a:r>
              <a:rPr lang="en-US" b="1" dirty="0" err="1"/>
              <a:t>kapcsolataival</a:t>
            </a:r>
            <a:r>
              <a:rPr lang="en-US" b="1" dirty="0"/>
              <a:t>.</a:t>
            </a:r>
          </a:p>
          <a:p>
            <a:r>
              <a:rPr lang="en-US" dirty="0"/>
              <a:t>the pilot		</a:t>
            </a:r>
            <a:r>
              <a:rPr lang="en-US" dirty="0" err="1"/>
              <a:t>beleived</a:t>
            </a:r>
            <a:r>
              <a:rPr lang="en-US" dirty="0"/>
              <a:t>	that		the model	boasted		the connections-3SG-INS</a:t>
            </a:r>
          </a:p>
          <a:p>
            <a:r>
              <a:rPr lang="en-US" i="1" dirty="0"/>
              <a:t>The pilot believed that the model had boasted about his/her connections.	</a:t>
            </a:r>
            <a:r>
              <a:rPr lang="en-US" dirty="0"/>
              <a:t>					</a:t>
            </a:r>
          </a:p>
        </p:txBody>
      </p:sp>
      <p:sp>
        <p:nvSpPr>
          <p:cNvPr id="6" name="TextBox 5">
            <a:extLst>
              <a:ext uri="{FF2B5EF4-FFF2-40B4-BE49-F238E27FC236}">
                <a16:creationId xmlns:a16="http://schemas.microsoft.com/office/drawing/2014/main" id="{18777000-E4B1-C9BD-6301-F30EEFB2D265}"/>
              </a:ext>
            </a:extLst>
          </p:cNvPr>
          <p:cNvSpPr txBox="1"/>
          <p:nvPr/>
        </p:nvSpPr>
        <p:spPr>
          <a:xfrm>
            <a:off x="1524" y="1853248"/>
            <a:ext cx="1662684" cy="2585323"/>
          </a:xfrm>
          <a:prstGeom prst="rect">
            <a:avLst/>
          </a:prstGeom>
          <a:noFill/>
        </p:spPr>
        <p:txBody>
          <a:bodyPr wrap="square">
            <a:spAutoFit/>
          </a:bodyPr>
          <a:lstStyle/>
          <a:p>
            <a:r>
              <a:rPr lang="hu-HU" b="1" dirty="0" err="1">
                <a:solidFill>
                  <a:schemeClr val="accent4"/>
                </a:solidFill>
              </a:rPr>
              <a:t>male-male</a:t>
            </a:r>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endParaRPr lang="hu-HU" b="1" dirty="0">
              <a:solidFill>
                <a:schemeClr val="accent4"/>
              </a:solidFill>
            </a:endParaRPr>
          </a:p>
          <a:p>
            <a:r>
              <a:rPr lang="hu-HU" b="1" dirty="0" err="1">
                <a:solidFill>
                  <a:schemeClr val="accent4"/>
                </a:solidFill>
              </a:rPr>
              <a:t>female-male</a:t>
            </a:r>
            <a:endParaRPr lang="hu-HU" b="1" dirty="0">
              <a:solidFill>
                <a:schemeClr val="accent4"/>
              </a:solidFill>
            </a:endParaRPr>
          </a:p>
          <a:p>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r>
              <a:rPr lang="hu-HU" b="1" dirty="0" err="1">
                <a:solidFill>
                  <a:schemeClr val="accent4"/>
                </a:solidFill>
              </a:rPr>
              <a:t>male-female</a:t>
            </a:r>
            <a:endParaRPr lang="hu-HU" b="1" dirty="0">
              <a:solidFill>
                <a:schemeClr val="accent4"/>
              </a:solidFill>
            </a:endParaRPr>
          </a:p>
        </p:txBody>
      </p:sp>
      <p:sp>
        <p:nvSpPr>
          <p:cNvPr id="4" name="Slide Number Placeholder 3">
            <a:extLst>
              <a:ext uri="{FF2B5EF4-FFF2-40B4-BE49-F238E27FC236}">
                <a16:creationId xmlns:a16="http://schemas.microsoft.com/office/drawing/2014/main" id="{E0970D64-7361-DA19-5996-0E4EC8010D6E}"/>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54</a:t>
            </a:fld>
            <a:endParaRPr lang="en-US" dirty="0"/>
          </a:p>
        </p:txBody>
      </p:sp>
    </p:spTree>
    <p:extLst>
      <p:ext uri="{BB962C8B-B14F-4D97-AF65-F5344CB8AC3E}">
        <p14:creationId xmlns:p14="http://schemas.microsoft.com/office/powerpoint/2010/main" val="275486393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0C5AD13-20C4-49BA-B6F2-1F1D29948F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6E5384-7F2F-1802-F140-ED2F1AF64F85}"/>
              </a:ext>
            </a:extLst>
          </p:cNvPr>
          <p:cNvSpPr>
            <a:spLocks noGrp="1"/>
          </p:cNvSpPr>
          <p:nvPr>
            <p:ph type="title"/>
          </p:nvPr>
        </p:nvSpPr>
        <p:spPr>
          <a:xfrm>
            <a:off x="1261872" y="365760"/>
            <a:ext cx="9692640" cy="658707"/>
          </a:xfrm>
        </p:spPr>
        <p:txBody>
          <a:bodyPr>
            <a:normAutofit fontScale="90000"/>
          </a:bodyPr>
          <a:lstStyle/>
          <a:p>
            <a:r>
              <a:rPr lang="en-US" dirty="0"/>
              <a:t>Two experiments: 2</a:t>
            </a:r>
            <a:endParaRPr lang="hu-HU" dirty="0"/>
          </a:p>
        </p:txBody>
      </p:sp>
      <p:sp>
        <p:nvSpPr>
          <p:cNvPr id="3" name="Content Placeholder 2">
            <a:extLst>
              <a:ext uri="{FF2B5EF4-FFF2-40B4-BE49-F238E27FC236}">
                <a16:creationId xmlns:a16="http://schemas.microsoft.com/office/drawing/2014/main" id="{3D921E8D-55E4-EE48-FD30-F01B4EA07AA4}"/>
              </a:ext>
            </a:extLst>
          </p:cNvPr>
          <p:cNvSpPr>
            <a:spLocks noGrp="1"/>
          </p:cNvSpPr>
          <p:nvPr>
            <p:ph idx="4294967295"/>
          </p:nvPr>
        </p:nvSpPr>
        <p:spPr>
          <a:xfrm>
            <a:off x="1103312" y="2052918"/>
            <a:ext cx="8946541" cy="4677066"/>
          </a:xfrm>
        </p:spPr>
        <p:txBody>
          <a:bodyPr>
            <a:normAutofit fontScale="92500" lnSpcReduction="20000"/>
          </a:bodyPr>
          <a:lstStyle/>
          <a:p>
            <a:pPr marL="457200" indent="-457200">
              <a:buFont typeface="+mj-lt"/>
              <a:buAutoNum type="arabicPeriod"/>
            </a:pPr>
            <a:r>
              <a:rPr lang="en-US" dirty="0">
                <a:solidFill>
                  <a:schemeClr val="tx1">
                    <a:lumMod val="75000"/>
                  </a:schemeClr>
                </a:solidFill>
              </a:rPr>
              <a:t>Hungarian focus constructions – exclusivity vs. </a:t>
            </a:r>
            <a:r>
              <a:rPr lang="en-US" dirty="0" err="1">
                <a:solidFill>
                  <a:schemeClr val="tx1">
                    <a:lumMod val="75000"/>
                  </a:schemeClr>
                </a:solidFill>
              </a:rPr>
              <a:t>contrastivity</a:t>
            </a:r>
            <a:endParaRPr lang="en-US" dirty="0">
              <a:solidFill>
                <a:schemeClr val="tx1">
                  <a:lumMod val="75000"/>
                </a:schemeClr>
              </a:solidFill>
            </a:endParaRPr>
          </a:p>
          <a:p>
            <a:pPr marL="857250" lvl="1" indent="-457200"/>
            <a:r>
              <a:rPr lang="en-US" dirty="0">
                <a:solidFill>
                  <a:schemeClr val="tx1">
                    <a:lumMod val="75000"/>
                  </a:schemeClr>
                </a:solidFill>
              </a:rPr>
              <a:t>Testing if Hungarian focus is exhaustive by default, or if it can be contrastive.</a:t>
            </a:r>
          </a:p>
          <a:p>
            <a:pPr marL="857250" lvl="1" indent="-457200"/>
            <a:endParaRPr lang="en-US" dirty="0">
              <a:solidFill>
                <a:schemeClr val="tx1">
                  <a:lumMod val="75000"/>
                </a:schemeClr>
              </a:solidFill>
            </a:endParaRPr>
          </a:p>
          <a:p>
            <a:pPr marL="857250" lvl="1" indent="-457200"/>
            <a:endParaRPr lang="en-US" dirty="0">
              <a:solidFill>
                <a:schemeClr val="tx1">
                  <a:lumMod val="75000"/>
                </a:schemeClr>
              </a:solidFill>
            </a:endParaRPr>
          </a:p>
          <a:p>
            <a:pPr marL="857250" lvl="1" indent="-457200"/>
            <a:endParaRPr lang="en-US" dirty="0">
              <a:solidFill>
                <a:schemeClr val="tx1">
                  <a:lumMod val="75000"/>
                </a:schemeClr>
              </a:solidFill>
            </a:endParaRPr>
          </a:p>
          <a:p>
            <a:pPr marL="857250" lvl="1" indent="-457200"/>
            <a:endParaRPr lang="en-US" dirty="0">
              <a:solidFill>
                <a:schemeClr val="tx1">
                  <a:lumMod val="75000"/>
                </a:schemeClr>
              </a:solidFill>
            </a:endParaRPr>
          </a:p>
          <a:p>
            <a:pPr marL="857250" lvl="1" indent="-457200"/>
            <a:endParaRPr lang="en-US" dirty="0">
              <a:solidFill>
                <a:schemeClr val="tx1">
                  <a:lumMod val="75000"/>
                </a:schemeClr>
              </a:solidFill>
            </a:endParaRPr>
          </a:p>
          <a:p>
            <a:pPr marL="457200" indent="-457200">
              <a:buFont typeface="+mj-lt"/>
              <a:buAutoNum type="arabicPeriod"/>
            </a:pPr>
            <a:r>
              <a:rPr lang="en-US" dirty="0">
                <a:solidFill>
                  <a:schemeClr val="tx1">
                    <a:lumMod val="75000"/>
                  </a:schemeClr>
                </a:solidFill>
              </a:rPr>
              <a:t>Verbal directionality and social bias</a:t>
            </a:r>
          </a:p>
          <a:p>
            <a:pPr marL="685800" lvl="1"/>
            <a:r>
              <a:rPr lang="en-US" dirty="0">
                <a:solidFill>
                  <a:schemeClr val="tx1">
                    <a:lumMod val="75000"/>
                  </a:schemeClr>
                </a:solidFill>
              </a:rPr>
              <a:t>Testing if gender/status/societal bias can change verb directionality </a:t>
            </a:r>
          </a:p>
          <a:p>
            <a:pPr marL="685800" lvl="1"/>
            <a:r>
              <a:rPr lang="en-US" dirty="0">
                <a:solidFill>
                  <a:schemeClr val="tx1">
                    <a:lumMod val="75000"/>
                  </a:schemeClr>
                </a:solidFill>
              </a:rPr>
              <a:t>2 halves, 3 conditions, 18 items</a:t>
            </a:r>
          </a:p>
        </p:txBody>
      </p:sp>
      <p:sp>
        <p:nvSpPr>
          <p:cNvPr id="4" name="TextBox 3">
            <a:extLst>
              <a:ext uri="{FF2B5EF4-FFF2-40B4-BE49-F238E27FC236}">
                <a16:creationId xmlns:a16="http://schemas.microsoft.com/office/drawing/2014/main" id="{F4A02650-B80E-3B90-8E70-7742D298E8AA}"/>
              </a:ext>
            </a:extLst>
          </p:cNvPr>
          <p:cNvSpPr txBox="1"/>
          <p:nvPr/>
        </p:nvSpPr>
        <p:spPr>
          <a:xfrm>
            <a:off x="2670047" y="3429000"/>
            <a:ext cx="7379805" cy="1384995"/>
          </a:xfrm>
          <a:prstGeom prst="rect">
            <a:avLst/>
          </a:prstGeom>
          <a:noFill/>
        </p:spPr>
        <p:txBody>
          <a:bodyPr wrap="square">
            <a:spAutoFit/>
          </a:bodyPr>
          <a:lstStyle/>
          <a:p>
            <a:r>
              <a:rPr lang="en-US" sz="2800" dirty="0"/>
              <a:t>The two will serve as each other’s fillers.</a:t>
            </a:r>
          </a:p>
          <a:p>
            <a:endParaRPr lang="en-US" sz="2800" dirty="0"/>
          </a:p>
          <a:p>
            <a:r>
              <a:rPr lang="en-US" sz="2800" dirty="0"/>
              <a:t>Stimuli is ready but needs checking.</a:t>
            </a:r>
          </a:p>
        </p:txBody>
      </p:sp>
      <p:sp>
        <p:nvSpPr>
          <p:cNvPr id="5" name="Slide Number Placeholder 4">
            <a:extLst>
              <a:ext uri="{FF2B5EF4-FFF2-40B4-BE49-F238E27FC236}">
                <a16:creationId xmlns:a16="http://schemas.microsoft.com/office/drawing/2014/main" id="{DAD009B1-A1D2-FE43-8540-955EA71E3DC7}"/>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55</a:t>
            </a:fld>
            <a:endParaRPr lang="en-US" dirty="0"/>
          </a:p>
        </p:txBody>
      </p:sp>
    </p:spTree>
    <p:extLst>
      <p:ext uri="{BB962C8B-B14F-4D97-AF65-F5344CB8AC3E}">
        <p14:creationId xmlns:p14="http://schemas.microsoft.com/office/powerpoint/2010/main" val="89294455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CF9AA-6F57-1254-0EF0-7DC6B201CF5B}"/>
              </a:ext>
            </a:extLst>
          </p:cNvPr>
          <p:cNvSpPr>
            <a:spLocks noGrp="1"/>
          </p:cNvSpPr>
          <p:nvPr>
            <p:ph type="title"/>
          </p:nvPr>
        </p:nvSpPr>
        <p:spPr>
          <a:xfrm>
            <a:off x="1261872" y="365760"/>
            <a:ext cx="9692640" cy="658707"/>
          </a:xfrm>
        </p:spPr>
        <p:txBody>
          <a:bodyPr>
            <a:normAutofit fontScale="90000"/>
          </a:bodyPr>
          <a:lstStyle/>
          <a:p>
            <a:r>
              <a:rPr lang="en-US" dirty="0"/>
              <a:t>Experiment design</a:t>
            </a:r>
            <a:endParaRPr lang="hu-HU" dirty="0"/>
          </a:p>
        </p:txBody>
      </p:sp>
      <p:sp>
        <p:nvSpPr>
          <p:cNvPr id="3" name="Content Placeholder 2">
            <a:extLst>
              <a:ext uri="{FF2B5EF4-FFF2-40B4-BE49-F238E27FC236}">
                <a16:creationId xmlns:a16="http://schemas.microsoft.com/office/drawing/2014/main" id="{2868C5BE-4602-155B-77CD-F051F5464F10}"/>
              </a:ext>
            </a:extLst>
          </p:cNvPr>
          <p:cNvSpPr>
            <a:spLocks noGrp="1"/>
          </p:cNvSpPr>
          <p:nvPr>
            <p:ph idx="4294967295"/>
          </p:nvPr>
        </p:nvSpPr>
        <p:spPr>
          <a:xfrm>
            <a:off x="1103313" y="2052918"/>
            <a:ext cx="4209352" cy="4195481"/>
          </a:xfrm>
        </p:spPr>
        <p:txBody>
          <a:bodyPr>
            <a:normAutofit fontScale="92500" lnSpcReduction="10000"/>
          </a:bodyPr>
          <a:lstStyle/>
          <a:p>
            <a:pPr marL="0" indent="0">
              <a:buNone/>
            </a:pPr>
            <a:r>
              <a:rPr lang="en-US" sz="3600" dirty="0"/>
              <a:t>1</a:t>
            </a:r>
            <a:endParaRPr lang="en-US" sz="3200" dirty="0"/>
          </a:p>
          <a:p>
            <a:r>
              <a:rPr lang="en-US" dirty="0"/>
              <a:t>Preview of image pair</a:t>
            </a:r>
          </a:p>
          <a:p>
            <a:r>
              <a:rPr lang="en-US" dirty="0"/>
              <a:t>+</a:t>
            </a:r>
          </a:p>
          <a:p>
            <a:r>
              <a:rPr lang="en-US" dirty="0"/>
              <a:t>Self-paced reading of sentence in fixed window</a:t>
            </a:r>
          </a:p>
          <a:p>
            <a:r>
              <a:rPr lang="en-US" dirty="0"/>
              <a:t>+</a:t>
            </a:r>
          </a:p>
          <a:p>
            <a:r>
              <a:rPr lang="en-US" dirty="0"/>
              <a:t>Choice from image pair</a:t>
            </a:r>
          </a:p>
          <a:p>
            <a:endParaRPr lang="hu-HU" dirty="0"/>
          </a:p>
        </p:txBody>
      </p:sp>
      <p:sp>
        <p:nvSpPr>
          <p:cNvPr id="4" name="Right Brace 3">
            <a:extLst>
              <a:ext uri="{FF2B5EF4-FFF2-40B4-BE49-F238E27FC236}">
                <a16:creationId xmlns:a16="http://schemas.microsoft.com/office/drawing/2014/main" id="{6389A1B4-87D2-0B9D-9E18-FEED5246742F}"/>
              </a:ext>
            </a:extLst>
          </p:cNvPr>
          <p:cNvSpPr/>
          <p:nvPr/>
        </p:nvSpPr>
        <p:spPr>
          <a:xfrm>
            <a:off x="4854593" y="4694355"/>
            <a:ext cx="229036" cy="435429"/>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hu-HU"/>
          </a:p>
        </p:txBody>
      </p:sp>
      <p:sp>
        <p:nvSpPr>
          <p:cNvPr id="5" name="Rectangle: Rounded Corners 4">
            <a:extLst>
              <a:ext uri="{FF2B5EF4-FFF2-40B4-BE49-F238E27FC236}">
                <a16:creationId xmlns:a16="http://schemas.microsoft.com/office/drawing/2014/main" id="{E6668652-35AF-EA75-B2A3-1F9387A998C7}"/>
              </a:ext>
            </a:extLst>
          </p:cNvPr>
          <p:cNvSpPr/>
          <p:nvPr/>
        </p:nvSpPr>
        <p:spPr>
          <a:xfrm>
            <a:off x="5312665" y="4636008"/>
            <a:ext cx="604272" cy="51206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ET</a:t>
            </a:r>
            <a:endParaRPr lang="hu-HU" dirty="0"/>
          </a:p>
        </p:txBody>
      </p:sp>
      <p:sp>
        <p:nvSpPr>
          <p:cNvPr id="6" name="Content Placeholder 2">
            <a:extLst>
              <a:ext uri="{FF2B5EF4-FFF2-40B4-BE49-F238E27FC236}">
                <a16:creationId xmlns:a16="http://schemas.microsoft.com/office/drawing/2014/main" id="{DAA79554-0DF1-3A99-66C4-CD47F3F677AC}"/>
              </a:ext>
            </a:extLst>
          </p:cNvPr>
          <p:cNvSpPr txBox="1">
            <a:spLocks/>
          </p:cNvSpPr>
          <p:nvPr/>
        </p:nvSpPr>
        <p:spPr>
          <a:xfrm>
            <a:off x="6586665" y="2052918"/>
            <a:ext cx="4209352" cy="419548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buFont typeface="Wingdings 3" charset="2"/>
              <a:buNone/>
            </a:pPr>
            <a:r>
              <a:rPr lang="en-US" sz="3600" dirty="0"/>
              <a:t>2</a:t>
            </a:r>
          </a:p>
          <a:p>
            <a:r>
              <a:rPr lang="en-US" dirty="0"/>
              <a:t>Preview of word pair</a:t>
            </a:r>
          </a:p>
          <a:p>
            <a:r>
              <a:rPr lang="en-US" dirty="0"/>
              <a:t>+</a:t>
            </a:r>
          </a:p>
          <a:p>
            <a:r>
              <a:rPr lang="en-US" dirty="0"/>
              <a:t>Self-paced reading of sentence in fixed window</a:t>
            </a:r>
          </a:p>
          <a:p>
            <a:r>
              <a:rPr lang="en-US" b="1" dirty="0"/>
              <a:t>Question</a:t>
            </a:r>
          </a:p>
          <a:p>
            <a:r>
              <a:rPr lang="en-US" dirty="0"/>
              <a:t>+</a:t>
            </a:r>
          </a:p>
          <a:p>
            <a:r>
              <a:rPr lang="en-US" dirty="0"/>
              <a:t>Choice from word pair</a:t>
            </a:r>
          </a:p>
          <a:p>
            <a:endParaRPr lang="hu-HU" dirty="0"/>
          </a:p>
        </p:txBody>
      </p:sp>
      <p:sp>
        <p:nvSpPr>
          <p:cNvPr id="7" name="Right Brace 6">
            <a:extLst>
              <a:ext uri="{FF2B5EF4-FFF2-40B4-BE49-F238E27FC236}">
                <a16:creationId xmlns:a16="http://schemas.microsoft.com/office/drawing/2014/main" id="{4B4D6ADF-472D-D6B2-755B-CE7B46030945}"/>
              </a:ext>
            </a:extLst>
          </p:cNvPr>
          <p:cNvSpPr/>
          <p:nvPr/>
        </p:nvSpPr>
        <p:spPr>
          <a:xfrm>
            <a:off x="10310513" y="5114979"/>
            <a:ext cx="229036" cy="435429"/>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hu-HU"/>
          </a:p>
        </p:txBody>
      </p:sp>
      <p:sp>
        <p:nvSpPr>
          <p:cNvPr id="8" name="Rectangle: Rounded Corners 7">
            <a:extLst>
              <a:ext uri="{FF2B5EF4-FFF2-40B4-BE49-F238E27FC236}">
                <a16:creationId xmlns:a16="http://schemas.microsoft.com/office/drawing/2014/main" id="{14DAE624-173C-D3E4-BF6F-AC6CD5478F5C}"/>
              </a:ext>
            </a:extLst>
          </p:cNvPr>
          <p:cNvSpPr/>
          <p:nvPr/>
        </p:nvSpPr>
        <p:spPr>
          <a:xfrm>
            <a:off x="10768585" y="5056632"/>
            <a:ext cx="604272" cy="51206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ET</a:t>
            </a:r>
            <a:endParaRPr lang="hu-HU" dirty="0"/>
          </a:p>
        </p:txBody>
      </p:sp>
      <p:sp>
        <p:nvSpPr>
          <p:cNvPr id="9" name="Slide Number Placeholder 8">
            <a:extLst>
              <a:ext uri="{FF2B5EF4-FFF2-40B4-BE49-F238E27FC236}">
                <a16:creationId xmlns:a16="http://schemas.microsoft.com/office/drawing/2014/main" id="{51A7104E-FDD8-9FB5-EA6B-31CCDCA91729}"/>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56</a:t>
            </a:fld>
            <a:endParaRPr lang="en-US" dirty="0"/>
          </a:p>
        </p:txBody>
      </p:sp>
    </p:spTree>
    <p:extLst>
      <p:ext uri="{BB962C8B-B14F-4D97-AF65-F5344CB8AC3E}">
        <p14:creationId xmlns:p14="http://schemas.microsoft.com/office/powerpoint/2010/main" val="413397427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BF1D35E-F906-4B31-4C4C-FDC5F9A567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435BFF-A762-E712-5411-5A3F6FA0514A}"/>
              </a:ext>
            </a:extLst>
          </p:cNvPr>
          <p:cNvSpPr>
            <a:spLocks noGrp="1"/>
          </p:cNvSpPr>
          <p:nvPr>
            <p:ph type="title"/>
          </p:nvPr>
        </p:nvSpPr>
        <p:spPr>
          <a:xfrm>
            <a:off x="1261872" y="365760"/>
            <a:ext cx="9692640" cy="658707"/>
          </a:xfrm>
        </p:spPr>
        <p:txBody>
          <a:bodyPr>
            <a:normAutofit fontScale="90000"/>
          </a:bodyPr>
          <a:lstStyle/>
          <a:p>
            <a:r>
              <a:rPr lang="en-US" dirty="0"/>
              <a:t>Experiment design</a:t>
            </a:r>
            <a:endParaRPr lang="hu-HU" dirty="0"/>
          </a:p>
        </p:txBody>
      </p:sp>
      <p:sp>
        <p:nvSpPr>
          <p:cNvPr id="3" name="Content Placeholder 2">
            <a:extLst>
              <a:ext uri="{FF2B5EF4-FFF2-40B4-BE49-F238E27FC236}">
                <a16:creationId xmlns:a16="http://schemas.microsoft.com/office/drawing/2014/main" id="{E7DFFF39-00DB-CF93-4EC4-834FB06A2257}"/>
              </a:ext>
            </a:extLst>
          </p:cNvPr>
          <p:cNvSpPr>
            <a:spLocks noGrp="1"/>
          </p:cNvSpPr>
          <p:nvPr>
            <p:ph idx="4294967295"/>
          </p:nvPr>
        </p:nvSpPr>
        <p:spPr>
          <a:xfrm>
            <a:off x="1103313" y="2052919"/>
            <a:ext cx="10269544" cy="2436786"/>
          </a:xfrm>
        </p:spPr>
        <p:txBody>
          <a:bodyPr/>
          <a:lstStyle/>
          <a:p>
            <a:pPr marL="0" indent="0">
              <a:buNone/>
            </a:pPr>
            <a:r>
              <a:rPr lang="en-US" sz="3600" dirty="0"/>
              <a:t>36 items x 3 conditions =108</a:t>
            </a:r>
          </a:p>
          <a:p>
            <a:pPr marL="0" indent="0">
              <a:buNone/>
            </a:pPr>
            <a:r>
              <a:rPr lang="en-US" sz="3600" dirty="0"/>
              <a:t>108/3 groups = 36 items per pax</a:t>
            </a:r>
          </a:p>
          <a:p>
            <a:pPr marL="0" indent="0">
              <a:buNone/>
            </a:pPr>
            <a:r>
              <a:rPr lang="en-US" sz="3600" dirty="0"/>
              <a:t>+ attention checks? Maybe 4?</a:t>
            </a:r>
            <a:endParaRPr lang="hu-HU" dirty="0"/>
          </a:p>
        </p:txBody>
      </p:sp>
      <p:sp>
        <p:nvSpPr>
          <p:cNvPr id="4" name="Slide Number Placeholder 3">
            <a:extLst>
              <a:ext uri="{FF2B5EF4-FFF2-40B4-BE49-F238E27FC236}">
                <a16:creationId xmlns:a16="http://schemas.microsoft.com/office/drawing/2014/main" id="{6C12201A-A082-970C-A9C7-632D423249ED}"/>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57</a:t>
            </a:fld>
            <a:endParaRPr lang="en-US" dirty="0"/>
          </a:p>
        </p:txBody>
      </p:sp>
    </p:spTree>
    <p:extLst>
      <p:ext uri="{BB962C8B-B14F-4D97-AF65-F5344CB8AC3E}">
        <p14:creationId xmlns:p14="http://schemas.microsoft.com/office/powerpoint/2010/main" val="410979570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CD16A-0C78-C41D-28BF-C7196830A885}"/>
              </a:ext>
            </a:extLst>
          </p:cNvPr>
          <p:cNvSpPr>
            <a:spLocks noGrp="1"/>
          </p:cNvSpPr>
          <p:nvPr>
            <p:ph type="title"/>
          </p:nvPr>
        </p:nvSpPr>
        <p:spPr>
          <a:xfrm>
            <a:off x="1261872" y="365760"/>
            <a:ext cx="9692640" cy="658707"/>
          </a:xfrm>
        </p:spPr>
        <p:txBody>
          <a:bodyPr>
            <a:normAutofit fontScale="90000"/>
          </a:bodyPr>
          <a:lstStyle/>
          <a:p>
            <a:r>
              <a:rPr lang="hu-HU" dirty="0" err="1"/>
              <a:t>Problems</a:t>
            </a:r>
            <a:endParaRPr lang="hu-HU" dirty="0"/>
          </a:p>
        </p:txBody>
      </p:sp>
      <p:sp>
        <p:nvSpPr>
          <p:cNvPr id="3" name="Content Placeholder 2">
            <a:extLst>
              <a:ext uri="{FF2B5EF4-FFF2-40B4-BE49-F238E27FC236}">
                <a16:creationId xmlns:a16="http://schemas.microsoft.com/office/drawing/2014/main" id="{78464E3D-8563-8598-B1F9-F67BF77FE33B}"/>
              </a:ext>
            </a:extLst>
          </p:cNvPr>
          <p:cNvSpPr>
            <a:spLocks noGrp="1"/>
          </p:cNvSpPr>
          <p:nvPr>
            <p:ph idx="4294967295"/>
          </p:nvPr>
        </p:nvSpPr>
        <p:spPr>
          <a:xfrm>
            <a:off x="1103312" y="1262744"/>
            <a:ext cx="10527856" cy="4985656"/>
          </a:xfrm>
        </p:spPr>
        <p:txBody>
          <a:bodyPr>
            <a:normAutofit fontScale="92500"/>
          </a:bodyPr>
          <a:lstStyle/>
          <a:p>
            <a:r>
              <a:rPr lang="en-US" dirty="0"/>
              <a:t>After around 60-80 hours of PCIbex and 200-300 test runs, I can say that</a:t>
            </a:r>
          </a:p>
          <a:p>
            <a:r>
              <a:rPr lang="hu-HU" dirty="0" err="1"/>
              <a:t>PCIBex</a:t>
            </a:r>
            <a:r>
              <a:rPr lang="hu-HU" dirty="0"/>
              <a:t> is a </a:t>
            </a:r>
            <a:r>
              <a:rPr lang="hu-HU" dirty="0" err="1"/>
              <a:t>broken</a:t>
            </a:r>
            <a:r>
              <a:rPr lang="hu-HU" dirty="0"/>
              <a:t>, </a:t>
            </a:r>
            <a:r>
              <a:rPr lang="hu-HU" dirty="0" err="1"/>
              <a:t>unfinished</a:t>
            </a:r>
            <a:r>
              <a:rPr lang="hu-HU" dirty="0"/>
              <a:t>, and </a:t>
            </a:r>
            <a:r>
              <a:rPr lang="hu-HU" dirty="0" err="1"/>
              <a:t>unstable</a:t>
            </a:r>
            <a:r>
              <a:rPr lang="hu-HU" dirty="0"/>
              <a:t> software.</a:t>
            </a:r>
            <a:endParaRPr lang="en-US" dirty="0"/>
          </a:p>
          <a:p>
            <a:r>
              <a:rPr lang="en-US" dirty="0"/>
              <a:t>Support is minimal, error messages are non-existent, documentation is porous.</a:t>
            </a:r>
          </a:p>
          <a:p>
            <a:r>
              <a:rPr lang="en-US" dirty="0"/>
              <a:t>Besides this, eye-tracking results have 0s, in every browser, every lighting, with or without glasses. Will try to dig in code more, but the tracker works and records time but not fixations. The problem is somewhere in my setup.</a:t>
            </a:r>
          </a:p>
          <a:p>
            <a:r>
              <a:rPr lang="en-US" dirty="0"/>
              <a:t>Eye-tracking testing is miserable. (You must calibrate every time to even try), but you cannot see what is going on, there are no logs or explanations, it’s in the background running on their servers.</a:t>
            </a:r>
          </a:p>
          <a:p>
            <a:endParaRPr lang="en-US" dirty="0"/>
          </a:p>
          <a:p>
            <a:endParaRPr lang="hu-HU" dirty="0"/>
          </a:p>
          <a:p>
            <a:endParaRPr lang="hu-HU" dirty="0"/>
          </a:p>
        </p:txBody>
      </p:sp>
      <p:sp>
        <p:nvSpPr>
          <p:cNvPr id="4" name="Slide Number Placeholder 3">
            <a:extLst>
              <a:ext uri="{FF2B5EF4-FFF2-40B4-BE49-F238E27FC236}">
                <a16:creationId xmlns:a16="http://schemas.microsoft.com/office/drawing/2014/main" id="{65DE5A39-3D04-D22B-5792-19A635E8C974}"/>
              </a:ext>
            </a:extLst>
          </p:cNvPr>
          <p:cNvSpPr>
            <a:spLocks noGrp="1"/>
          </p:cNvSpPr>
          <p:nvPr>
            <p:ph type="sldNum" sz="quarter" idx="12"/>
          </p:nvPr>
        </p:nvSpPr>
        <p:spPr/>
        <p:txBody>
          <a:bodyPr>
            <a:normAutofit fontScale="92500" lnSpcReduction="10000"/>
          </a:bodyPr>
          <a:lstStyle/>
          <a:p>
            <a:fld id="{D57F1E4F-1CFF-5643-939E-217C01CDF565}" type="slidenum">
              <a:rPr lang="en-US" smtClean="0"/>
              <a:pPr/>
              <a:t>58</a:t>
            </a:fld>
            <a:endParaRPr lang="en-US" dirty="0"/>
          </a:p>
        </p:txBody>
      </p:sp>
    </p:spTree>
    <p:extLst>
      <p:ext uri="{BB962C8B-B14F-4D97-AF65-F5344CB8AC3E}">
        <p14:creationId xmlns:p14="http://schemas.microsoft.com/office/powerpoint/2010/main" val="1803289097"/>
      </p:ext>
    </p:extLst>
  </p:cSld>
  <p:clrMapOvr>
    <a:masterClrMapping/>
  </p:clrMapOvr>
</p:sld>
</file>

<file path=ppt/theme/theme1.xml><?xml version="1.0" encoding="utf-8"?>
<a:theme xmlns:a="http://schemas.openxmlformats.org/drawingml/2006/main" name="View">
  <a:themeElements>
    <a:clrScheme name="Nord Light">
      <a:dk1>
        <a:srgbClr val="ECEFF4"/>
      </a:dk1>
      <a:lt1>
        <a:srgbClr val="2E3440"/>
      </a:lt1>
      <a:dk2>
        <a:srgbClr val="E5E9F0"/>
      </a:dk2>
      <a:lt2>
        <a:srgbClr val="3B4252"/>
      </a:lt2>
      <a:accent1>
        <a:srgbClr val="A3BE8C"/>
      </a:accent1>
      <a:accent2>
        <a:srgbClr val="88C0D0"/>
      </a:accent2>
      <a:accent3>
        <a:srgbClr val="EBCB8B"/>
      </a:accent3>
      <a:accent4>
        <a:srgbClr val="9F7FC3"/>
      </a:accent4>
      <a:accent5>
        <a:srgbClr val="D8DEE9"/>
      </a:accent5>
      <a:accent6>
        <a:srgbClr val="5E81AC"/>
      </a:accent6>
      <a:hlink>
        <a:srgbClr val="5E81AC"/>
      </a:hlink>
      <a:folHlink>
        <a:srgbClr val="81A1C1"/>
      </a:folHlink>
    </a:clrScheme>
    <a:fontScheme name="Brill + Noto">
      <a:majorFont>
        <a:latin typeface="Brill"/>
        <a:ea typeface="Noto Serif TC"/>
        <a:cs typeface=""/>
      </a:majorFont>
      <a:minorFont>
        <a:latin typeface="Brill"/>
        <a:ea typeface="Noto Serif TC"/>
        <a:cs typeface=""/>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View</Template>
  <TotalTime>1121</TotalTime>
  <Words>4653</Words>
  <Application>Microsoft Office PowerPoint</Application>
  <PresentationFormat>Widescreen</PresentationFormat>
  <Paragraphs>741</Paragraphs>
  <Slides>58</Slides>
  <Notes>0</Notes>
  <HiddenSlides>17</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58</vt:i4>
      </vt:variant>
    </vt:vector>
  </HeadingPairs>
  <TitlesOfParts>
    <vt:vector size="67" baseType="lpstr">
      <vt:lpstr>Google Sans</vt:lpstr>
      <vt:lpstr>Aptos</vt:lpstr>
      <vt:lpstr>Arial</vt:lpstr>
      <vt:lpstr>Brill</vt:lpstr>
      <vt:lpstr>Cascadia Mono</vt:lpstr>
      <vt:lpstr>Times New Roman</vt:lpstr>
      <vt:lpstr>Wingdings 2</vt:lpstr>
      <vt:lpstr>Wingdings 3</vt:lpstr>
      <vt:lpstr>View</vt:lpstr>
      <vt:lpstr>Exclusivity in Hungarian focus constructions: A visual world paradigm study with self-paced reading and eye-tracking —a small update</vt:lpstr>
      <vt:lpstr>Background</vt:lpstr>
      <vt:lpstr>Background</vt:lpstr>
      <vt:lpstr>Background</vt:lpstr>
      <vt:lpstr>Background</vt:lpstr>
      <vt:lpstr>Background</vt:lpstr>
      <vt:lpstr>Background</vt:lpstr>
      <vt:lpstr>Focus construction &amp; its characteristics</vt:lpstr>
      <vt:lpstr>Exhaustivity/Exclusivity</vt:lpstr>
      <vt:lpstr>Exhaustivity/Exclusivity</vt:lpstr>
      <vt:lpstr>Exhaustivity/Exclusivity</vt:lpstr>
      <vt:lpstr>Contrastive vs. Exhaustive?</vt:lpstr>
      <vt:lpstr>Contrastive vs. Exhaustive?</vt:lpstr>
      <vt:lpstr>Contrastive vs. Exhaustive?</vt:lpstr>
      <vt:lpstr>Experiment design</vt:lpstr>
      <vt:lpstr>Experiment design</vt:lpstr>
      <vt:lpstr>Experiment design</vt:lpstr>
      <vt:lpstr>Experiment design</vt:lpstr>
      <vt:lpstr>PowerPoint Presentation</vt:lpstr>
      <vt:lpstr>PowerPoint Presentation</vt:lpstr>
      <vt:lpstr>PowerPoint Presentation</vt:lpstr>
      <vt:lpstr>PowerPoint Presentation</vt:lpstr>
      <vt:lpstr>PowerPoint Presentation</vt:lpstr>
      <vt:lpstr>Design</vt:lpstr>
      <vt:lpstr>Design</vt:lpstr>
      <vt:lpstr>Design</vt:lpstr>
      <vt:lpstr>PowerPoint Presentation</vt:lpstr>
      <vt:lpstr>Participants</vt:lpstr>
      <vt:lpstr>Results: Expectations &amp; Sanity check</vt:lpstr>
      <vt:lpstr>Reading Times: Raw</vt:lpstr>
      <vt:lpstr>Reading Times: Means &amp; Comparison</vt:lpstr>
      <vt:lpstr>Behavioral Results: Choices</vt:lpstr>
      <vt:lpstr>Eye-Tracking </vt:lpstr>
      <vt:lpstr>Eye-Tracking: Cleaning &amp; Classification</vt:lpstr>
      <vt:lpstr>Raw          Classified</vt:lpstr>
      <vt:lpstr>Raw          Classified</vt:lpstr>
      <vt:lpstr>      </vt:lpstr>
      <vt:lpstr>Analyzing ET data</vt:lpstr>
      <vt:lpstr>Next step: Statistical analysis</vt:lpstr>
      <vt:lpstr>Thank you, </vt:lpstr>
      <vt:lpstr>PowerPoint Presentation</vt:lpstr>
      <vt:lpstr>Two experiments</vt:lpstr>
      <vt:lpstr>Two experiments: 1</vt:lpstr>
      <vt:lpstr>Two experiments: 1</vt:lpstr>
      <vt:lpstr>Two experiments: 1</vt:lpstr>
      <vt:lpstr>Two experiments: 1</vt:lpstr>
      <vt:lpstr>Two experiments: 2</vt:lpstr>
      <vt:lpstr>Two experiments: 2</vt:lpstr>
      <vt:lpstr>Two experiments: 2</vt:lpstr>
      <vt:lpstr>Two experiments: 2A</vt:lpstr>
      <vt:lpstr>Two experiments: 2A - verb</vt:lpstr>
      <vt:lpstr>Two experiments: 2B - gender</vt:lpstr>
      <vt:lpstr>Two experiments: 2B - gender</vt:lpstr>
      <vt:lpstr>Two experiments: 2B - gender</vt:lpstr>
      <vt:lpstr>Two experiments: 2</vt:lpstr>
      <vt:lpstr>Experiment design</vt:lpstr>
      <vt:lpstr>Experiment design</vt:lpstr>
      <vt:lpstr>Problems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Gábor Parti</dc:creator>
  <cp:lastModifiedBy>Gábor Parti</cp:lastModifiedBy>
  <cp:revision>42</cp:revision>
  <dcterms:created xsi:type="dcterms:W3CDTF">2025-07-28T03:45:11Z</dcterms:created>
  <dcterms:modified xsi:type="dcterms:W3CDTF">2025-11-28T04:42:56Z</dcterms:modified>
</cp:coreProperties>
</file>